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719" r:id="rId2"/>
    <p:sldId id="721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01" d="100"/>
          <a:sy n="101" d="100"/>
        </p:scale>
        <p:origin x="11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3520B5-F827-8181-2EF0-C5C3C509C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7938E95-EB88-252A-85E6-9D081D6865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B3E467-519C-2D78-2D53-C282A9A02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4590D-9518-9F4E-88C4-3EF74758A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0BCEDB-E093-F44A-EDEC-EA1D96BE1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BCB821-28C7-76E6-52A1-2447621A7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FEDC0-DE7D-A045-A9AE-BD8F20CF28E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8560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726138-D533-A3D8-5DD1-7D9EB5C9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703A07-EA8C-136C-F9A1-E531A5906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58888A-9EEE-0A28-65D1-3717100F9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4590D-9518-9F4E-88C4-3EF74758A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6F6071-9C3B-C8B9-7794-30F31D96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055FCA-E95C-674E-231C-EDA48ACC5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FEDC0-DE7D-A045-A9AE-BD8F20CF28E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03264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1ABF01-B63B-1DF2-661E-67287AFA6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6D1D02-FF7A-211D-1686-2D3AA202D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522D05F-3148-B164-B0E9-BD00A2EBF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4590D-9518-9F4E-88C4-3EF74758A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45DD18-AAA0-912C-1B0A-DCCB563E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F2CAF8-6C41-71AA-8EB8-D96D51750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FEDC0-DE7D-A045-A9AE-BD8F20CF28E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95090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F80FF0-5A2B-DBB5-27C3-6FC80D31E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8F1D6E-7C6E-9483-E0F8-4A0CC2FE3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1F2370-5BE1-8F93-D192-37B878B37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3FC9A3-1762-042B-CA08-03618940B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4590D-9518-9F4E-88C4-3EF74758A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4FAFED-E6E5-BB10-E464-D032DF019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194C0C-2808-5143-6DF4-3E65C24A4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FEDC0-DE7D-A045-A9AE-BD8F20CF28E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19181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6BE417-15BD-201D-136D-943E138A1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7C072F-8D90-B577-C081-E06C99D98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C896BBA-9BB1-C382-3902-514AF5458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CE55174-8553-32C0-F9C7-DAB7240F9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018202D-C5D9-A4AF-2781-663D85F984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58BA0E3-92D9-2210-F0F6-F80486704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4590D-9518-9F4E-88C4-3EF74758A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224465D-436F-EC87-6598-E9335F52E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283B923-B504-8E63-4CC8-AE6D63152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FEDC0-DE7D-A045-A9AE-BD8F20CF28E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18776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6BF5DD-C760-B598-8C75-91E6119CB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81C0943-75C6-3222-6D9F-7274D12C6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4590D-9518-9F4E-88C4-3EF74758A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3476AB1-38C0-6BB0-C442-56A8E9857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4478810-F9C4-157C-7B4D-4E4F90537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FEDC0-DE7D-A045-A9AE-BD8F20CF28E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81375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4B5E0C7-916C-DBF2-0328-19B6AE726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4590D-9518-9F4E-88C4-3EF74758A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888424E-7FAA-0F84-1FD0-5F5099475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F203B45-00BD-B35D-47B8-9550FF7B6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FEDC0-DE7D-A045-A9AE-BD8F20CF28E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49497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585738-DC3F-CB52-4C20-6FF8FB886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06675F-7ECC-EC0F-1578-3FC9E7EF9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CD630C0-1ABE-FF3E-E8E3-2DA8790D8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BF04ED1-3C83-2B47-8888-65EFB5B55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4590D-9518-9F4E-88C4-3EF74758A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99B1DC-1B82-64BC-B5FC-BE0EB09D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D5C90B-0270-D019-7D8C-9456D2EC5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FEDC0-DE7D-A045-A9AE-BD8F20CF28E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62241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67EDE1-AE7A-BEAA-20EE-E6ECFF5B3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0B04B66-5E65-621B-AAA2-E38A206C29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473CC2A-6F11-EE6E-AEA6-9099ED2159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A6C164-1359-CD4D-9A8C-13FC87439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4590D-9518-9F4E-88C4-3EF74758A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5C2D5B4-0A1B-474A-DEFD-75E8C63F3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9FF50A1-A1C4-E79B-5412-BA042AED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FEDC0-DE7D-A045-A9AE-BD8F20CF28E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54797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225AB3-D677-74EE-E570-80063AE9A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F61E58-BC42-C1AD-4884-738BAF1C2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AE830C-1D56-EF06-5CB9-DF08A7B6A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4590D-9518-9F4E-88C4-3EF74758A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A0ACFC-A3FB-F7A5-050E-1BBB828FC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0B937B-F397-4274-0F11-B49ED471E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FEDC0-DE7D-A045-A9AE-BD8F20CF28E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47208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2306DAF-E199-4A9A-5790-1803A86E9C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57A8C17-88A2-07D3-411D-21AACB94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48B087-B9AB-4A1B-D1E9-681340B5C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4590D-9518-9F4E-88C4-3EF74758A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21DA8E-684C-B552-295D-132B14C9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D796D7-6683-6C20-D1EC-57F21766A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FEDC0-DE7D-A045-A9AE-BD8F20CF28E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79609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35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291DDF6-00E3-DDE9-FB4A-2F4CCF04E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BA0EFD-0F6F-E654-5CD7-15880025E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A4FC80-504B-7D61-C818-61D54B2F4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D4590D-9518-9F4E-88C4-3EF74758A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6E2CFF-36CD-41A7-5E7C-CC339AF5E0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1570B5-C8BB-26AE-9DFD-6D3637E29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4FEDC0-DE7D-A045-A9AE-BD8F20CF28E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39897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AE2DA-D0E1-2132-C507-03EF4FF36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01D7FB-AB27-8343-3969-D0443E460A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5462" y="1377414"/>
            <a:ext cx="9458516" cy="449263"/>
          </a:xfrm>
        </p:spPr>
        <p:txBody>
          <a:bodyPr>
            <a:normAutofit/>
          </a:bodyPr>
          <a:lstStyle/>
          <a:p>
            <a:r>
              <a:rPr lang="es-ES_tradnl" noProof="1"/>
              <a:t>Comparación en el domino Angular : PID vs Controlador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673BAF86-3ECB-B4FA-D4A6-0A8AF5C0F91D}"/>
              </a:ext>
            </a:extLst>
          </p:cNvPr>
          <p:cNvSpPr txBox="1"/>
          <p:nvPr/>
        </p:nvSpPr>
        <p:spPr>
          <a:xfrm>
            <a:off x="1092363" y="5180292"/>
            <a:ext cx="95231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Symbol" pitchFamily="2" charset="2"/>
              <a:buChar char="-"/>
            </a:pPr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 controlador RL reduce significativamente la brecha con el PID, alcanzando un desempeño comparable en plataforma plana (</a:t>
            </a:r>
            <a:r>
              <a:rPr lang="es-ES_tradnl" sz="12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RMSE ≈ 31° en ambos casos</a:t>
            </a:r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En plataforma inclinada, el RL mantiene un error inferior (</a:t>
            </a:r>
            <a:r>
              <a:rPr lang="es-ES_tradnl" sz="12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≈ 31.5°</a:t>
            </a:r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) frente al PID (</a:t>
            </a:r>
            <a:r>
              <a:rPr lang="es-ES_tradnl" sz="12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≈ 40.5°</a:t>
            </a:r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), mostrando mejor adaptación bajo carga gravitacional.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 PID conserva una respuesta más suave, pero el RL presenta </a:t>
            </a:r>
            <a:r>
              <a:rPr lang="es-ES_tradnl" sz="12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mejor capacidad de generalización en condiciones perturbadas</a:t>
            </a:r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94FEF96-4515-2B48-D213-983DDC9BE30A}"/>
              </a:ext>
            </a:extLst>
          </p:cNvPr>
          <p:cNvSpPr txBox="1"/>
          <p:nvPr/>
        </p:nvSpPr>
        <p:spPr>
          <a:xfrm>
            <a:off x="9418150" y="4918682"/>
            <a:ext cx="16814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Pitch, Roll =-10°</a:t>
            </a:r>
            <a:endParaRPr lang="es-ES_tradnl" sz="11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7BB34BF-9F6C-5813-BDC1-CF6783DCCD8B}"/>
              </a:ext>
            </a:extLst>
          </p:cNvPr>
          <p:cNvSpPr txBox="1"/>
          <p:nvPr/>
        </p:nvSpPr>
        <p:spPr>
          <a:xfrm>
            <a:off x="4732014" y="4862769"/>
            <a:ext cx="16814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Pitch, Roll =0°</a:t>
            </a:r>
            <a:endParaRPr lang="es-ES_tradnl" sz="11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ußzeilenplatzhalter 2">
            <a:extLst>
              <a:ext uri="{FF2B5EF4-FFF2-40B4-BE49-F238E27FC236}">
                <a16:creationId xmlns:a16="http://schemas.microsoft.com/office/drawing/2014/main" id="{BDDBD3B2-3250-A992-62AB-0F499A25A60F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noProof="1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DDE942C-A664-4B96-CC39-F8D69BCB6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01" y="1939319"/>
            <a:ext cx="4943928" cy="296875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9CEA72E-D63F-5C0F-FB1F-F8D519D34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70" y="1964065"/>
            <a:ext cx="4651930" cy="289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335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926E9-50CF-7E8C-AA57-B7B8C7C0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B29AC9-B805-C462-B006-84DE5BFF70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5462" y="1377414"/>
            <a:ext cx="9458516" cy="449263"/>
          </a:xfrm>
        </p:spPr>
        <p:txBody>
          <a:bodyPr>
            <a:normAutofit/>
          </a:bodyPr>
          <a:lstStyle/>
          <a:p>
            <a:r>
              <a:rPr lang="es-ES_tradnl" noProof="1"/>
              <a:t>Comparación respuesta temporal y voltaje: PID vs Controlador</a:t>
            </a:r>
          </a:p>
        </p:txBody>
      </p:sp>
      <p:sp>
        <p:nvSpPr>
          <p:cNvPr id="21" name="Fußzeilenplatzhalter 2">
            <a:extLst>
              <a:ext uri="{FF2B5EF4-FFF2-40B4-BE49-F238E27FC236}">
                <a16:creationId xmlns:a16="http://schemas.microsoft.com/office/drawing/2014/main" id="{3CCC486C-1E4B-617F-F173-CE517FFE6583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noProof="1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63E0AC7-085A-D956-E994-27511BCF0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40" y="2053586"/>
            <a:ext cx="6125751" cy="427198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6E8A6DA-6C16-866E-248A-151EA057B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955" y="2007278"/>
            <a:ext cx="5925086" cy="427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877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Microsoft Macintosh PowerPoint</Application>
  <PresentationFormat>Breitbild</PresentationFormat>
  <Paragraphs>9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Symbol</vt:lpstr>
      <vt:lpstr>Times New Roman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3</cp:revision>
  <dcterms:created xsi:type="dcterms:W3CDTF">2026-04-06T04:40:58Z</dcterms:created>
  <dcterms:modified xsi:type="dcterms:W3CDTF">2026-04-06T04:42:32Z</dcterms:modified>
</cp:coreProperties>
</file>