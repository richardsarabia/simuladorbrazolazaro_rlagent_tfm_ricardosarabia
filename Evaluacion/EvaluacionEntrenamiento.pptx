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542" r:id="rId2"/>
    <p:sldId id="552" r:id="rId3"/>
    <p:sldId id="544" r:id="rId4"/>
    <p:sldId id="545" r:id="rId5"/>
    <p:sldId id="546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5"/>
  </p:normalViewPr>
  <p:slideViewPr>
    <p:cSldViewPr snapToGrid="0">
      <p:cViewPr varScale="1">
        <p:scale>
          <a:sx n="95" d="100"/>
          <a:sy n="95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BC0E9-ED70-E844-AA46-27BE8716A815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B6A71-90C8-144C-9863-4826D3EA32C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6493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C0E31-6DC1-7B2C-D6C2-21C3DD527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78B3BA1-CF72-2E3E-DEDC-D38ED1378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CB08F58-524C-CB20-A534-F911FAA76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0DFB01-B995-5128-AFCB-8B9BAA210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37515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4F25A-8259-ECE4-97FB-D8DB071BA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1BFC89E-202A-7C88-1A4D-26F3EFED7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0FA898-6B77-C465-FA98-FD6456DCF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29E214-A59F-DC43-CFBB-6175B3DE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017896-F195-E398-F023-FE804F3D1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4863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C27E6-9C34-FE45-116F-258EACC9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138ECA-67A3-D2AD-DDC1-01CAD8D41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09CA26-3479-00F4-DA43-F62BC9C78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2E6270-D9F7-F35B-781A-A54401C6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F6D8F1-D834-9837-B651-E2316223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5535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B7F584-B803-3F23-35B0-018C06DE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FF0D08-DB92-523B-9EBB-3FEF89011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E8F507-F19C-F37E-1348-BC16F7E55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0C7340-FE41-58E6-082A-1782CC5A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C55188-3BCB-4B97-05BA-98FDFA3F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96201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145C29-8B7B-CF8E-A7C1-145D36FC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70A1F0-FC0D-C27C-226C-ABAC125C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15E0C9-4122-7917-E97B-DE619FAF8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1869E4-B9B8-1B1C-071D-89011D393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B0215A-B23E-304D-5384-52564B50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0DC938-8B90-CD36-4FC3-8995CB3E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3702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90685C-B103-4C01-F334-34A0D0DC1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9E0B35-B77D-95FC-D1CF-E5378BA4B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0D1A7C0-A4A9-3605-5C0E-A1C857139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FC74846-22DE-F83F-BC53-64D9F0925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9BC8B5-608D-6BD6-D52D-980A4FA9D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58BB0BD-B498-AD38-ED6E-EA5802E6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D611A02-5B70-E14C-700C-A3AA45AE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374A411-0D08-B3B4-FAE0-BFA4C7A94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13148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861FF9-FAE8-0C36-E820-53C73055A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33F155-8F31-D8BC-470D-33092670C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534C79-9D63-27E7-859F-1DA3B4B7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73057E-C160-A1A1-EE57-086439DD8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8778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12B7E52-6572-9CBA-45DF-4D4C0BBE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7280AFE-2380-FBBC-9E33-C342A8464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E94606-835B-02A5-7262-4D052E01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768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F1D226-61B8-04C3-A494-651CF77A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A344DC-7121-6100-D804-7001F8AD9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18738C-3D6F-F4C4-C62D-D4ADFB4C6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96BF21-8FB4-C918-9B7C-C2D1B34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8EBC11-EFE2-636E-A53E-6C26DE03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20EC13-888D-53A8-F2BB-D66CAF82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540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217600-2CDF-2B58-D09B-2550637F7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873894E-0799-2D03-BCA0-39F4FAD17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BF12EF-2B2E-0904-BA3B-5841C2F2F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2508C0-E5E0-DE98-2B46-1CEB795FE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C9D1EE-823D-C2C5-3858-F2701561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2A189E-A05F-07E7-AE84-9E95BD7E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8193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7CE80B-BEFD-4322-3406-133B61682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7D0CC2C-4F1B-4CE5-0C67-203FA3A37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940CDE-A3BE-2C40-9782-EF0E0BB5A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E71683-6D2E-5413-858B-F43480AA8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5D032B-8C13-AAF0-EEE0-4AFB60A5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9933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5DD389D-C114-0E72-7D3D-8459C1A77B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16213C-56A4-217E-7690-85C741727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9257A4-2EBF-37B8-DEFE-CAAB10C3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40C4D5-3938-6259-F460-1338F02C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2729BC-7278-F5B7-D913-5267093B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24534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AVAPRENDIZA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6235" y="2636555"/>
            <a:ext cx="5260975" cy="3454400"/>
          </a:xfrm>
        </p:spPr>
        <p:txBody>
          <a:bodyPr/>
          <a:lstStyle>
            <a:lvl1pPr algn="l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l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s-ES_tradnl" dirty="0"/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C9FA80AC-474F-A8AF-0BBA-9AB82BAAA43A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06C3DDAC-8DFE-9B03-74E8-A4BE68B393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nlinebild-Platzhalter 4">
            <a:extLst>
              <a:ext uri="{FF2B5EF4-FFF2-40B4-BE49-F238E27FC236}">
                <a16:creationId xmlns:a16="http://schemas.microsoft.com/office/drawing/2014/main" id="{C1E1E36D-5A9D-D8DD-682D-7CF8D7D21B6C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74650" y="2636838"/>
            <a:ext cx="5991426" cy="3278187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20386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MSE TO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24385" y="5510118"/>
            <a:ext cx="9503058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Onlinebild-Platzhalter 7">
            <a:extLst>
              <a:ext uri="{FF2B5EF4-FFF2-40B4-BE49-F238E27FC236}">
                <a16:creationId xmlns:a16="http://schemas.microsoft.com/office/drawing/2014/main" id="{FAA78FF5-2A44-C038-8C33-581E4612C4B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2386065" y="2254597"/>
            <a:ext cx="7188609" cy="3098654"/>
          </a:xfrm>
        </p:spPr>
        <p:txBody>
          <a:bodyPr/>
          <a:lstStyle/>
          <a:p>
            <a:endParaRPr lang="es-ES_tradnl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DC88AFA-5823-4006-865A-291216A99A1D}"/>
              </a:ext>
            </a:extLst>
          </p:cNvPr>
          <p:cNvGrpSpPr/>
          <p:nvPr userDrawn="1"/>
        </p:nvGrpSpPr>
        <p:grpSpPr>
          <a:xfrm>
            <a:off x="606204" y="3429002"/>
            <a:ext cx="1039143" cy="1226891"/>
            <a:chOff x="2471323" y="3094239"/>
            <a:chExt cx="1039143" cy="1226891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67975EE-02C4-F175-795B-93A638306DE2}"/>
                </a:ext>
              </a:extLst>
            </p:cNvPr>
            <p:cNvGrpSpPr/>
            <p:nvPr/>
          </p:nvGrpSpPr>
          <p:grpSpPr>
            <a:xfrm>
              <a:off x="2471323" y="3278090"/>
              <a:ext cx="1039143" cy="1043040"/>
              <a:chOff x="7954338" y="203337"/>
              <a:chExt cx="1275466" cy="1149452"/>
            </a:xfrm>
          </p:grpSpPr>
          <p:pic>
            <p:nvPicPr>
              <p:cNvPr id="14" name="Grafik 13">
                <a:extLst>
                  <a:ext uri="{FF2B5EF4-FFF2-40B4-BE49-F238E27FC236}">
                    <a16:creationId xmlns:a16="http://schemas.microsoft.com/office/drawing/2014/main" id="{8D070CE1-EC82-7F15-BBFD-68082F249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</p:spPr>
          </p:pic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AF5F29C-6703-E5DA-3E54-C687E6CC7606}"/>
                  </a:ext>
                </a:extLst>
              </p:cNvPr>
              <p:cNvSpPr txBox="1"/>
              <p:nvPr/>
            </p:nvSpPr>
            <p:spPr>
              <a:xfrm>
                <a:off x="8496320" y="1024996"/>
                <a:ext cx="622143" cy="28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dirty="0"/>
                  <a:t>(TD3)</a:t>
                </a:r>
              </a:p>
            </p:txBody>
          </p:sp>
        </p:grp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C0A244D5-E2F4-55A2-9535-F4C6F1162F3F}"/>
                </a:ext>
              </a:extLst>
            </p:cNvPr>
            <p:cNvSpPr txBox="1"/>
            <p:nvPr/>
          </p:nvSpPr>
          <p:spPr>
            <a:xfrm>
              <a:off x="2536282" y="3094239"/>
              <a:ext cx="8611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dirty="0"/>
                <a:t>Agentes RL</a:t>
              </a:r>
            </a:p>
          </p:txBody>
        </p:sp>
      </p:grp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</p:spTree>
    <p:extLst>
      <p:ext uri="{BB962C8B-B14F-4D97-AF65-F5344CB8AC3E}">
        <p14:creationId xmlns:p14="http://schemas.microsoft.com/office/powerpoint/2010/main" val="3372076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 TABLA RM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11169569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01014" y="2449374"/>
            <a:ext cx="6862686" cy="3020412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068B4D2-1A49-F63B-10AE-75995C064D95}"/>
              </a:ext>
            </a:extLst>
          </p:cNvPr>
          <p:cNvSpPr txBox="1"/>
          <p:nvPr userDrawn="1"/>
        </p:nvSpPr>
        <p:spPr>
          <a:xfrm>
            <a:off x="-543695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dirty="0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AFD1239B-68D5-E93B-312D-B6D4E061E4F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653005"/>
            <a:ext cx="8032830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22614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839AFB8-488F-4504-158A-5EF4C771D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A6268C-0B32-F0A1-B9D9-1A67E1D73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8DD3DA-FFA6-193C-078D-39FEA02E8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B1EBD-7D5E-5940-9B97-FFB7C4DFDCB2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A02B7D-4618-5A9F-5471-F84D11DBF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FB34E4-F5B2-1D6A-03D7-48823AE6B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2431F-F8EB-364F-A346-CC54658B2DC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50278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72741-05F6-37C6-5526-299D6F0C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BFABD841-F6FC-13AC-BA75-29827B9CC081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02D2B05F-8E46-70E8-1636-AC077B868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96FDC0C5-0FC8-E3B9-5BB1-DA640247CEE0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BFD26AC2-48DD-A760-5465-96ABF0644F62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223D7864-AB60-2936-AFF4-80DCB9ADC1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B9C4445B-B584-E788-0B32-7A06FB1A6B5E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FF11790-6EE4-F908-AE0A-369652B2C5A0}"/>
              </a:ext>
            </a:extLst>
          </p:cNvPr>
          <p:cNvGrpSpPr/>
          <p:nvPr/>
        </p:nvGrpSpPr>
        <p:grpSpPr>
          <a:xfrm>
            <a:off x="5045745" y="2137068"/>
            <a:ext cx="1625001" cy="1248093"/>
            <a:chOff x="2471323" y="3073037"/>
            <a:chExt cx="1625001" cy="1248093"/>
          </a:xfrm>
        </p:grpSpPr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01FD29A6-E835-AE56-BA8B-D0C94FDE972F}"/>
                </a:ext>
              </a:extLst>
            </p:cNvPr>
            <p:cNvGrpSpPr/>
            <p:nvPr/>
          </p:nvGrpSpPr>
          <p:grpSpPr>
            <a:xfrm>
              <a:off x="2471323" y="3278090"/>
              <a:ext cx="1039143" cy="1043040"/>
              <a:chOff x="7954338" y="203337"/>
              <a:chExt cx="1275466" cy="1149452"/>
            </a:xfrm>
          </p:grpSpPr>
          <p:pic>
            <p:nvPicPr>
              <p:cNvPr id="26" name="Grafik 25">
                <a:extLst>
                  <a:ext uri="{FF2B5EF4-FFF2-40B4-BE49-F238E27FC236}">
                    <a16:creationId xmlns:a16="http://schemas.microsoft.com/office/drawing/2014/main" id="{A5F73D82-4710-4979-3583-5A1F11FB8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</p:spPr>
          </p:pic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8FC0658C-4CC1-5226-0E98-9943CEFB2644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74D30B46-3761-D8C4-AF2F-CC8856485BDB}"/>
                </a:ext>
              </a:extLst>
            </p:cNvPr>
            <p:cNvSpPr txBox="1"/>
            <p:nvPr/>
          </p:nvSpPr>
          <p:spPr>
            <a:xfrm>
              <a:off x="2686964" y="3073037"/>
              <a:ext cx="14093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RL untrained</a:t>
              </a:r>
            </a:p>
          </p:txBody>
        </p:sp>
      </p:grpSp>
      <p:sp>
        <p:nvSpPr>
          <p:cNvPr id="30" name="Textfeld 29">
            <a:extLst>
              <a:ext uri="{FF2B5EF4-FFF2-40B4-BE49-F238E27FC236}">
                <a16:creationId xmlns:a16="http://schemas.microsoft.com/office/drawing/2014/main" id="{11C3FF77-4662-274A-069C-0BD1D146A6DE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42ED6FD1-AC6C-E50C-EABE-AF3DECBEDB16}"/>
              </a:ext>
            </a:extLst>
          </p:cNvPr>
          <p:cNvGrpSpPr/>
          <p:nvPr/>
        </p:nvGrpSpPr>
        <p:grpSpPr>
          <a:xfrm>
            <a:off x="3540019" y="4150280"/>
            <a:ext cx="3181554" cy="2054349"/>
            <a:chOff x="6169323" y="3763075"/>
            <a:chExt cx="3181554" cy="2054349"/>
          </a:xfrm>
        </p:grpSpPr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010B30FE-8CAD-848A-6655-2F476F6514B0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44" name="Gruppieren 43">
                <a:extLst>
                  <a:ext uri="{FF2B5EF4-FFF2-40B4-BE49-F238E27FC236}">
                    <a16:creationId xmlns:a16="http://schemas.microsoft.com/office/drawing/2014/main" id="{B3E6F06A-EF8C-BCDF-7A42-2770C968CF6A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47" name="Grafik 46">
                  <a:extLst>
                    <a:ext uri="{FF2B5EF4-FFF2-40B4-BE49-F238E27FC236}">
                      <a16:creationId xmlns:a16="http://schemas.microsoft.com/office/drawing/2014/main" id="{ED5F4B8A-6508-42C3-6066-3DF0E70886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48" name="Textfeld 47">
                  <a:extLst>
                    <a:ext uri="{FF2B5EF4-FFF2-40B4-BE49-F238E27FC236}">
                      <a16:creationId xmlns:a16="http://schemas.microsoft.com/office/drawing/2014/main" id="{84A38262-5BF8-D985-9E3A-4C2C7F1D1431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9C1203C1-F0A8-B831-0F38-2301F67D0F96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8627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100</a:t>
                </a:r>
              </a:p>
            </p:txBody>
          </p:sp>
        </p:grp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A808D9AA-5132-E2F1-5528-8FE0F05DFFAE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Checkpoint100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76CDE660-5C96-A272-42A1-9BCE0B9B57D5}"/>
                </a:ext>
              </a:extLst>
            </p:cNvPr>
            <p:cNvSpPr txBox="1"/>
            <p:nvPr/>
          </p:nvSpPr>
          <p:spPr>
            <a:xfrm>
              <a:off x="7015754" y="3763075"/>
              <a:ext cx="2335123" cy="60016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Scen32, Reward_SystemF2</a:t>
              </a:r>
            </a:p>
            <a:p>
              <a:r>
                <a:rPr lang="es-ES_tradnl" sz="1100" noProof="1"/>
                <a:t>Run_x316, 1100eps</a:t>
              </a:r>
            </a:p>
          </p:txBody>
        </p:sp>
      </p:grp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1FC2078-E3EC-1F4C-C929-D272F3008CEF}"/>
              </a:ext>
            </a:extLst>
          </p:cNvPr>
          <p:cNvCxnSpPr>
            <a:stCxn id="26" idx="2"/>
            <a:endCxn id="57" idx="0"/>
          </p:cNvCxnSpPr>
          <p:nvPr/>
        </p:nvCxnSpPr>
        <p:spPr>
          <a:xfrm flipH="1">
            <a:off x="5554012" y="3385161"/>
            <a:ext cx="11305" cy="76511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19F4FC-A163-0EDA-F9B5-829869753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90286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FEFAB5-5D5F-F77E-447A-47A2BC745D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Agente1100</a:t>
            </a:r>
          </a:p>
          <a:p>
            <a:endParaRPr lang="es-ES_tradnl" noProof="1"/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20260023-7373-E52D-A542-FDD75B97C373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74650" y="2970357"/>
            <a:ext cx="5991225" cy="26111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Inhaltsplatzhalter 28">
                <a:extLst>
                  <a:ext uri="{FF2B5EF4-FFF2-40B4-BE49-F238E27FC236}">
                    <a16:creationId xmlns:a16="http://schemas.microsoft.com/office/drawing/2014/main" id="{9FB6A279-E7FB-46F4-1FFA-045C13CF3190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6556375" y="2636838"/>
              <a:ext cx="5190134" cy="358724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-495.652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-528.005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-129.333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1.7442e-06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4.9929e-06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Inhaltsplatzhalter 28">
                <a:extLst>
                  <a:ext uri="{FF2B5EF4-FFF2-40B4-BE49-F238E27FC236}">
                    <a16:creationId xmlns:a16="http://schemas.microsoft.com/office/drawing/2014/main" id="{9FB6A279-E7FB-46F4-1FFA-045C13CF3190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6556375" y="2636838"/>
              <a:ext cx="5190134" cy="358724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227273" r="-570213" b="-23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27273" r="-113953" b="-23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63636" r="-570213" b="-106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-495.652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63636" r="-113953" b="-106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527273" r="-570213" b="-20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-528.005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27273" r="-113953" b="-20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666667" r="-570213" b="-16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438095" r="-113953" b="-8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027273" r="-570213" b="-15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-129.333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63636" r="-113953" b="-66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747619" r="-113953" b="-5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1918182" r="-570213" b="-6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918182" r="-113953" b="-6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018182" r="-570213" b="-5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018182" r="-113953" b="-5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1.7442e-06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1154545" r="-570213" b="-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154545" r="-113953" b="-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4.9929e-06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509091" r="-570213" b="-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509091" r="-113953" b="-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CFD89425-E0BF-44B1-F45A-B09CDD8E664C}"/>
              </a:ext>
            </a:extLst>
          </p:cNvPr>
          <p:cNvSpPr txBox="1"/>
          <p:nvPr/>
        </p:nvSpPr>
        <p:spPr>
          <a:xfrm>
            <a:off x="520862" y="5747954"/>
            <a:ext cx="58450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noProof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Fase 2 con </a:t>
            </a: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recompensa basada principalmente en el error de seguimiento</a:t>
            </a:r>
          </a:p>
          <a:p>
            <a:pPr>
              <a:buNone/>
            </a:pPr>
            <a:r>
              <a:rPr lang="es-ES_tradnl" sz="1200" noProof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evidencia una convergencia progresiva del retorno acumulado, con mejora sostenida del desempeño y estabilidad creciente del agente a lo largo del entrenamiento.</a:t>
            </a:r>
          </a:p>
        </p:txBody>
      </p:sp>
    </p:spTree>
    <p:extLst>
      <p:ext uri="{BB962C8B-B14F-4D97-AF65-F5344CB8AC3E}">
        <p14:creationId xmlns:p14="http://schemas.microsoft.com/office/powerpoint/2010/main" val="2397244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33D9E-CF1F-1D4A-E6B0-9FBA072C4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830F202-349E-18DD-9C41-8AE7EE7D7E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1" y="1446790"/>
            <a:ext cx="7789762" cy="449263"/>
          </a:xfrm>
        </p:spPr>
        <p:txBody>
          <a:bodyPr>
            <a:norm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Top3 Curvas RMSE en el Dominio Angular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s-ES_tradnl" noProof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1C35A6-647A-2898-EFEF-0DB2614ACDC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s-ES_tradnl" sz="1400" noProof="1"/>
              <a:t>La figura muestra el RMSE global de los tres mejores agentes en todo el dominio angular. Se observa un incremento del error hacia los extremos (±180°); sin embargo, no existe simetría en la distribución del RMSE, lo que indica un desbalance en el desempeño del agente según la región angular evaluada.</a:t>
            </a:r>
          </a:p>
          <a:p>
            <a:endParaRPr lang="es-ES_tradnl" sz="1400" noProof="1"/>
          </a:p>
        </p:txBody>
      </p:sp>
      <p:pic>
        <p:nvPicPr>
          <p:cNvPr id="11" name="Onlinebild-Platzhalter 10">
            <a:extLst>
              <a:ext uri="{FF2B5EF4-FFF2-40B4-BE49-F238E27FC236}">
                <a16:creationId xmlns:a16="http://schemas.microsoft.com/office/drawing/2014/main" id="{D4A1DE54-0282-AD17-49BA-A00F2952BD7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06852" y="2254250"/>
            <a:ext cx="5346521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22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F713-C17F-C686-4FE3-1EF7B5C4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1DBDBE0-034B-E7DC-5E17-82075DF4B0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1" y="1446790"/>
            <a:ext cx="7789762" cy="449263"/>
          </a:xfrm>
        </p:spPr>
        <p:txBody>
          <a:bodyPr>
            <a:norm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Progresión del RMSE durante el entrenamiento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s-ES_tradnl" noProof="1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34859188-77D5-5AAB-E49E-583E3775E28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s-ES_tradnl" noProof="1"/>
              <a:t>La evolución del RMSE demuestra que extender el entrenamiento no conduce a mejoras sostenidas del desempeño, evidenciando un punto de saturación en la capacidad de generalización del agente</a:t>
            </a:r>
          </a:p>
          <a:p>
            <a:endParaRPr lang="es-ES_tradnl" noProof="1"/>
          </a:p>
        </p:txBody>
      </p:sp>
      <p:pic>
        <p:nvPicPr>
          <p:cNvPr id="9" name="Onlinebild-Platzhalter 8">
            <a:extLst>
              <a:ext uri="{FF2B5EF4-FFF2-40B4-BE49-F238E27FC236}">
                <a16:creationId xmlns:a16="http://schemas.microsoft.com/office/drawing/2014/main" id="{FD49F66F-9AD0-7B3F-7BDD-B878814E3F6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06852" y="2254250"/>
            <a:ext cx="5346521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8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032A-1580-3EE2-BBA1-88793D253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D57D66DE-14A9-C54A-E20E-F17E3F261AB2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1376643" y="5653004"/>
            <a:ext cx="9802634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noProof="1"/>
              <a:t>La evaluación determinista permite comparar objetivamente su desempeño en el dominio angular. En este escenario, el </a:t>
            </a:r>
            <a:r>
              <a:rPr lang="es-ES_tradnl" sz="1400" b="1" noProof="1"/>
              <a:t>Agent100</a:t>
            </a:r>
            <a:r>
              <a:rPr lang="es-ES_tradnl" sz="1400" noProof="1"/>
              <a:t> se posiciona como el mejor candidato, al minimizar el RMSE global y mantener un equilibrio favorable entre error máximo, dispersión angular y rendimiento global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E6D47037-9B2C-6874-08BE-5776A72CADC1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520861" y="1446790"/>
            <a:ext cx="1018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Selección del Agente en base a su rendimiento. Evaluación Determinista en la simulación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3E15A1A-6469-F2F5-2021-10FB3541D3CD}"/>
              </a:ext>
            </a:extLst>
          </p:cNvPr>
          <p:cNvGrpSpPr/>
          <p:nvPr/>
        </p:nvGrpSpPr>
        <p:grpSpPr>
          <a:xfrm>
            <a:off x="870947" y="2560978"/>
            <a:ext cx="2335123" cy="2787389"/>
            <a:chOff x="7015754" y="3707990"/>
            <a:chExt cx="2335123" cy="2787389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F8C445A3-C904-E38B-ADFD-C1CC9AF76458}"/>
                </a:ext>
              </a:extLst>
            </p:cNvPr>
            <p:cNvGrpSpPr/>
            <p:nvPr/>
          </p:nvGrpSpPr>
          <p:grpSpPr>
            <a:xfrm>
              <a:off x="7686988" y="4774384"/>
              <a:ext cx="1039143" cy="1043040"/>
              <a:chOff x="7793778" y="-23609"/>
              <a:chExt cx="1275466" cy="1149452"/>
            </a:xfrm>
          </p:grpSpPr>
          <p:pic>
            <p:nvPicPr>
              <p:cNvPr id="12" name="Grafik 11">
                <a:extLst>
                  <a:ext uri="{FF2B5EF4-FFF2-40B4-BE49-F238E27FC236}">
                    <a16:creationId xmlns:a16="http://schemas.microsoft.com/office/drawing/2014/main" id="{AAC66209-1EFB-DE72-AFD8-30D08E102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2679" t="14811" r="19766" b="18544"/>
              <a:stretch>
                <a:fillRect/>
              </a:stretch>
            </p:blipFill>
            <p:spPr>
              <a:xfrm>
                <a:off x="7793778" y="-23609"/>
                <a:ext cx="1275466" cy="1149452"/>
              </a:xfrm>
              <a:prstGeom prst="rect">
                <a:avLst/>
              </a:prstGeom>
            </p:spPr>
          </p:pic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13D5E079-5C43-93A8-BA2A-693E97DE873F}"/>
                  </a:ext>
                </a:extLst>
              </p:cNvPr>
              <p:cNvSpPr txBox="1"/>
              <p:nvPr/>
            </p:nvSpPr>
            <p:spPr>
              <a:xfrm>
                <a:off x="8402980" y="809204"/>
                <a:ext cx="622143" cy="28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10880BF9-2645-2350-876F-4E1DBF6198E6}"/>
                </a:ext>
              </a:extLst>
            </p:cNvPr>
            <p:cNvSpPr txBox="1"/>
            <p:nvPr/>
          </p:nvSpPr>
          <p:spPr>
            <a:xfrm>
              <a:off x="7441766" y="6064492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Checkpoint100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22D62421-A537-7F2D-F4E0-87ECD437F111}"/>
                </a:ext>
              </a:extLst>
            </p:cNvPr>
            <p:cNvSpPr txBox="1"/>
            <p:nvPr/>
          </p:nvSpPr>
          <p:spPr>
            <a:xfrm>
              <a:off x="7015754" y="3707990"/>
              <a:ext cx="2335123" cy="7694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Scen32, Reward_SystemF2</a:t>
              </a:r>
            </a:p>
            <a:p>
              <a:r>
                <a:rPr lang="es-ES_tradnl" sz="1100" noProof="1"/>
                <a:t>Run_x316, 1100eps</a:t>
              </a:r>
            </a:p>
            <a:p>
              <a:endParaRPr lang="es-ES_tradnl" sz="1100" noProof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Inhaltsplatzhalter 4">
                <a:extLst>
                  <a:ext uri="{FF2B5EF4-FFF2-40B4-BE49-F238E27FC236}">
                    <a16:creationId xmlns:a16="http://schemas.microsoft.com/office/drawing/2014/main" id="{0F7B94BE-171E-18BB-DDDF-938904EC7804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3900490" y="2449515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11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buNone/>
                          </a:pPr>
                          <a:r>
                            <a:rPr lang="es-ES_tradnl" sz="11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𝑔𝑙𝑜𝑏𝑎𝑙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_tradnl" sz="900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𝑎𝑛𝑔𝑢𝑙𝑎𝑟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𝑅𝑎𝑡𝑖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𝑒𝑥𝑡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47.3593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91.9526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21.9152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1.9416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45.9488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50.8623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84.1346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16.6631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1.6542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49.9653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Agent600.mat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52.5019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104.5536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26.1521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1.9914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50.9272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Agent500.mat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57.0328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104.2105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22.3312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1.8272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56.4216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Agent300.mat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61.5651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139.2792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32.2617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2.2623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60.6632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Agent400.mat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66.3630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137.8620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33.3298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2.0774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65.1121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Agent800.mat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77.1289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137.6104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46.5498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1.7842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74.0597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Agent700.mat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79.1222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150.7403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48.0584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1.9052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75.3528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84.0683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142.5539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45.6387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1.6957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81.6264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Agent1100.mat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87.3358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165.9936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49.7643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1.9006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84.6944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Inhaltsplatzhalter 4">
                <a:extLst>
                  <a:ext uri="{FF2B5EF4-FFF2-40B4-BE49-F238E27FC236}">
                    <a16:creationId xmlns:a16="http://schemas.microsoft.com/office/drawing/2014/main" id="{0F7B94BE-171E-18BB-DDDF-938904EC7804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3900490" y="2449515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11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buNone/>
                          </a:pPr>
                          <a:r>
                            <a:rPr lang="es-ES_tradnl" sz="11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8966" t="-227778" r="-345977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2500" t="-227778" r="-276250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0137" t="-227778" r="-202740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6364" t="-227778" r="-124242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47.3593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91.9526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21.9152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1.9416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45.9488</a:t>
                          </a: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50.8623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84.1346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16.6631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1.6542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49.9653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Agent600.mat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52.5019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104.5536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26.1521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1.9914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50.9272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Agent500.mat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57.0328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104.2105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22.3312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1.8272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56.4216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Agent300.mat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61.5651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139.2792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32.2617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2.2623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60.6632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Agent400.mat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66.3630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137.8620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33.3298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2.0774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65.1121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Agent800.mat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77.1289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137.6104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46.5498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1.7842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74.0597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Agent700.mat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79.1222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150.7403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48.0584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1.9052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75.3528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Agent1000.mat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84.0683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142.5539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45.6387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1.6957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81.6264</a:t>
                          </a: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Agent1100.mat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87.3358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165.9936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49.7643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1.9006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84.6944</a:t>
                          </a: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7756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Macintosh PowerPoint</Application>
  <PresentationFormat>Breitbild</PresentationFormat>
  <Paragraphs>242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2026-04-06T04:13:19Z</dcterms:created>
  <dcterms:modified xsi:type="dcterms:W3CDTF">2026-04-06T04:14:36Z</dcterms:modified>
</cp:coreProperties>
</file>