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554" r:id="rId2"/>
    <p:sldId id="569" r:id="rId3"/>
    <p:sldId id="570" r:id="rId4"/>
    <p:sldId id="571" r:id="rId5"/>
    <p:sldId id="572" r:id="rId6"/>
    <p:sldId id="573" r:id="rId7"/>
    <p:sldId id="574" r:id="rId8"/>
    <p:sldId id="575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EA0572-A21C-9642-9095-B4FDDE3E8C30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B5EC3431-46F9-8E43-ABB8-05CB6224B6C0}">
      <dgm:prSet phldrT="[Text]"/>
      <dgm:spPr/>
      <dgm:t>
        <a:bodyPr/>
        <a:lstStyle/>
        <a:p>
          <a:r>
            <a:rPr lang="es-ES_tradnl" noProof="1"/>
            <a:t>Plataforma inclinada</a:t>
          </a:r>
        </a:p>
      </dgm:t>
    </dgm:pt>
    <dgm:pt modelId="{A1C1792E-106C-9F4E-94BF-1EB93FC8D6E5}" type="parTrans" cxnId="{BFB80B76-3EEF-6F4F-9003-FACEBDEEF919}">
      <dgm:prSet/>
      <dgm:spPr/>
      <dgm:t>
        <a:bodyPr/>
        <a:lstStyle/>
        <a:p>
          <a:endParaRPr lang="de-DE"/>
        </a:p>
      </dgm:t>
    </dgm:pt>
    <dgm:pt modelId="{2B2187F0-2C9A-6342-8D0E-8DCE5F82D182}" type="sibTrans" cxnId="{BFB80B76-3EEF-6F4F-9003-FACEBDEEF919}">
      <dgm:prSet/>
      <dgm:spPr/>
      <dgm:t>
        <a:bodyPr/>
        <a:lstStyle/>
        <a:p>
          <a:endParaRPr lang="de-DE"/>
        </a:p>
      </dgm:t>
    </dgm:pt>
    <dgm:pt modelId="{5EB27ED7-BFD5-7B41-A999-8D59D5C3BC40}" type="pres">
      <dgm:prSet presAssocID="{28EA0572-A21C-9642-9095-B4FDDE3E8C30}" presName="Name0" presStyleCnt="0">
        <dgm:presLayoutVars>
          <dgm:dir/>
          <dgm:resizeHandles val="exact"/>
        </dgm:presLayoutVars>
      </dgm:prSet>
      <dgm:spPr/>
    </dgm:pt>
    <dgm:pt modelId="{4D789688-5F6B-5743-B5E9-23B680B527E3}" type="pres">
      <dgm:prSet presAssocID="{B5EC3431-46F9-8E43-ABB8-05CB6224B6C0}" presName="parTxOnly" presStyleLbl="node1" presStyleIdx="0" presStyleCnt="1" custLinFactNeighborX="-12348" custLinFactNeighborY="-5411">
        <dgm:presLayoutVars>
          <dgm:bulletEnabled val="1"/>
        </dgm:presLayoutVars>
      </dgm:prSet>
      <dgm:spPr/>
    </dgm:pt>
  </dgm:ptLst>
  <dgm:cxnLst>
    <dgm:cxn modelId="{45BE880B-AAA8-CE4F-ACB1-92C7594C18DD}" type="presOf" srcId="{B5EC3431-46F9-8E43-ABB8-05CB6224B6C0}" destId="{4D789688-5F6B-5743-B5E9-23B680B527E3}" srcOrd="0" destOrd="0" presId="urn:microsoft.com/office/officeart/2005/8/layout/hChevron3"/>
    <dgm:cxn modelId="{BFB80B76-3EEF-6F4F-9003-FACEBDEEF919}" srcId="{28EA0572-A21C-9642-9095-B4FDDE3E8C30}" destId="{B5EC3431-46F9-8E43-ABB8-05CB6224B6C0}" srcOrd="0" destOrd="0" parTransId="{A1C1792E-106C-9F4E-94BF-1EB93FC8D6E5}" sibTransId="{2B2187F0-2C9A-6342-8D0E-8DCE5F82D182}"/>
    <dgm:cxn modelId="{741171BA-99F5-2D43-B019-13C442CC9A56}" type="presOf" srcId="{28EA0572-A21C-9642-9095-B4FDDE3E8C30}" destId="{5EB27ED7-BFD5-7B41-A999-8D59D5C3BC40}" srcOrd="0" destOrd="0" presId="urn:microsoft.com/office/officeart/2005/8/layout/hChevron3"/>
    <dgm:cxn modelId="{2EADC346-63D6-BA46-8731-962DC6832C65}" type="presParOf" srcId="{5EB27ED7-BFD5-7B41-A999-8D59D5C3BC40}" destId="{4D789688-5F6B-5743-B5E9-23B680B527E3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89688-5F6B-5743-B5E9-23B680B527E3}">
      <dsp:nvSpPr>
        <dsp:cNvPr id="0" name=""/>
        <dsp:cNvSpPr/>
      </dsp:nvSpPr>
      <dsp:spPr>
        <a:xfrm>
          <a:off x="0" y="0"/>
          <a:ext cx="8746828" cy="216029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710" tIns="173355" rIns="86678" bIns="17335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6500" kern="1200" noProof="1"/>
            <a:t>Plataforma inclinada</a:t>
          </a:r>
        </a:p>
      </dsp:txBody>
      <dsp:txXfrm>
        <a:off x="0" y="0"/>
        <a:ext cx="8206755" cy="2160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9E999-B06C-354C-8BB2-0A693C983DEA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B7660-E2C9-E040-AD9B-2427DF63FE0B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5160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506C-7098-79D7-1543-49C0D4D9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7AD2460-D50D-DD14-5EC0-1CDCF29D7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4B8164B-1AE1-6914-A5F1-DC1D79D6B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F13A38-3EB5-6B2B-DC82-D35EF1080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5480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8849E-BE2A-B39E-3736-3EE8213E5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B6ED67B-99B4-FE10-68AD-49D16AA8B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A6490E-989B-A042-11E7-977E0DF40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A6F5FC-9D12-1F2D-4DE0-FCCE8A6FD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6E10E0-2FEA-DE64-5542-184B429E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8463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19526A-8AD8-7A64-B4CD-6F8E9CD9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72C53F-A449-36A0-00E9-3279E47DE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AA18CC-174B-F2EA-AA91-BE23CA5C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871628-7D4D-1C55-2D91-77F62595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B790DA-296E-17AD-57B4-D0EB5E20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053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6A043-6CC7-8ED4-8AC7-72F4CF80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D9AB1B-C3BE-6112-537C-94DE548D1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E22517-4251-3692-040A-B2B78CCF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72B27-0CB8-27CE-8615-58CD90A7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CAD75B-6DA0-54FD-D5CE-9691D2E2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8208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BF691-BB0A-684C-9202-D88E52C0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501E3A-BB4A-2498-4397-C7A247423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28E326-F64A-345E-2E83-71C66B2FA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5A0654-9625-E3AA-2243-871498868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6C9472-A7FE-4276-A3C3-5ABA18B37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1FC4BE-1397-1506-580C-A5EE71E5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103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661E66-3C6E-60D1-BC52-A2E27A95B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57875C-6A58-7BDA-E4F4-36A54E206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F50245-AA97-F40A-9855-2735C3C83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60D2694-5CCF-D3B9-0F84-F0E01F8E6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E1DA95-0231-7288-BDFF-5CCDF645E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7809FB0-3E7F-7082-0621-2209E59A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C5E7FB-F7A7-558D-F2FB-F75F0C5D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F5ED7F5-02F7-6C09-5732-42B7E0EC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8009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36489-8947-3D3B-4F40-F97CEC9B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B3DAFA-46B2-FD77-DE1B-9D9F9C41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A99B47-15CD-6BC0-41A8-D266E2931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ECD42C-2679-D60E-C6F2-45C73323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0293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25DAE1B-1AC4-C47D-35E9-A5FC89C3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2BE9FEA-AF54-9111-6DE8-10D0FABF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906015-C703-3C79-151A-F3200599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924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353CE5-CB64-CCCE-49D0-74340D1D0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CC53BF-99C7-ADB6-BC22-529DAE7A1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5892AF-3039-E672-BEC8-91A0D36FF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0E86F7-67E1-23E9-E241-04EECEAE4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4B48EB-553F-3B42-1515-FAE4CA4E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DF1AB1-0E5B-0556-845F-CE362F4A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12901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12F8FC-E8FF-A796-5E93-58808655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8A074CC-F475-54E0-11D7-CBAA56981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CE2A885-8F42-DA22-397A-B567DC913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BF7751-C951-7DF1-9501-0F38FD91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CAF67E-3F40-2596-02FA-6C2B67D8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F112BB-978D-748C-1F42-6A4FE5FB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6692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18AA73-AB01-82B9-E0DA-FD54FD89B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8145DB-4946-012C-F7B9-F80B211E0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A1B6BD-DEFC-319A-29EB-43F6D4B2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CB0F31-369D-EDC2-5268-6DC2CDDF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6AA7E1-FB24-E68B-E2EE-D0399E1D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595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203F871-31E5-81DA-FB33-3A5A601B9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9774B8-8F65-B335-E43A-6FB2CBD91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73AB81-6231-7746-232D-06A2034D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F2BB11-AFD6-CBE8-BB11-AF472D6E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C7C68A-BEFF-A3A1-0E6C-44020871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4915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52955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1709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F70869-C10E-E145-23A1-8E62E2B89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7D8AB2-D297-493A-482D-3889605F0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DECEEA-F58C-0BD2-439A-AFB10D58C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DD6A9-8BDA-A54E-9055-4FAA85D3FCAF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1D7416-AB41-E641-66A1-75119386C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09A9B5-BD1E-49F6-D546-1CEEF9C4B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776A2-17EE-7C47-8E42-E07E5A2F597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8402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2F93-5687-4941-CB03-CBD8761B2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99F920D1-2FB3-8B88-7A2D-EA4D2142903B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C5D28A11-69CF-1F43-67A7-DDC711512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E97C82A2-F18C-FB1D-87CD-587B437AD6AF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7BAC9A3-275B-340A-C40F-2E74D1478812}"/>
              </a:ext>
            </a:extLst>
          </p:cNvPr>
          <p:cNvSpPr txBox="1"/>
          <p:nvPr/>
        </p:nvSpPr>
        <p:spPr>
          <a:xfrm>
            <a:off x="-844952" y="27200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517421E4-24F8-A23D-0B5B-1D03BE7D6FC2}"/>
              </a:ext>
            </a:extLst>
          </p:cNvPr>
          <p:cNvGraphicFramePr/>
          <p:nvPr/>
        </p:nvGraphicFramePr>
        <p:xfrm>
          <a:off x="760760" y="2720051"/>
          <a:ext cx="8755379" cy="2160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E4267B9-908A-804D-84E8-69B73E03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10071100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758724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18192-3487-E17A-F2F7-00D5CD57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B7FD371-835D-7D7C-C778-090C777CC0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064755" cy="1217510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es-ES_tradnl" sz="1400" noProof="1"/>
              <a:t>La posición inicial introduce distorsiones no uniformes en el RMSE, incrementando el error medio de 87.87° a más de 100° y evidenciando una fuerte dependencia del desempeño respecto al estado inicial.</a:t>
            </a:r>
          </a:p>
          <a:p>
            <a:pPr algn="l">
              <a:lnSpc>
                <a:spcPct val="120000"/>
              </a:lnSpc>
            </a:pPr>
            <a:endParaRPr lang="es-ES_tradnl" sz="1400" noProof="1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62D457-37D5-D982-07BF-081427A85A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noProof="1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104E73C7-8400-2C65-5681-027344531402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do1ini= 0°, Retardo=0ms </a:t>
            </a:r>
            <a:endParaRPr lang="es-ES_tradnl" sz="1400" noProof="1"/>
          </a:p>
          <a:p>
            <a:pPr algn="l"/>
            <a:endParaRPr lang="es-ES_tradnl" sz="1400" b="1" noProof="1"/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35689336-CD84-462A-8C56-55EBC1DE8304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221EB668-F88B-CFD9-659C-401E871157E1}"/>
              </a:ext>
            </a:extLst>
          </p:cNvPr>
          <p:cNvSpPr txBox="1">
            <a:spLocks/>
          </p:cNvSpPr>
          <p:nvPr/>
        </p:nvSpPr>
        <p:spPr>
          <a:xfrm>
            <a:off x="1066800" y="6356350"/>
            <a:ext cx="100711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42143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DC32-C9F6-A41D-7E11-D8D93414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A87049-E169-57AD-DE0D-3F8B2D1B1D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E344A72D-D082-05E3-8366-9CEB65DA28C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502430140"/>
              </p:ext>
            </p:extLst>
          </p:nvPr>
        </p:nvGraphicFramePr>
        <p:xfrm>
          <a:off x="561487" y="4660638"/>
          <a:ext cx="10532960" cy="1501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59.94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25.92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57.60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14.94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17.78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271.98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124.00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78.53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19.16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48.30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18.47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283.58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62.45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17.31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-299.36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-300.00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15.64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373.37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78.00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5.54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175.44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26.47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57.65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D47A475-2833-025B-306E-0FCBD6953D00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mantiene estabilidad en condiciones nominales, pero presenta degradaciones severas para estados iniciales extremos, incluyendo pérdida de seguimiento y divergencia.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F0138DB2-57A3-BE50-8C27-E9A1D6F32F80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31823" y="2078038"/>
            <a:ext cx="7394222" cy="250507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70144D0-5B73-20C3-F7C5-7794320DA788}"/>
              </a:ext>
            </a:extLst>
          </p:cNvPr>
          <p:cNvSpPr txBox="1">
            <a:spLocks/>
          </p:cNvSpPr>
          <p:nvPr/>
        </p:nvSpPr>
        <p:spPr>
          <a:xfrm>
            <a:off x="1066800" y="6356350"/>
            <a:ext cx="100711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251834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F933-71A5-6FB2-23BA-5A618D64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1DD9EC-D8DF-CA6F-B1DB-AA0E46CDB8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noProof="1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C9D85E50-5923-3E6B-7B30-15B67D62F4D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do1ini= 0° </a:t>
            </a:r>
            <a:endParaRPr lang="es-ES_tradnl" noProof="1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0706D25E-A0CD-2889-8A0D-83E20091EF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858024" cy="977315"/>
          </a:xfrm>
        </p:spPr>
        <p:txBody>
          <a:bodyPr>
            <a:noAutofit/>
          </a:bodyPr>
          <a:lstStyle/>
          <a:p>
            <a:pPr algn="l"/>
            <a:r>
              <a:rPr lang="es-ES_tradnl" noProof="1"/>
              <a:t>El retardo introduce una penalización uniforme del RMSE, manteniendo la forma global de la curva y evidenciando robustez estructural del agente.</a:t>
            </a:r>
          </a:p>
          <a:p>
            <a:pPr algn="l">
              <a:lnSpc>
                <a:spcPct val="120000"/>
              </a:lnSpc>
            </a:pPr>
            <a:endParaRPr lang="es-ES_tradnl" noProof="1"/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10DC7C37-3A39-EB86-05E2-E28CB7090711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B02DF45-D603-4531-E45D-90F28DD37137}"/>
              </a:ext>
            </a:extLst>
          </p:cNvPr>
          <p:cNvSpPr txBox="1">
            <a:spLocks/>
          </p:cNvSpPr>
          <p:nvPr/>
        </p:nvSpPr>
        <p:spPr>
          <a:xfrm>
            <a:off x="1066800" y="6356350"/>
            <a:ext cx="100711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7312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6E24-80CA-5704-9779-F1A1D055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AC89E1-E0E7-D321-F30B-D3EC728C68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1119F97C-EA55-FC37-9AFD-E46D96227EC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430619435"/>
              </p:ext>
            </p:extLst>
          </p:nvPr>
        </p:nvGraphicFramePr>
        <p:xfrm>
          <a:off x="720725" y="4720590"/>
          <a:ext cx="10532960" cy="163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59.94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25.92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57.60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14.94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17.78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271.98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124.00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78.53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19.16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48.30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59.94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27.64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61.43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14.94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272.51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138.00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3.84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82.83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59.87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29.60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65.77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14.87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18.22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271.24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85.64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54.16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13DE68A-0507-1BF0-C64F-F4F95C32F0B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noProof="1"/>
              <a:t>El sistema mantiene estabilidad, pero el retardo incrementa sobreimpulso, oscilaciones y esfuerzo de control en el régimen transitorio.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1AF8FA9F-C1D2-7489-6286-89AEAB7A8F38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88268" y="2078038"/>
            <a:ext cx="7123288" cy="250507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4C7D877-5FF4-6E1B-5319-935A9D79D003}"/>
              </a:ext>
            </a:extLst>
          </p:cNvPr>
          <p:cNvSpPr txBox="1">
            <a:spLocks/>
          </p:cNvSpPr>
          <p:nvPr/>
        </p:nvSpPr>
        <p:spPr>
          <a:xfrm>
            <a:off x="1066800" y="6356350"/>
            <a:ext cx="100711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094817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A9006-3445-A12A-763E-836C8692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17351F-C5AF-A08A-7080-5811DBCA73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FED3FF1-756B-A7C4-A6C0-A94B23ED797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Retardo=0ms </a:t>
            </a:r>
            <a:endParaRPr lang="es-ES_tradnl" noProof="1"/>
          </a:p>
          <a:p>
            <a:endParaRPr lang="es-ES_tradnl" b="1" noProof="1"/>
          </a:p>
          <a:p>
            <a:endParaRPr lang="es-ES_tradnl" noProof="1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8CA85B45-9E36-0A01-F822-A2B22EF33C4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1066521"/>
          </a:xfrm>
        </p:spPr>
        <p:txBody>
          <a:bodyPr>
            <a:noAutofit/>
          </a:bodyPr>
          <a:lstStyle/>
          <a:p>
            <a:pPr algn="l"/>
            <a:r>
              <a:rPr lang="es-ES_tradnl" noProof="1"/>
              <a:t>La velocidad angular inicial introduce distorsiones locales en el RMSE, evidenciando una dependencia directa del agente respecto al estado dinámico inicial.</a:t>
            </a:r>
          </a:p>
          <a:p>
            <a:pPr algn="l">
              <a:lnSpc>
                <a:spcPct val="120000"/>
              </a:lnSpc>
            </a:pPr>
            <a:endParaRPr lang="es-ES_tradnl" noProof="1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7448C71C-57A1-F646-B085-DAD5E613DC2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260678-BD30-65ED-D1D3-1EE7E28E8F59}"/>
              </a:ext>
            </a:extLst>
          </p:cNvPr>
          <p:cNvSpPr txBox="1">
            <a:spLocks/>
          </p:cNvSpPr>
          <p:nvPr/>
        </p:nvSpPr>
        <p:spPr>
          <a:xfrm>
            <a:off x="1066800" y="6356350"/>
            <a:ext cx="100711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025251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73B2D-6F9E-FC72-95AD-0EC9F486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5EBF9C-3BB2-C69E-5D3A-E91CEF868E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6A2D6FBC-2CCA-0955-8A70-7AB15D0DB95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09954036"/>
              </p:ext>
            </p:extLst>
          </p:nvPr>
        </p:nvGraphicFramePr>
        <p:xfrm>
          <a:off x="561487" y="4765096"/>
          <a:ext cx="10532960" cy="1559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59.95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26.74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59.43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14.95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16.88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271.57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114.00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3.53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69.85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18.38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50.85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59.94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25.92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14.94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17.78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271.98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124.00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78.53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19.16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48.30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58.21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275.41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117.00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90.26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20.26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50.49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4221B8D-C490-F2E7-A54A-A4D17E1D7F26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noProof="1"/>
              <a:t>La velocidad inicial impacta el transitorio, generando variaciones en convergencia, RMSE y esfuerzo de control, sin afectar el estado estacionario.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A18A7EBA-FF88-9F73-7ACE-C28D2800D5A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76978" y="2078038"/>
            <a:ext cx="6716889" cy="250507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B817A48-5B2E-BA66-3CFA-0046D0B5733B}"/>
              </a:ext>
            </a:extLst>
          </p:cNvPr>
          <p:cNvSpPr txBox="1">
            <a:spLocks/>
          </p:cNvSpPr>
          <p:nvPr/>
        </p:nvSpPr>
        <p:spPr>
          <a:xfrm>
            <a:off x="1066800" y="6356350"/>
            <a:ext cx="100711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085179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55CBF-59E8-0119-F616-AEA060C7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9DB6CB-D853-E6D0-53D7-0DDB93E1F7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noProof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EDF7AF0-D0A5-8384-0DC8-CB0F7AB8D916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7228093-C662-31FE-8F59-058BFD587161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B132CA0-BE4D-1A8C-2D96-A7BEFE9E97A0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D727638-A933-2FA2-8A54-FB428046E75B}"/>
              </a:ext>
            </a:extLst>
          </p:cNvPr>
          <p:cNvSpPr txBox="1"/>
          <p:nvPr/>
        </p:nvSpPr>
        <p:spPr>
          <a:xfrm>
            <a:off x="376884" y="5440095"/>
            <a:ext cx="116091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agente mantiene la forma global del RMSE.</a:t>
            </a:r>
          </a:p>
          <a:p>
            <a:pPr algn="ctr"/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retardo tiene impacto mínimo, mientras que las condiciones iniciales —especialmente la velocidad— introducen variaciones locales y dependencia del estado inicial</a:t>
            </a:r>
          </a:p>
          <a:p>
            <a:pPr algn="ctr"/>
            <a:endParaRPr lang="es-ES_tradnl" sz="1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nlinebild-Platzhalter 7">
            <a:extLst>
              <a:ext uri="{FF2B5EF4-FFF2-40B4-BE49-F238E27FC236}">
                <a16:creationId xmlns:a16="http://schemas.microsoft.com/office/drawing/2014/main" id="{577208C3-2761-F872-B705-A84803427AF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76884" y="2299118"/>
            <a:ext cx="3480504" cy="2662828"/>
          </a:xfrm>
          <a:prstGeom prst="rect">
            <a:avLst/>
          </a:prstGeom>
        </p:spPr>
      </p:pic>
      <p:pic>
        <p:nvPicPr>
          <p:cNvPr id="4" name="Onlinebild-Platzhalter 4">
            <a:extLst>
              <a:ext uri="{FF2B5EF4-FFF2-40B4-BE49-F238E27FC236}">
                <a16:creationId xmlns:a16="http://schemas.microsoft.com/office/drawing/2014/main" id="{A0AE8812-1314-5C82-F10A-A33F518A1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69" y="2299118"/>
            <a:ext cx="3578647" cy="2737914"/>
          </a:xfrm>
          <a:prstGeom prst="rect">
            <a:avLst/>
          </a:prstGeom>
        </p:spPr>
      </p:pic>
      <p:pic>
        <p:nvPicPr>
          <p:cNvPr id="5" name="Onlinebild-Platzhalter 5">
            <a:extLst>
              <a:ext uri="{FF2B5EF4-FFF2-40B4-BE49-F238E27FC236}">
                <a16:creationId xmlns:a16="http://schemas.microsoft.com/office/drawing/2014/main" id="{E79A3E68-C22E-D1E4-CA5B-D0CAF01AE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519" y="2299118"/>
            <a:ext cx="3533154" cy="2703109"/>
          </a:xfrm>
          <a:prstGeom prst="rect">
            <a:avLst/>
          </a:prstGeom>
        </p:spPr>
      </p:pic>
      <p:sp>
        <p:nvSpPr>
          <p:cNvPr id="6" name="Fußzeilenplatzhalter 1">
            <a:extLst>
              <a:ext uri="{FF2B5EF4-FFF2-40B4-BE49-F238E27FC236}">
                <a16:creationId xmlns:a16="http://schemas.microsoft.com/office/drawing/2014/main" id="{82AED23D-94B0-2B43-10EA-6512CA8757F4}"/>
              </a:ext>
            </a:extLst>
          </p:cNvPr>
          <p:cNvSpPr txBox="1">
            <a:spLocks/>
          </p:cNvSpPr>
          <p:nvPr/>
        </p:nvSpPr>
        <p:spPr>
          <a:xfrm>
            <a:off x="1066800" y="6356350"/>
            <a:ext cx="100711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69707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Macintosh PowerPoint</Application>
  <PresentationFormat>Breitbild</PresentationFormat>
  <Paragraphs>226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2026-04-06T04:18:27Z</dcterms:created>
  <dcterms:modified xsi:type="dcterms:W3CDTF">2026-04-06T04:19:46Z</dcterms:modified>
</cp:coreProperties>
</file>