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69" r:id="rId2"/>
    <p:sldId id="570" r:id="rId3"/>
    <p:sldId id="571" r:id="rId4"/>
    <p:sldId id="572" r:id="rId5"/>
    <p:sldId id="573" r:id="rId6"/>
    <p:sldId id="574" r:id="rId7"/>
    <p:sldId id="575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33"/>
    <p:restoredTop sz="94645"/>
  </p:normalViewPr>
  <p:slideViewPr>
    <p:cSldViewPr snapToGrid="0">
      <p:cViewPr varScale="1">
        <p:scale>
          <a:sx n="113" d="100"/>
          <a:sy n="113" d="100"/>
        </p:scale>
        <p:origin x="1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18115-2C0B-8F3E-0A4E-3CEC856CE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CD364C-1458-036D-619F-C73091E4D9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E0E630-C123-ECD6-4829-18BF0D246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6C9D43-7244-E867-F90C-95730C465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90B539-B30B-F216-BB5D-46DA60265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52778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240F83-149D-2ADA-C3EF-D4467699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B6B19E-1AB1-5FE9-11C0-CCF368F3E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AED707-CEA2-1591-B2C7-0F102DF5F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31256A-8E5E-4022-CAEE-C88A43720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618EBF-5FB5-48CF-1B86-CD27A94C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0046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2E892-AC3F-6E61-A7BD-63A0A959C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605911-E996-BD35-9426-EAD1A35D1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C2AB3A-6513-0E0F-7A30-F89F96558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BE921E-C345-A362-5809-ABB38A99C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3C58FF-447A-57F3-102F-53BC7A54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39785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1DD09-335A-3AD4-C65F-560103B97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84D5-42A4-AC30-EFC2-C5C97A3486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42830F-10B0-CCA5-7A93-887EBD96C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633FCC-6204-1DFC-8A13-66F4EA5F3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C76CEF-C3B2-DB56-6D71-E5A2B4E3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6845B21-3C39-C9D2-327F-E615AC5E7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13678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4093-83EC-7A03-6F35-F5803B46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33DDD1-92FC-1D89-6EE1-7F58F1CD8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25579A-3FC2-59F7-8FCF-BA94C933E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A741D96-0F73-D0EE-520B-681133D729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84D4561-3B6B-13EE-995D-2D0114A705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A191808-3748-982C-57A4-F314E79FE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9B24D90-7FD7-FDF9-DE93-F70CE7126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CAB932F-1B08-8923-2A0D-47D08675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065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6C5E45-2B26-1610-E076-D85AF7653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76AF31-CF3C-58E4-C803-12C5E5D9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D8B6CE-DC27-61C3-FB37-665843EA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D69FA8-79DC-DBEA-8915-C3EA93B7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7835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F38ECB1-D4DA-5F4E-2025-67B83F54B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0B8B13-48E9-CED4-9DBB-4E592905B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DF9140-BD5D-1117-B9A4-BDDDE6A8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9582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652CD-AC3F-99F6-A37D-AC7B9EAD5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24FA2-A6E4-1F48-E292-738680951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DE0593-3B80-0818-EF5B-E218D94EC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628B77-2C9D-0B5E-142A-90E4BC23B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3907C44-6194-7B0A-778A-AEA97B6F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B4BE90-8B1A-1F70-CFC4-03DCA9F4F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98040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9D6C70-FAAE-BD79-2BF6-E31E3D4E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62D09E8-2950-1CCC-9B5C-912AEA2FDE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F68DC5-562F-A1C8-8112-3AB883410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CEB2C75-C5DD-9904-EF84-AA60C9F26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59718A-53D1-5FAF-2363-F1FE32D06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2486CE-4871-E733-6A24-4176B9A65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65933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1346E3-E231-1D33-43E4-0589679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82BB0F-6F5D-706A-E092-14C765DDE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B928BF-D70D-CDF4-3906-DBC904ACF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434280-3EC3-C35B-BAD3-14962744C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45D008-18D5-EE66-7E54-EC469CF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8643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D1753BC-7091-14BB-78F7-4F4D72348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E6FE4AB-C044-A85A-3532-D50B2FEFF5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644FBA-78F9-C72D-06EF-CB0A137B0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F0D925-8E0C-2979-7AAB-F8982F727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D83A5C-5A31-15D5-2DEC-C82157E40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15464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2675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17003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C3F10D-4AE5-5738-8F1B-2060CFF28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3B12EE-8BFE-D6A7-3EC5-5076D6716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C4ADFB-C6C5-BA9F-D6F6-C7332C4DA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5FD8C-7F73-E84F-BACD-84EACECBE6A5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518A6E-F404-4876-67C3-D1ED6BCFD9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DBAEBB-31D6-C71C-842B-630BC8886A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23895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18192-3487-E17A-F2F7-00D5CD57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B7FD371-835D-7D7C-C778-090C777CC0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dirty="0"/>
              <a:t>La posición inicial introduce distorsiones no uniformes en el RMSE, incrementando el error medio de 87.87° a más de 100° y evidenciando una fuerte dependencia del desempeño respecto al estado inicial.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262D457-37D5-D982-07BF-081427A85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104E73C7-8400-2C65-5681-027344531402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F0B907FE-4B9A-B769-DC1C-21CB75A2E33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D48F28F5-2BF8-9D6B-B690-FEF30DFCC6A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639591" y="2151063"/>
            <a:ext cx="5127968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436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7DC32-C9F6-A41D-7E11-D8D934140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A87049-E169-57AD-DE0D-3F8B2D1B1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E344A72D-D082-05E3-8366-9CEB65DA28C1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618540953"/>
              </p:ext>
            </p:extLst>
          </p:nvPr>
        </p:nvGraphicFramePr>
        <p:xfrm>
          <a:off x="561487" y="4765096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43.52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60.60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283.58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19.90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-299.36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373.37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70.47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17.86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33.75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3.44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D47A475-2833-025B-306E-0FCBD6953D0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mantiene estabilidad en condiciones nominales, pero presenta degradaciones severas para estados iniciales extremos, incluyendo pérdida de seguimiento y divergencia.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F0138DB2-57A3-BE50-8C27-E9A1D6F32F8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31823" y="2078038"/>
            <a:ext cx="739422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EDBA8B03-5A56-9F19-FDA9-0A215078919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251834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DF933-71A5-6FB2-23BA-5A618D64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1DD9EC-D8DF-CA6F-B1DB-AA0E46CDB8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C9D85E50-5923-3E6B-7B30-15B67D62F4DA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dirty="0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0706D25E-A0CD-2889-8A0D-83E20091EF9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El retardo introduce una penalización uniforme del RMSE, manteniendo la forma global de la curva y evidenciando robustez estructural del agente.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F46F5F6-EA74-333C-720E-8D74D3E6FA2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DF6DB24A-909C-8D83-4E30-5AA9DCDC66E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639591" y="2151063"/>
            <a:ext cx="5127968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5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E6E24-80CA-5704-9779-F1A1D055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AC89E1-E0E7-D321-F30B-D3EC728C68A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1119F97C-EA55-FC37-9AFD-E46D96227EC3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394073669"/>
              </p:ext>
            </p:extLst>
          </p:nvPr>
        </p:nvGraphicFramePr>
        <p:xfrm>
          <a:off x="561487" y="4593328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43.52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61.43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272.51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138.00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14.79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59.87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29.60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65.77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271.24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44.16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14.72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13DE68A-0507-1BF0-C64F-F4F95C32F0B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El sistema mantiene estabilidad, pero el retardo incrementa sobreimpulso, oscilaciones y esfuerzo de control en el régimen transitorio.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1AF8FA9F-C1D2-7489-6286-89AEAB7A8F38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8268" y="2078038"/>
            <a:ext cx="7123288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8112ABC5-B025-D47F-BA82-9CEE59F4737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94817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9006-3445-A12A-763E-836C8692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17351F-C5AF-A08A-7080-5811DBCA73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FED3FF1-756B-A7C4-A6C0-A94B23ED797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8CA85B45-9E36-0A01-F822-A2B22EF33C4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066521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La velocidad angular inicial introduce distorsiones locales en el RMSE, evidenciando una dependencia directa del agente respecto al estado dinámico inicial.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65FE31B-11DF-245F-2752-8CF1EAF8F04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256996F0-70C5-27F8-AFDA-FA45DFA0BB3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639591" y="2151063"/>
            <a:ext cx="5127968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251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73B2D-6F9E-FC72-95AD-0EC9F486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5EBF9C-3BB2-C69E-5D3A-E91CEF868E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6A2D6FBC-2CCA-0955-8A70-7AB15D0DB957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041525850"/>
              </p:ext>
            </p:extLst>
          </p:nvPr>
        </p:nvGraphicFramePr>
        <p:xfrm>
          <a:off x="561487" y="4631428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26.74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59.43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16.88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40.49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43.52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58.21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275.41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47.82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4221B8D-C490-F2E7-A54A-A4D17E1D7F26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La velocidad inicial impacta el transitorio, generando variaciones en convergencia, RMSE y esfuerzo de control, sin afectar el estado estacionario.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A18A7EBA-FF88-9F73-7ACE-C28D2800D5A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76978" y="2078038"/>
            <a:ext cx="6716889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0C439D16-8049-09B3-35AC-9AB1770D5EF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085179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55CBF-59E8-0119-F616-AEA060C7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9DB6CB-D853-E6D0-53D7-0DDB93E1F7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EDF7AF0-D0A5-8384-0DC8-CB0F7AB8D916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7228093-C662-31FE-8F59-058BFD587161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B132CA0-BE4D-1A8C-2D96-A7BEFE9E97A0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D727638-A933-2FA2-8A54-FB428046E75B}"/>
              </a:ext>
            </a:extLst>
          </p:cNvPr>
          <p:cNvSpPr txBox="1"/>
          <p:nvPr/>
        </p:nvSpPr>
        <p:spPr>
          <a:xfrm>
            <a:off x="376884" y="5440095"/>
            <a:ext cx="1160917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la forma global del RMSE.</a:t>
            </a:r>
          </a:p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tiene impacto mínimo, mientras que las condiciones iniciales —especialmente la velocidad— introducen variaciones locales y dependencia del estado inicial</a:t>
            </a:r>
          </a:p>
          <a:p>
            <a:pPr algn="ctr"/>
            <a:endParaRPr lang="es-ES_tradnl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35CF9693-8C3F-E4D7-B292-F6AA101749D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56D02060-D51B-D5B2-2895-54CE6AFD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" y="2303819"/>
            <a:ext cx="3496582" cy="2733213"/>
          </a:xfrm>
          <a:prstGeom prst="rect">
            <a:avLst/>
          </a:prstGeom>
        </p:spPr>
      </p:pic>
      <p:pic>
        <p:nvPicPr>
          <p:cNvPr id="10" name="Onlinebild-Platzhalter 6">
            <a:extLst>
              <a:ext uri="{FF2B5EF4-FFF2-40B4-BE49-F238E27FC236}">
                <a16:creationId xmlns:a16="http://schemas.microsoft.com/office/drawing/2014/main" id="{000B8B12-3F5C-6309-B924-AC32EC4AE97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4160916" y="2299118"/>
            <a:ext cx="3533154" cy="276180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1E86FC75-A28A-7C02-D285-5038C8E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154" y="2322488"/>
            <a:ext cx="3295743" cy="267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795</Words>
  <Application>Microsoft Macintosh PowerPoint</Application>
  <PresentationFormat>Breitbild</PresentationFormat>
  <Paragraphs>223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2026-03-28T17:01:40Z</dcterms:created>
  <dcterms:modified xsi:type="dcterms:W3CDTF">2026-04-06T18:02:06Z</dcterms:modified>
</cp:coreProperties>
</file>