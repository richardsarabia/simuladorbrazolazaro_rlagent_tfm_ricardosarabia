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569" r:id="rId2"/>
    <p:sldId id="570" r:id="rId3"/>
    <p:sldId id="571" r:id="rId4"/>
    <p:sldId id="572" r:id="rId5"/>
    <p:sldId id="573" r:id="rId6"/>
    <p:sldId id="574" r:id="rId7"/>
    <p:sldId id="575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294"/>
    <p:restoredTop sz="94635"/>
  </p:normalViewPr>
  <p:slideViewPr>
    <p:cSldViewPr snapToGrid="0">
      <p:cViewPr varScale="1">
        <p:scale>
          <a:sx n="68" d="100"/>
          <a:sy n="68" d="100"/>
        </p:scale>
        <p:origin x="232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B18115-2C0B-8F3E-0A4E-3CEC856CED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2CD364C-1458-036D-619F-C73091E4D9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E0E630-C123-ECD6-4829-18BF0D246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6C9D43-7244-E867-F90C-95730C465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90B539-B30B-F216-BB5D-46DA60265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252778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240F83-149D-2ADA-C3EF-D44676993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1B6B19E-1AB1-5FE9-11C0-CCF368F3E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AED707-CEA2-1591-B2C7-0F102DF5F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31256A-8E5E-4022-CAEE-C88A43720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1618EBF-5FB5-48CF-1B86-CD27A94C5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20046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42E892-AC3F-6E61-A7BD-63A0A959C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E605911-E996-BD35-9426-EAD1A35D13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C2AB3A-6513-0E0F-7A30-F89F96558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5BE921E-C345-A362-5809-ABB38A99C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3C58FF-447A-57F3-102F-53BC7A544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39785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31DD09-335A-3AD4-C65F-560103B97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9AE84D5-42A4-AC30-EFC2-C5C97A3486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042830F-10B0-CCA5-7A93-887EBD96CE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9633FCC-6204-1DFC-8A13-66F4EA5F3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CC76CEF-C3B2-DB56-6D71-E5A2B4E33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6845B21-3C39-C9D2-327F-E615AC5E7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513678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234093-83EC-7A03-6F35-F5803B46C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E33DDD1-92FC-1D89-6EE1-7F58F1CD8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325579A-3FC2-59F7-8FCF-BA94C933E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A741D96-0F73-D0EE-520B-681133D729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D84D4561-3B6B-13EE-995D-2D0114A705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A191808-3748-982C-57A4-F314E79FE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9B24D90-7FD7-FDF9-DE93-F70CE7126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CAB932F-1B08-8923-2A0D-47D086759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60656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6C5E45-2B26-1610-E076-D85AF7653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B76AF31-CF3C-58E4-C803-12C5E5D98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6D8B6CE-DC27-61C3-FB37-665843EAD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6D69FA8-79DC-DBEA-8915-C3EA93B7C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778354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F38ECB1-D4DA-5F4E-2025-67B83F54B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50B8B13-48E9-CED4-9DBB-4E592905B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DF9140-BD5D-1117-B9A4-BDDDE6A8A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9582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D652CD-AC3F-99F6-A37D-AC7B9EAD5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A24FA2-A6E4-1F48-E292-738680951C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8DE0593-3B80-0818-EF5B-E218D94ECB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B628B77-2C9D-0B5E-142A-90E4BC23B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3907C44-6194-7B0A-778A-AEA97B6FD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8B4BE90-8B1A-1F70-CFC4-03DCA9F4F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98040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9D6C70-FAAE-BD79-2BF6-E31E3D4E4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262D09E8-2950-1CCC-9B5C-912AEA2FDE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8F68DC5-562F-A1C8-8112-3AB8834106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CEB2C75-C5DD-9904-EF84-AA60C9F26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59718A-53D1-5FAF-2363-F1FE32D06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52486CE-4871-E733-6A24-4176B9A65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65933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1346E3-E231-1D33-43E4-05896798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382BB0F-6F5D-706A-E092-14C765DDE7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B928BF-D70D-CDF4-3906-DBC904ACF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434280-3EC3-C35B-BAD3-14962744C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45D008-18D5-EE66-7E54-EC469CFA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8643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D1753BC-7091-14BB-78F7-4F4D723482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E6FE4AB-C044-A85A-3532-D50B2FEFF5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0644FBA-78F9-C72D-06EF-CB0A137B0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5FD8C-7F73-E84F-BACD-84EACECBE6A5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F0D925-8E0C-2979-7AAB-F8982F727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D83A5C-5A31-15D5-2DEC-C82157E40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154642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2675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RL_Sig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RL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5928" y="4961947"/>
            <a:ext cx="11065209" cy="100784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nlinebild-Platzhalter 13">
            <a:extLst>
              <a:ext uri="{FF2B5EF4-FFF2-40B4-BE49-F238E27FC236}">
                <a16:creationId xmlns:a16="http://schemas.microsoft.com/office/drawing/2014/main" id="{3A0C70E0-48D5-A72C-4A82-0E880E0730C9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3583277" y="2077327"/>
            <a:ext cx="5271637" cy="2506018"/>
          </a:xfrm>
        </p:spPr>
        <p:txBody>
          <a:bodyPr/>
          <a:lstStyle/>
          <a:p>
            <a:endParaRPr lang="es-ES_tradnl"/>
          </a:p>
        </p:txBody>
      </p:sp>
      <p:sp>
        <p:nvSpPr>
          <p:cNvPr id="11" name="Inhaltsplatzhalter 28">
            <a:extLst>
              <a:ext uri="{FF2B5EF4-FFF2-40B4-BE49-F238E27FC236}">
                <a16:creationId xmlns:a16="http://schemas.microsoft.com/office/drawing/2014/main" id="{E03F487B-0478-3EA0-504F-340815C8A13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61487" y="2465822"/>
            <a:ext cx="2688490" cy="202763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17003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8C3F10D-4AE5-5738-8F1B-2060CFF28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E3B12EE-8BFE-D6A7-3EC5-5076D67162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C4ADFB-C6C5-BA9F-D6F6-C7332C4DAB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95FD8C-7F73-E84F-BACD-84EACECBE6A5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518A6E-F404-4876-67C3-D1ED6BCFD9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DBAEBB-31D6-C71C-842B-630BC8886A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9D900-E810-F24E-A123-6CA023AD9E89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23895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18192-3487-E17A-F2F7-00D5CD570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9B7FD371-835D-7D7C-C778-090C777CC0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064755" cy="1217510"/>
          </a:xfrm>
        </p:spPr>
        <p:txBody>
          <a:bodyPr>
            <a:normAutofit/>
          </a:bodyPr>
          <a:lstStyle/>
          <a:p>
            <a:pPr algn="l">
              <a:lnSpc>
                <a:spcPct val="120000"/>
              </a:lnSpc>
            </a:pPr>
            <a:r>
              <a:rPr lang="es-ES_tradnl" sz="1400" dirty="0"/>
              <a:t>La posición inicial introduce distorsiones no uniformes en el RMSE, incrementando el error medio de 87.87° a más de 100° y evidenciando una fuerte dependencia del desempeño respecto al estado inicial.</a:t>
            </a:r>
          </a:p>
          <a:p>
            <a:pPr algn="l">
              <a:lnSpc>
                <a:spcPct val="120000"/>
              </a:lnSpc>
            </a:pPr>
            <a:endParaRPr lang="es-ES_tradnl" sz="14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262D457-37D5-D982-07BF-081427A85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dirty="0"/>
          </a:p>
        </p:txBody>
      </p:sp>
      <p:sp>
        <p:nvSpPr>
          <p:cNvPr id="7" name="Inhaltsplatzhalter 7">
            <a:extLst>
              <a:ext uri="{FF2B5EF4-FFF2-40B4-BE49-F238E27FC236}">
                <a16:creationId xmlns:a16="http://schemas.microsoft.com/office/drawing/2014/main" id="{104E73C7-8400-2C65-5681-027344531402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6353093" y="4424206"/>
            <a:ext cx="4571997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do1ini= 0°, Retardo=0ms </a:t>
            </a:r>
            <a:endParaRPr lang="es-ES_tradnl" sz="1400" dirty="0"/>
          </a:p>
          <a:p>
            <a:pPr algn="l"/>
            <a:endParaRPr lang="es-ES_tradnl" sz="1400" b="1" dirty="0"/>
          </a:p>
        </p:txBody>
      </p:sp>
      <p:pic>
        <p:nvPicPr>
          <p:cNvPr id="8" name="Onlinebild-Platzhalter 7">
            <a:extLst>
              <a:ext uri="{FF2B5EF4-FFF2-40B4-BE49-F238E27FC236}">
                <a16:creationId xmlns:a16="http://schemas.microsoft.com/office/drawing/2014/main" id="{35689336-CD84-462A-8C56-55EBC1DE8304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F0B907FE-4B9A-B769-DC1C-21CB75A2E335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421436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7DC32-C9F6-A41D-7E11-D8D934140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A87049-E169-57AD-DE0D-3F8B2D1B1D2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E344A72D-D082-05E3-8366-9CEB65DA28C1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79906391"/>
              </p:ext>
            </p:extLst>
          </p:nvPr>
        </p:nvGraphicFramePr>
        <p:xfrm>
          <a:off x="561487" y="4765096"/>
          <a:ext cx="10532960" cy="150114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54255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45558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59.94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25.92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57.60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17.78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271.98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124.00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78.53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19.16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48.30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60.60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15.60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18.47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283.58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103.00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3.40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62.45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17.57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17.31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-299.36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-135.00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-300.00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15.64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65.03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373.37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78.00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175.44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26.47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57.65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NaN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FD47A475-2833-025B-306E-0FCBD6953D00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25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dirty="0"/>
              <a:t>El sistema mantiene estabilidad en condiciones nominales, pero presenta degradaciones severas para estados iniciales extremos, incluyendo pérdida de seguimiento y divergencia.</a:t>
            </a:r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F0138DB2-57A3-BE50-8C27-E9A1D6F32F80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31823" y="2078038"/>
            <a:ext cx="7394222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EDBA8B03-5A56-9F19-FDA9-0A2150789194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4251834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DF933-71A5-6FB2-23BA-5A618D64D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81DD9EC-D8DF-CA6F-B1DB-AA0E46CDB85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dirty="0"/>
          </a:p>
        </p:txBody>
      </p:sp>
      <p:sp>
        <p:nvSpPr>
          <p:cNvPr id="11" name="Inhaltsplatzhalter 4">
            <a:extLst>
              <a:ext uri="{FF2B5EF4-FFF2-40B4-BE49-F238E27FC236}">
                <a16:creationId xmlns:a16="http://schemas.microsoft.com/office/drawing/2014/main" id="{C9D85E50-5923-3E6B-7B30-15B67D62F4DA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do1ini= 0° </a:t>
            </a:r>
            <a:endParaRPr lang="es-ES_tradnl" dirty="0"/>
          </a:p>
        </p:txBody>
      </p:sp>
      <p:sp>
        <p:nvSpPr>
          <p:cNvPr id="12" name="Inhaltsplatzhalter 1">
            <a:extLst>
              <a:ext uri="{FF2B5EF4-FFF2-40B4-BE49-F238E27FC236}">
                <a16:creationId xmlns:a16="http://schemas.microsoft.com/office/drawing/2014/main" id="{0706D25E-A0CD-2889-8A0D-83E20091EF9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858024" cy="977315"/>
          </a:xfrm>
        </p:spPr>
        <p:txBody>
          <a:bodyPr>
            <a:noAutofit/>
          </a:bodyPr>
          <a:lstStyle/>
          <a:p>
            <a:pPr algn="l"/>
            <a:r>
              <a:rPr lang="es-ES_tradnl" dirty="0"/>
              <a:t>El retardo introduce una penalización uniforme del RMSE, manteniendo la forma global de la curva y evidenciando robustez estructural del agente.</a:t>
            </a:r>
          </a:p>
          <a:p>
            <a:pPr algn="l">
              <a:lnSpc>
                <a:spcPct val="120000"/>
              </a:lnSpc>
            </a:pPr>
            <a:endParaRPr lang="es-ES_tradnl" dirty="0"/>
          </a:p>
        </p:txBody>
      </p:sp>
      <p:pic>
        <p:nvPicPr>
          <p:cNvPr id="5" name="Onlinebild-Platzhalter 4">
            <a:extLst>
              <a:ext uri="{FF2B5EF4-FFF2-40B4-BE49-F238E27FC236}">
                <a16:creationId xmlns:a16="http://schemas.microsoft.com/office/drawing/2014/main" id="{10DC7C37-3A39-EB86-05E2-E28CB7090711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7F46F5F6-EA74-333C-720E-8D74D3E6FA2F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73125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E6E24-80CA-5704-9779-F1A1D0557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1AC89E1-E0E7-D321-F30B-D3EC728C68A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1119F97C-EA55-FC37-9AFD-E46D96227EC3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1936720017"/>
              </p:ext>
            </p:extLst>
          </p:nvPr>
        </p:nvGraphicFramePr>
        <p:xfrm>
          <a:off x="561487" y="4593328"/>
          <a:ext cx="10532960" cy="16357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10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59.94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25.92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57.60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17.78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271.98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124.00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9.92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3.74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78.53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19.16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48.30</a:t>
                      </a: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59.94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27.64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61.43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18.02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272.51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138.00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3.84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82.83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19.48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51.02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59.87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29.60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65.77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14.87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18.22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271.24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157.00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3.90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85.64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19.52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5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54.16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F13DE68A-0507-1BF0-C64F-F4F95C32F0B1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2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dirty="0"/>
              <a:t>El sistema mantiene estabilidad, pero el retardo incrementa sobreimpulso, oscilaciones y esfuerzo de control en el régimen transitorio.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1AF8FA9F-C1D2-7489-6286-89AEAB7A8F38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88268" y="2078038"/>
            <a:ext cx="7123288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8112ABC5-B025-D47F-BA82-9CEE59F4737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094817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A9006-3445-A12A-763E-836C8692F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17351F-C5AF-A08A-7080-5811DBCA73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BFED3FF1-756B-A7C4-A6C0-A94B23ED7970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Retardo=0ms </a:t>
            </a:r>
            <a:endParaRPr lang="es-ES_tradnl" dirty="0"/>
          </a:p>
          <a:p>
            <a:endParaRPr lang="es-ES_tradnl" b="1" dirty="0"/>
          </a:p>
          <a:p>
            <a:endParaRPr lang="es-ES_tradnl" dirty="0"/>
          </a:p>
        </p:txBody>
      </p:sp>
      <p:sp>
        <p:nvSpPr>
          <p:cNvPr id="9" name="Inhaltsplatzhalter 1">
            <a:extLst>
              <a:ext uri="{FF2B5EF4-FFF2-40B4-BE49-F238E27FC236}">
                <a16:creationId xmlns:a16="http://schemas.microsoft.com/office/drawing/2014/main" id="{8CA85B45-9E36-0A01-F822-A2B22EF33C4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1066521"/>
          </a:xfrm>
        </p:spPr>
        <p:txBody>
          <a:bodyPr>
            <a:noAutofit/>
          </a:bodyPr>
          <a:lstStyle/>
          <a:p>
            <a:pPr algn="l"/>
            <a:r>
              <a:rPr lang="es-ES_tradnl" dirty="0"/>
              <a:t>La velocidad angular inicial introduce distorsiones locales en el RMSE, evidenciando una dependencia directa del agente respecto al estado dinámico inicial.</a:t>
            </a:r>
          </a:p>
          <a:p>
            <a:pPr algn="l">
              <a:lnSpc>
                <a:spcPct val="120000"/>
              </a:lnSpc>
            </a:pPr>
            <a:endParaRPr lang="es-ES_tradnl" dirty="0"/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7448C71C-57A1-F646-B085-DAD5E613DC22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765FE31B-11DF-245F-2752-8CF1EAF8F046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025251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73B2D-6F9E-FC72-95AD-0EC9F4868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5EBF9C-3BB2-C69E-5D3A-E91CEF868E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dirty="0"/>
          </a:p>
        </p:txBody>
      </p:sp>
      <p:graphicFrame>
        <p:nvGraphicFramePr>
          <p:cNvPr id="7" name="Inhaltsplatzhalter 5">
            <a:extLst>
              <a:ext uri="{FF2B5EF4-FFF2-40B4-BE49-F238E27FC236}">
                <a16:creationId xmlns:a16="http://schemas.microsoft.com/office/drawing/2014/main" id="{6A2D6FBC-2CCA-0955-8A70-7AB15D0DB957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1138736159"/>
              </p:ext>
            </p:extLst>
          </p:nvPr>
        </p:nvGraphicFramePr>
        <p:xfrm>
          <a:off x="561487" y="4631428"/>
          <a:ext cx="10532960" cy="15595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59.95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26.74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59.43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16.88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271.57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114.00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3.53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69.85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18.38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50.85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59.94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25.92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57.60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17.78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271.98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124.00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3.74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78.53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19.16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48.30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59.95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26.19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58.21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14.95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20.98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275.41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117.00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9.92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90.26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20.26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0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50.49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A4221B8D-C490-F2E7-A54A-A4D17E1D7F26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561487" y="2465822"/>
            <a:ext cx="2688490" cy="142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dirty="0"/>
              <a:t>La velocidad inicial impacta el transitorio, generando variaciones en convergencia, RMSE y esfuerzo de control, sin afectar el estado estacionario.</a:t>
            </a:r>
          </a:p>
        </p:txBody>
      </p:sp>
      <p:pic>
        <p:nvPicPr>
          <p:cNvPr id="6" name="Onlinebild-Platzhalter 5">
            <a:extLst>
              <a:ext uri="{FF2B5EF4-FFF2-40B4-BE49-F238E27FC236}">
                <a16:creationId xmlns:a16="http://schemas.microsoft.com/office/drawing/2014/main" id="{A18A7EBA-FF88-9F73-7ACE-C28D2800D5AC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476978" y="2078038"/>
            <a:ext cx="6716889" cy="2505075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0C439D16-8049-09B3-35AC-9AB1770D5EF1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085179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55CBF-59E8-0119-F616-AEA060C7B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E9DB6CB-D853-E6D0-53D7-0DDB93E1F7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Influencias de las perturbaciones en plataforma plana</a:t>
            </a:r>
          </a:p>
          <a:p>
            <a:endParaRPr lang="es-ES_tradnl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EDF7AF0-D0A5-8384-0DC8-CB0F7AB8D916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7228093-C662-31FE-8F59-058BFD587161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8B132CA0-BE4D-1A8C-2D96-A7BEFE9E97A0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D727638-A933-2FA2-8A54-FB428046E75B}"/>
              </a:ext>
            </a:extLst>
          </p:cNvPr>
          <p:cNvSpPr txBox="1"/>
          <p:nvPr/>
        </p:nvSpPr>
        <p:spPr>
          <a:xfrm>
            <a:off x="376884" y="5440095"/>
            <a:ext cx="1160917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agente mantiene la forma global del RMSE.</a:t>
            </a:r>
          </a:p>
          <a:p>
            <a:pPr algn="ctr"/>
            <a:r>
              <a:rPr lang="es-ES_tradn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retardo tiene impacto mínimo, mientras que las condiciones iniciales —especialmente la velocidad— introducen variaciones locales y dependencia del estado inicial</a:t>
            </a:r>
          </a:p>
          <a:p>
            <a:pPr algn="ctr"/>
            <a:endParaRPr lang="es-ES_tradnl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Onlinebild-Platzhalter 7">
            <a:extLst>
              <a:ext uri="{FF2B5EF4-FFF2-40B4-BE49-F238E27FC236}">
                <a16:creationId xmlns:a16="http://schemas.microsoft.com/office/drawing/2014/main" id="{577208C3-2761-F872-B705-A84803427AF7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376884" y="2299118"/>
            <a:ext cx="3480504" cy="2662828"/>
          </a:xfrm>
          <a:prstGeom prst="rect">
            <a:avLst/>
          </a:prstGeom>
        </p:spPr>
      </p:pic>
      <p:pic>
        <p:nvPicPr>
          <p:cNvPr id="4" name="Onlinebild-Platzhalter 4">
            <a:extLst>
              <a:ext uri="{FF2B5EF4-FFF2-40B4-BE49-F238E27FC236}">
                <a16:creationId xmlns:a16="http://schemas.microsoft.com/office/drawing/2014/main" id="{A0AE8812-1314-5C82-F10A-A33F518A1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169" y="2299118"/>
            <a:ext cx="3578647" cy="2737914"/>
          </a:xfrm>
          <a:prstGeom prst="rect">
            <a:avLst/>
          </a:prstGeom>
        </p:spPr>
      </p:pic>
      <p:pic>
        <p:nvPicPr>
          <p:cNvPr id="5" name="Onlinebild-Platzhalter 5">
            <a:extLst>
              <a:ext uri="{FF2B5EF4-FFF2-40B4-BE49-F238E27FC236}">
                <a16:creationId xmlns:a16="http://schemas.microsoft.com/office/drawing/2014/main" id="{E79A3E68-C22E-D1E4-CA5B-D0CAF01AE4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5519" y="2299118"/>
            <a:ext cx="3533154" cy="2703109"/>
          </a:xfrm>
          <a:prstGeom prst="rect">
            <a:avLst/>
          </a:prstGeom>
        </p:spPr>
      </p:pic>
      <p:sp>
        <p:nvSpPr>
          <p:cNvPr id="6" name="Fußzeilenplatzhalter 2">
            <a:extLst>
              <a:ext uri="{FF2B5EF4-FFF2-40B4-BE49-F238E27FC236}">
                <a16:creationId xmlns:a16="http://schemas.microsoft.com/office/drawing/2014/main" id="{35CF9693-8C3F-E4D7-B292-F6AA101749DC}"/>
              </a:ext>
            </a:extLst>
          </p:cNvPr>
          <p:cNvSpPr txBox="1">
            <a:spLocks/>
          </p:cNvSpPr>
          <p:nvPr/>
        </p:nvSpPr>
        <p:spPr>
          <a:xfrm>
            <a:off x="278030" y="6459865"/>
            <a:ext cx="11777612" cy="261610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69707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795</Words>
  <Application>Microsoft Macintosh PowerPoint</Application>
  <PresentationFormat>Breitbild</PresentationFormat>
  <Paragraphs>223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1</cp:revision>
  <dcterms:created xsi:type="dcterms:W3CDTF">2026-03-28T17:01:40Z</dcterms:created>
  <dcterms:modified xsi:type="dcterms:W3CDTF">2026-03-28T17:03:24Z</dcterms:modified>
</cp:coreProperties>
</file>