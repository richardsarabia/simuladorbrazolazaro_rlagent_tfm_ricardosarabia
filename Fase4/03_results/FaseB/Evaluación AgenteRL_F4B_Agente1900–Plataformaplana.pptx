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741" r:id="rId2"/>
    <p:sldId id="742" r:id="rId3"/>
    <p:sldId id="743" r:id="rId4"/>
    <p:sldId id="744" r:id="rId5"/>
    <p:sldId id="745" r:id="rId6"/>
    <p:sldId id="746" r:id="rId7"/>
    <p:sldId id="747" r:id="rId8"/>
    <p:sldId id="748" r:id="rId9"/>
    <p:sldId id="749" r:id="rId10"/>
    <p:sldId id="750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595CCF-DB1B-F86E-7979-47562F5E46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A38A953-9FBE-7389-5AC2-674F10C802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2251130-8A2D-1C6D-48E4-ED74BC47A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12000-B81C-8743-8791-96E6EF7A4667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9A6FA0-7325-27E5-46DE-E23AF35B5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90E3D4E-867A-6869-4749-557B6AB59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3A00C-50C0-344A-92BA-BD0ABD421DC4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96914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B883F8-188F-D766-C36B-1584E7866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CE1D756-B9FF-9CED-5963-4B916C436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5D8518B-383C-1D2A-4960-ABC4CDA60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12000-B81C-8743-8791-96E6EF7A4667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532D15B-16AE-15F6-E702-C15FD3AE6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26BE616-B335-5707-B7BD-01C007734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3A00C-50C0-344A-92BA-BD0ABD421DC4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38733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1F2BBA-5F39-5D6A-3331-5E06C5877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1123A4-8878-2928-F890-2C3857B71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6A83E83-62CF-F378-6156-DA318F67E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12000-B81C-8743-8791-96E6EF7A4667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2D4145C-7475-97A1-45BD-5ABB706B4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9BF046-ABB3-05CD-B51B-6EAABDF33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3A00C-50C0-344A-92BA-BD0ABD421DC4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34036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F198FB-C056-D327-8C8E-9F97D9723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5FA31E-9F33-B284-8A1F-7ECE49FCE8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0F87FB8-50EC-FD9B-05F3-2CB7D11B60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2FEAE39-AAF4-6919-D8DD-B3EC0648B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12000-B81C-8743-8791-96E6EF7A4667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EA23C31-0D7F-F0DB-70EE-2682639EB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84A298E-4237-D630-9CCE-F23CB6E5B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3A00C-50C0-344A-92BA-BD0ABD421DC4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18439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2736D9-2650-5CFF-D9CC-C46E27EBF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8E67518-5DBA-9159-AF6D-A7F2BE940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34C024F-2580-21D0-EFE1-5683F98A25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139A590-0621-384E-FF49-E6FDDE74F5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DE788FD-F5C1-727F-731E-B6A466C4F9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BAD8E1C-1B9F-073C-E716-FC2078111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12000-B81C-8743-8791-96E6EF7A4667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D8AD197-12DF-36E7-2D98-0CB725EA9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40532FF-73F1-989C-8A58-77C2B27C2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3A00C-50C0-344A-92BA-BD0ABD421DC4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11834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921C20-8B4D-7633-E236-CF49AFA4C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95F3617-B006-BE90-B4CB-AAEE33672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12000-B81C-8743-8791-96E6EF7A4667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0A708E4-617B-4B7E-35F2-49BB7315B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7BF6B81-E91B-E8FF-D505-14A8E2352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3A00C-50C0-344A-92BA-BD0ABD421DC4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927478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FC938F7-9118-601E-774B-55E3BFA63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12000-B81C-8743-8791-96E6EF7A4667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56160E1-D4E0-FA4E-A6A2-3CAAFEBFF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722102C-32F7-7924-DF86-2817FA97D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3A00C-50C0-344A-92BA-BD0ABD421DC4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00418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9FF49A-81E8-5E4C-D756-65AB1A66B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9AB066-870D-3E87-7748-96CC191B8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24B1ED8-111B-F6F5-ACA6-3BEEBE145E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A337DAE-1E4A-4F4C-30A4-524B07274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12000-B81C-8743-8791-96E6EF7A4667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A72C57E-AE36-174F-95FC-5E2E8F5D3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5F5CC27-CEBF-CD69-2DD6-00689478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3A00C-50C0-344A-92BA-BD0ABD421DC4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85753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3669A8-E792-049B-27B3-E6D91B9E6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F5B53FC-1EA6-ACE5-FD6F-5FA3683F0E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1A81C2E-0024-B0B9-249B-B1C17D8DE2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F0A14F4-CB08-8B3D-BD3D-E3CBE2A67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12000-B81C-8743-8791-96E6EF7A4667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05EDA26-74B2-2680-D1F8-3643D9765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0C37418-8387-9DF4-8486-358D775A4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3A00C-50C0-344A-92BA-BD0ABD421DC4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72089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E38CBE-B12D-F65F-CA9D-87776B141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D08F301-5960-0759-2004-9DB2BA52C4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3F11E5D-2090-094B-4822-1F7610DCA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12000-B81C-8743-8791-96E6EF7A4667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D9AFAF-7E76-B908-3C92-2CF10DC60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F77655-7DB1-1097-D0A6-FCE1FFB83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3A00C-50C0-344A-92BA-BD0ABD421DC4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73020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4BE7C04-DC2F-A80A-FF99-48F009E63E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44979E3-E7A9-AFB5-DFB5-827539FDF8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56611E-188E-625B-9E50-83D3FB451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12000-B81C-8743-8791-96E6EF7A4667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83FFC7-B2A0-0662-3A5B-7172C2EB9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55CE09-02D8-3C0D-047E-ED02E5BB5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3A00C-50C0-344A-92BA-BD0ABD421DC4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561336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valuacion_R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RL en la Simulación</a:t>
            </a: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0198" y="5092979"/>
            <a:ext cx="4534893" cy="63645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E823874B-BE42-6B9C-CBCF-8EFCB6AD8788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platzhalter 23">
            <a:extLst>
              <a:ext uri="{FF2B5EF4-FFF2-40B4-BE49-F238E27FC236}">
                <a16:creationId xmlns:a16="http://schemas.microsoft.com/office/drawing/2014/main" id="{90D1329D-A0BF-1FBB-6936-392FA8034A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nlinebild-Platzhalter 13">
            <a:extLst>
              <a:ext uri="{FF2B5EF4-FFF2-40B4-BE49-F238E27FC236}">
                <a16:creationId xmlns:a16="http://schemas.microsoft.com/office/drawing/2014/main" id="{FD9EF390-3AFD-9D64-1273-017BE22D9A62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520862" y="2150672"/>
            <a:ext cx="5365750" cy="4008437"/>
          </a:xfrm>
        </p:spPr>
        <p:txBody>
          <a:bodyPr/>
          <a:lstStyle/>
          <a:p>
            <a:endParaRPr lang="es-ES_tradnl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95360E26-BFAE-B334-4899-0F825BFBC34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353093" y="2077326"/>
            <a:ext cx="2721697" cy="2147028"/>
          </a:xfrm>
          <a:prstGeom prst="rect">
            <a:avLst/>
          </a:prstGeom>
        </p:spPr>
      </p:pic>
      <p:sp>
        <p:nvSpPr>
          <p:cNvPr id="22" name="Inhaltsplatzhalter 28">
            <a:extLst>
              <a:ext uri="{FF2B5EF4-FFF2-40B4-BE49-F238E27FC236}">
                <a16:creationId xmlns:a16="http://schemas.microsoft.com/office/drawing/2014/main" id="{BE6DE186-B408-4201-17FA-17FDB7A4014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53093" y="4424206"/>
            <a:ext cx="4571997" cy="465600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627715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valuacion_RL_Sig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RL en la Simulación</a:t>
            </a: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5928" y="4961947"/>
            <a:ext cx="11065209" cy="1007846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E823874B-BE42-6B9C-CBCF-8EFCB6AD8788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platzhalter 23">
            <a:extLst>
              <a:ext uri="{FF2B5EF4-FFF2-40B4-BE49-F238E27FC236}">
                <a16:creationId xmlns:a16="http://schemas.microsoft.com/office/drawing/2014/main" id="{90D1329D-A0BF-1FBB-6936-392FA8034A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nlinebild-Platzhalter 13">
            <a:extLst>
              <a:ext uri="{FF2B5EF4-FFF2-40B4-BE49-F238E27FC236}">
                <a16:creationId xmlns:a16="http://schemas.microsoft.com/office/drawing/2014/main" id="{3A0C70E0-48D5-A72C-4A82-0E880E0730C9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3583277" y="2077327"/>
            <a:ext cx="5271637" cy="2506018"/>
          </a:xfrm>
        </p:spPr>
        <p:txBody>
          <a:bodyPr/>
          <a:lstStyle/>
          <a:p>
            <a:endParaRPr lang="es-ES_tradnl"/>
          </a:p>
        </p:txBody>
      </p:sp>
      <p:sp>
        <p:nvSpPr>
          <p:cNvPr id="11" name="Inhaltsplatzhalter 28">
            <a:extLst>
              <a:ext uri="{FF2B5EF4-FFF2-40B4-BE49-F238E27FC236}">
                <a16:creationId xmlns:a16="http://schemas.microsoft.com/office/drawing/2014/main" id="{E03F487B-0478-3EA0-504F-340815C8A13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61487" y="2465822"/>
            <a:ext cx="2688490" cy="202763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47930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58225F1-B7E0-17A1-BDC7-2C288C70B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14DB67F-0F00-7E73-D91C-57FCF400A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03A4843-C78F-1ECC-6E98-E253C4C8CF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912000-B81C-8743-8791-96E6EF7A4667}" type="datetimeFigureOut">
              <a:rPr lang="es-ES_tradnl" smtClean="0"/>
              <a:t>12/4/26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A926FE9-046C-CB94-8A32-0012557081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464D6DB-155A-7618-B1F4-268843C696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C3A00C-50C0-344A-92BA-BD0ABD421DC4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36019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87CF5-7424-CE0D-C5E6-CD40ED93A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D7CB112-E75E-C9D2-336E-6E2EF796892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68772" y="5321579"/>
            <a:ext cx="4933212" cy="636457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es-ES_tradnl" noProof="1"/>
              <a:t>La posición inicial distorsiona significativamente el RMSE, con pérdida de simetría y picos de hasta ≈ 140°–170°. El mejor caso es o1ini = 0° (≈ 36.7°), mientras que o1ini = −90° alcanza ≈ 41.6°.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BF32F2-0C01-9E82-C9EA-4D90D164878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o1ini,  Angulo de operación inicial</a:t>
            </a:r>
          </a:p>
          <a:p>
            <a:endParaRPr lang="es-ES_tradnl" noProof="1"/>
          </a:p>
        </p:txBody>
      </p:sp>
      <p:sp>
        <p:nvSpPr>
          <p:cNvPr id="7" name="Inhaltsplatzhalter 7">
            <a:extLst>
              <a:ext uri="{FF2B5EF4-FFF2-40B4-BE49-F238E27FC236}">
                <a16:creationId xmlns:a16="http://schemas.microsoft.com/office/drawing/2014/main" id="{8038AE64-E809-A73B-DB49-AF9A885298DF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sz="1400" b="1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o1ini: (-90°, 0°, 90°)</a:t>
            </a:r>
          </a:p>
          <a:p>
            <a:pPr algn="l"/>
            <a:r>
              <a:rPr lang="es-ES_tradnl" sz="14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Pitch, Roll =0°, do1ini= 0°, Retardo=0ms </a:t>
            </a:r>
            <a:endParaRPr lang="es-ES_tradnl" sz="1400" noProof="1"/>
          </a:p>
          <a:p>
            <a:pPr algn="l"/>
            <a:endParaRPr lang="es-ES_tradnl" sz="1400" b="1" noProof="1"/>
          </a:p>
        </p:txBody>
      </p:sp>
      <p:pic>
        <p:nvPicPr>
          <p:cNvPr id="11" name="Onlinebild-Platzhalter 10">
            <a:extLst>
              <a:ext uri="{FF2B5EF4-FFF2-40B4-BE49-F238E27FC236}">
                <a16:creationId xmlns:a16="http://schemas.microsoft.com/office/drawing/2014/main" id="{6EB5D337-3662-8D13-4CB6-CBB77E67ABF8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583920" y="2151063"/>
            <a:ext cx="5239310" cy="4008437"/>
          </a:xfrm>
          <a:prstGeom prst="rect">
            <a:avLst/>
          </a:prstGeom>
        </p:spPr>
      </p:pic>
      <p:sp>
        <p:nvSpPr>
          <p:cNvPr id="4" name="Fußzeilenplatzhalter 2">
            <a:extLst>
              <a:ext uri="{FF2B5EF4-FFF2-40B4-BE49-F238E27FC236}">
                <a16:creationId xmlns:a16="http://schemas.microsoft.com/office/drawing/2014/main" id="{3086A16F-2C71-C4AB-8583-9678769A0B19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1011228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F7563-9426-9BE1-6C65-CED6C8B7A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2C74B91-5718-6EE9-CE90-1CCF9632D4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o1ini,  Angulo de operación inicial. o1sp=45°</a:t>
            </a:r>
          </a:p>
          <a:p>
            <a:endParaRPr lang="es-ES_tradnl" noProof="1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7F61403D-EADF-E52F-89A3-D908B8211385}"/>
              </a:ext>
            </a:extLst>
          </p:cNvPr>
          <p:cNvGraphicFramePr>
            <a:graphicFrameLocks noGrp="1"/>
          </p:cNvGraphicFramePr>
          <p:nvPr>
            <p:ph sz="quarter" idx="14"/>
          </p:nvPr>
        </p:nvGraphicFramePr>
        <p:xfrm>
          <a:off x="606425" y="4962525"/>
          <a:ext cx="10532960" cy="1210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54255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45558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de-DE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58.22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13.74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30.53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13.22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16.40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241.01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80.00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1.98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23.48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5.02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14.53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90.00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69.07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24.07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25.94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437.68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107.00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0.97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5.95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2.74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28.63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-90.00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68.67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24.00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53.34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23.67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48.89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452.47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0.35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97.00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3.19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60.97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10.94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27.14</a:t>
                      </a:r>
                      <a:endParaRPr lang="de-DE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4EC80835-2AF0-C392-9206-DFFD885766D9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83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sz="1400" noProof="1"/>
              <a:t>El sistema converge en todos los casos, pero el transitorio depende fuertemente del estado inicial. El mejor desempeño es o1ini = 0° (RMSE ≈ 16.4°), mientras que o1ini = 90° y −90° degradan hasta ≈ 25.9° y ≈ 48.9°, con mayor sobreimpulso y esfuerzo de control.</a:t>
            </a:r>
          </a:p>
        </p:txBody>
      </p:sp>
      <p:pic>
        <p:nvPicPr>
          <p:cNvPr id="5" name="Onlinebild-Platzhalter 4">
            <a:extLst>
              <a:ext uri="{FF2B5EF4-FFF2-40B4-BE49-F238E27FC236}">
                <a16:creationId xmlns:a16="http://schemas.microsoft.com/office/drawing/2014/main" id="{EB61EFC0-E1DF-71DB-4D60-A23CF537C76D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538330" y="2078038"/>
            <a:ext cx="6994504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22A83614-B7FD-1BDC-E34C-1D71E1563964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3922182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94F71-973D-3771-85F4-B6F0F1044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EDC9BFC-5B9F-DC25-9A23-7BA9FEE9F76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o1ini,  Angulo de operación inicial. o1sp=45°</a:t>
            </a:r>
          </a:p>
          <a:p>
            <a:endParaRPr lang="es-ES_tradnl" noProof="1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925CE4A4-55C8-B19F-3491-5D871DB74546}"/>
              </a:ext>
            </a:extLst>
          </p:cNvPr>
          <p:cNvGraphicFramePr>
            <a:graphicFrameLocks noGrp="1"/>
          </p:cNvGraphicFramePr>
          <p:nvPr>
            <p:ph sz="quarter" idx="14"/>
          </p:nvPr>
        </p:nvGraphicFramePr>
        <p:xfrm>
          <a:off x="606425" y="4962525"/>
          <a:ext cx="10532960" cy="1210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54255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45558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90.00</a:t>
                      </a:r>
                      <a:endParaRPr lang="de-DE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143.18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8.31</a:t>
                      </a:r>
                      <a:endParaRPr lang="de-DE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6.16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8.18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14.59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149.00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0.46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217.00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1.88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20.73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3.82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39.36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149.11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14.18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10.50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14.11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48.71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290.88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159.00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2.94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51.17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8.91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24.06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-90.00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-216.82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-135.00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-100.00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8.18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81.59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542.39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63.00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2.64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41.86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9.93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39.12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NaN</a:t>
                      </a:r>
                      <a:endParaRPr lang="de-DE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29006EA2-790C-2636-2D54-8B093609AA06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643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sz="1400" noProof="1"/>
              <a:t>El sistema converge para o1ini = 90° y 0°, pero falla para o1ini = −90°, donde no alcanza la referencia. El mejor caso es 90° (RMSE ≈ 14.6°), frente a ≈ 48.7° (0°) y ≈ 81.6° (−90°), evidenciando una fuerte dependencia del estado inicial.</a:t>
            </a:r>
          </a:p>
        </p:txBody>
      </p:sp>
      <p:pic>
        <p:nvPicPr>
          <p:cNvPr id="5" name="Onlinebild-Platzhalter 4">
            <a:extLst>
              <a:ext uri="{FF2B5EF4-FFF2-40B4-BE49-F238E27FC236}">
                <a16:creationId xmlns:a16="http://schemas.microsoft.com/office/drawing/2014/main" id="{84DE83C5-3349-778B-6487-E22A4F2C4A95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591339" y="2078038"/>
            <a:ext cx="6891131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37E15092-D3F3-6F8B-0E27-FE740F6183CF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3285758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29D36-406E-662D-A506-B160BBD67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9212656-2188-E358-A43E-5446A462EED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o1ini,  Angulo de operación inicial. o1sp=45°</a:t>
            </a:r>
          </a:p>
          <a:p>
            <a:endParaRPr lang="es-ES_tradnl" noProof="1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3990976B-268A-A367-160F-66C47FA548E3}"/>
              </a:ext>
            </a:extLst>
          </p:cNvPr>
          <p:cNvGraphicFramePr>
            <a:graphicFrameLocks noGrp="1"/>
          </p:cNvGraphicFramePr>
          <p:nvPr>
            <p:ph sz="quarter" idx="14"/>
          </p:nvPr>
        </p:nvGraphicFramePr>
        <p:xfrm>
          <a:off x="606425" y="4962525"/>
          <a:ext cx="10532960" cy="1210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54255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45558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-90.00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-128.97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135.00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6.03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15.59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113.41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1.76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18.02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4.36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41.02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-125.86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135.00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9.14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44.12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204.14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162.00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2.87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49.24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8.71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18.90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90.00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231.10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367.46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272.19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6.10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44.57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151.62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2.82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47.73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8.59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40.15</a:t>
                      </a:r>
                      <a:endParaRPr lang="de-DE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5FE246CB-5759-8C51-F454-16B9FCF8AA4E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83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sz="1400" noProof="1"/>
              <a:t>El sistema converge para o1ini = −90° y 0°, pero diverge para o1ini = 90°, alejándose completamente de la referencia. El mejor caso es −90° (RMSE ≈ 15.6°), frente a ≈ 44.1° (0°) y ≈ 44.6° (90°), evidenciando pérdida de estabilidad para ciertas condiciones iniciales.</a:t>
            </a:r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F089B9DF-769A-155B-5766-3B21A932814D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366052" y="2078038"/>
            <a:ext cx="6387548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98BEAE42-692D-6F05-D6F0-5D843A4FE5C7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3067357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C1323-DF65-97D7-CA23-40172F4E2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5E3F53D-9105-6FA8-7AF6-3BB06F9BA0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o1ini,  Angulo de operación inicial. o1sp=45°</a:t>
            </a:r>
          </a:p>
          <a:p>
            <a:endParaRPr lang="es-ES_tradnl" noProof="1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9A998079-43E2-897A-EAC6-E156CCC80A67}"/>
              </a:ext>
            </a:extLst>
          </p:cNvPr>
          <p:cNvGraphicFramePr>
            <a:graphicFrameLocks noGrp="1"/>
          </p:cNvGraphicFramePr>
          <p:nvPr>
            <p:ph sz="quarter" idx="14"/>
          </p:nvPr>
        </p:nvGraphicFramePr>
        <p:xfrm>
          <a:off x="606425" y="4962525"/>
          <a:ext cx="10532960" cy="1210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54255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45558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-36.10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8.90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14.11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165.66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117.00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1.60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15.24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3.51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14.69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-90.00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-25.45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100.00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19.55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20.40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337.71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74.00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1.95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21.91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6.08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33.30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90.00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-24.76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135.00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300.00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20.24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46.41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393.80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170.00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2.56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39.13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7.03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25.25</a:t>
                      </a:r>
                      <a:endParaRPr lang="de-DE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F440A83B-7993-6F05-48E3-E270612AED42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643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sz="1400" noProof="1"/>
              <a:t>El sistema converge en los tres casos, pero con fuerte degradación para condiciones extremas. El mejor desempeño es o1ini = 0° (RMSE ≈ 14.1°), frente a ≈ 20.4° (−90°) y ≈ 46.4° (90°), con mayor sobreimpulso y esfuerzo de control.</a:t>
            </a:r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3812853E-DD39-9627-1086-3AFF06BF337F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432313" y="2078038"/>
            <a:ext cx="6824870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0856CC84-2A0C-34F1-978C-9F56AB4489EF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4075922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C2C74-BC39-C29A-C321-3553FC1B2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64028A0-D997-7C64-68E8-B32A09B5CB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Retardo de señal</a:t>
            </a:r>
          </a:p>
          <a:p>
            <a:endParaRPr lang="es-ES_tradnl" noProof="1"/>
          </a:p>
        </p:txBody>
      </p:sp>
      <p:sp>
        <p:nvSpPr>
          <p:cNvPr id="11" name="Inhaltsplatzhalter 4">
            <a:extLst>
              <a:ext uri="{FF2B5EF4-FFF2-40B4-BE49-F238E27FC236}">
                <a16:creationId xmlns:a16="http://schemas.microsoft.com/office/drawing/2014/main" id="{4CE70782-EB65-9089-AEF0-2A853A2772EB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s-ES_tradnl" b="1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Retardo: (0, 10, 20)[ms]</a:t>
            </a:r>
          </a:p>
          <a:p>
            <a:pPr algn="l"/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Pitch, Roll =0°, o1ini= 0°, do1ini= 0° </a:t>
            </a:r>
            <a:endParaRPr lang="es-ES_tradnl" noProof="1"/>
          </a:p>
        </p:txBody>
      </p:sp>
      <p:sp>
        <p:nvSpPr>
          <p:cNvPr id="12" name="Inhaltsplatzhalter 1">
            <a:extLst>
              <a:ext uri="{FF2B5EF4-FFF2-40B4-BE49-F238E27FC236}">
                <a16:creationId xmlns:a16="http://schemas.microsoft.com/office/drawing/2014/main" id="{DFE4539D-E246-3535-95CE-ABF27F6C904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53093" y="5129555"/>
            <a:ext cx="4858024" cy="977315"/>
          </a:xfrm>
        </p:spPr>
        <p:txBody>
          <a:bodyPr>
            <a:noAutofit/>
          </a:bodyPr>
          <a:lstStyle/>
          <a:p>
            <a:pPr algn="l"/>
            <a:r>
              <a:rPr lang="es-ES_tradnl" sz="1400" noProof="1"/>
              <a:t>El retardo introduce una penalización leve y uniforme en el RMSE: de ≈36.69° (0 ms) a ≈36.92° (20 ms, +0.6%), sin alterar la forma de la curva ni la estabilidad global.</a:t>
            </a:r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DDB37026-EB9F-ACB1-6EA0-1EDDEFE2F73B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520700" y="2146852"/>
            <a:ext cx="5365750" cy="3724221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F0379C72-B50C-5732-ECE8-BBFA66F866F8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814186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F01A7-2306-EE55-DBAC-8C4A15CFC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E85A903-BF77-4FCD-B150-BA6E7C79899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Retardo de señal. o1sp=45°</a:t>
            </a:r>
          </a:p>
          <a:p>
            <a:endParaRPr lang="es-ES_tradnl" noProof="1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F129F701-E5C4-9F68-C8B1-28C1D2FFC4AB}"/>
              </a:ext>
            </a:extLst>
          </p:cNvPr>
          <p:cNvGraphicFramePr>
            <a:graphicFrameLocks noGrp="1"/>
          </p:cNvGraphicFramePr>
          <p:nvPr>
            <p:ph sz="quarter" idx="14"/>
          </p:nvPr>
        </p:nvGraphicFramePr>
        <p:xfrm>
          <a:off x="606425" y="4962525"/>
          <a:ext cx="10532960" cy="1210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38332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865365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23553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28729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4435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57101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52620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77855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53962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682435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1747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21312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21958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589105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58.22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13.74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30.53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13.22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16.40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241.01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80.00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1.98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23.48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5.02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14.53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58.51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14.16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31.46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13.51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16.71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246.38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0.39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23.83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5.36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13.29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0.02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58.40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14.63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32.50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13.40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16.78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245.13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0.39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2.01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24.10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5.36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14.02</a:t>
                      </a:r>
                      <a:endParaRPr lang="de-DE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C77C4DB5-6B6A-A375-7B78-B794CF098343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25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sz="1400" noProof="1"/>
              <a:t>El sistema mantiene convergencia en todos los casos, con incrementos marginales en sobreimpulso (≈13.7° → ≈14.6°) y RMSE (≈16.40° → ≈16.78°) al aumentar el retardo.</a:t>
            </a:r>
          </a:p>
        </p:txBody>
      </p:sp>
      <p:pic>
        <p:nvPicPr>
          <p:cNvPr id="5" name="Onlinebild-Platzhalter 4">
            <a:extLst>
              <a:ext uri="{FF2B5EF4-FFF2-40B4-BE49-F238E27FC236}">
                <a16:creationId xmlns:a16="http://schemas.microsoft.com/office/drawing/2014/main" id="{BA23A009-3F90-957F-2442-3E64C19623E2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617843" y="2078038"/>
            <a:ext cx="6705600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BA75C9FD-5993-0242-7C2B-52F8AACEE176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169185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6D1C5-384F-A179-7D35-C1C864931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F55120A-1D6C-32A0-D3B6-F012E7E93B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do1ini. Velocidad angular inicial.</a:t>
            </a:r>
          </a:p>
          <a:p>
            <a:endParaRPr lang="es-ES_tradnl" noProof="1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B7C2640F-F0D3-7E95-6028-BB1541FB568D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s-ES_tradnl" b="1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do1ini= (-0.5, 0, 0.5) [rad/s]</a:t>
            </a:r>
          </a:p>
          <a:p>
            <a:pPr algn="l"/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Pitch, Roll =0°, o1ini= 0°, Retardo=0ms </a:t>
            </a:r>
            <a:endParaRPr lang="es-ES_tradnl" noProof="1"/>
          </a:p>
          <a:p>
            <a:endParaRPr lang="es-ES_tradnl" b="1" noProof="1"/>
          </a:p>
          <a:p>
            <a:endParaRPr lang="es-ES_tradnl" noProof="1"/>
          </a:p>
        </p:txBody>
      </p:sp>
      <p:sp>
        <p:nvSpPr>
          <p:cNvPr id="9" name="Inhaltsplatzhalter 1">
            <a:extLst>
              <a:ext uri="{FF2B5EF4-FFF2-40B4-BE49-F238E27FC236}">
                <a16:creationId xmlns:a16="http://schemas.microsoft.com/office/drawing/2014/main" id="{10FED597-EC50-4708-6714-87E9B42B0AE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71644" y="5038115"/>
            <a:ext cx="4534893" cy="1066521"/>
          </a:xfrm>
        </p:spPr>
        <p:txBody>
          <a:bodyPr>
            <a:noAutofit/>
          </a:bodyPr>
          <a:lstStyle/>
          <a:p>
            <a:pPr algn="l"/>
            <a:r>
              <a:rPr lang="es-ES_tradnl" sz="1400" noProof="1"/>
              <a:t>La velocidad angular inicial introduce una degradación asimétrica del RMSE: ≈34.35° (−0.5 rad/s), ≈36.69° (0) y ≈35.72° (+0.5), con incremento en los extremos del rango angular.</a:t>
            </a:r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756DD136-F6D6-32C2-18B3-1F5A062A6314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520700" y="2439489"/>
            <a:ext cx="5365750" cy="3431584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3524CEAD-63F7-D1F1-4D72-409A7B038F31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465153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3A5AC-7556-B376-82D4-E5D7DCC6B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EC68322-1770-48E2-7A15-F8C92A30F5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Bajo perturbaciones. do1ini. Velocidad angular inicial. o1sp=45°</a:t>
            </a:r>
          </a:p>
          <a:p>
            <a:endParaRPr lang="es-ES_tradnl" noProof="1"/>
          </a:p>
        </p:txBody>
      </p:sp>
      <p:graphicFrame>
        <p:nvGraphicFramePr>
          <p:cNvPr id="7" name="Inhaltsplatzhalter 5">
            <a:extLst>
              <a:ext uri="{FF2B5EF4-FFF2-40B4-BE49-F238E27FC236}">
                <a16:creationId xmlns:a16="http://schemas.microsoft.com/office/drawing/2014/main" id="{D4CE68C1-A883-8199-0712-5A61BE3C297F}"/>
              </a:ext>
            </a:extLst>
          </p:cNvPr>
          <p:cNvGraphicFramePr>
            <a:graphicFrameLocks noGrp="1"/>
          </p:cNvGraphicFramePr>
          <p:nvPr>
            <p:ph sz="quarter" idx="14"/>
          </p:nvPr>
        </p:nvGraphicFramePr>
        <p:xfrm>
          <a:off x="606425" y="4962525"/>
          <a:ext cx="10971856" cy="12109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59208">
                  <a:extLst>
                    <a:ext uri="{9D8B030D-6E8A-4147-A177-3AD203B41FA5}">
                      <a16:colId xmlns:a16="http://schemas.microsoft.com/office/drawing/2014/main" val="824630556"/>
                    </a:ext>
                  </a:extLst>
                </a:gridCol>
                <a:gridCol w="560764">
                  <a:extLst>
                    <a:ext uri="{9D8B030D-6E8A-4147-A177-3AD203B41FA5}">
                      <a16:colId xmlns:a16="http://schemas.microsoft.com/office/drawing/2014/main" val="469466284"/>
                    </a:ext>
                  </a:extLst>
                </a:gridCol>
                <a:gridCol w="901424">
                  <a:extLst>
                    <a:ext uri="{9D8B030D-6E8A-4147-A177-3AD203B41FA5}">
                      <a16:colId xmlns:a16="http://schemas.microsoft.com/office/drawing/2014/main" val="4121467693"/>
                    </a:ext>
                  </a:extLst>
                </a:gridCol>
                <a:gridCol w="857869">
                  <a:extLst>
                    <a:ext uri="{9D8B030D-6E8A-4147-A177-3AD203B41FA5}">
                      <a16:colId xmlns:a16="http://schemas.microsoft.com/office/drawing/2014/main" val="4078333586"/>
                    </a:ext>
                  </a:extLst>
                </a:gridCol>
                <a:gridCol w="759094">
                  <a:extLst>
                    <a:ext uri="{9D8B030D-6E8A-4147-A177-3AD203B41FA5}">
                      <a16:colId xmlns:a16="http://schemas.microsoft.com/office/drawing/2014/main" val="2383919902"/>
                    </a:ext>
                  </a:extLst>
                </a:gridCol>
                <a:gridCol w="671207">
                  <a:extLst>
                    <a:ext uri="{9D8B030D-6E8A-4147-A177-3AD203B41FA5}">
                      <a16:colId xmlns:a16="http://schemas.microsoft.com/office/drawing/2014/main" val="4156923515"/>
                    </a:ext>
                  </a:extLst>
                </a:gridCol>
                <a:gridCol w="788649">
                  <a:extLst>
                    <a:ext uri="{9D8B030D-6E8A-4147-A177-3AD203B41FA5}">
                      <a16:colId xmlns:a16="http://schemas.microsoft.com/office/drawing/2014/main" val="1749238962"/>
                    </a:ext>
                  </a:extLst>
                </a:gridCol>
                <a:gridCol w="783981">
                  <a:extLst>
                    <a:ext uri="{9D8B030D-6E8A-4147-A177-3AD203B41FA5}">
                      <a16:colId xmlns:a16="http://schemas.microsoft.com/office/drawing/2014/main" val="2536129472"/>
                    </a:ext>
                  </a:extLst>
                </a:gridCol>
                <a:gridCol w="647874">
                  <a:extLst>
                    <a:ext uri="{9D8B030D-6E8A-4147-A177-3AD203B41FA5}">
                      <a16:colId xmlns:a16="http://schemas.microsoft.com/office/drawing/2014/main" val="2431686169"/>
                    </a:ext>
                  </a:extLst>
                </a:gridCol>
                <a:gridCol w="497767">
                  <a:extLst>
                    <a:ext uri="{9D8B030D-6E8A-4147-A177-3AD203B41FA5}">
                      <a16:colId xmlns:a16="http://schemas.microsoft.com/office/drawing/2014/main" val="3755756144"/>
                    </a:ext>
                  </a:extLst>
                </a:gridCol>
                <a:gridCol w="472878">
                  <a:extLst>
                    <a:ext uri="{9D8B030D-6E8A-4147-A177-3AD203B41FA5}">
                      <a16:colId xmlns:a16="http://schemas.microsoft.com/office/drawing/2014/main" val="3926235026"/>
                    </a:ext>
                  </a:extLst>
                </a:gridCol>
                <a:gridCol w="710871">
                  <a:extLst>
                    <a:ext uri="{9D8B030D-6E8A-4147-A177-3AD203B41FA5}">
                      <a16:colId xmlns:a16="http://schemas.microsoft.com/office/drawing/2014/main" val="3826450058"/>
                    </a:ext>
                  </a:extLst>
                </a:gridCol>
                <a:gridCol w="643209">
                  <a:extLst>
                    <a:ext uri="{9D8B030D-6E8A-4147-A177-3AD203B41FA5}">
                      <a16:colId xmlns:a16="http://schemas.microsoft.com/office/drawing/2014/main" val="2782763862"/>
                    </a:ext>
                  </a:extLst>
                </a:gridCol>
                <a:gridCol w="855535">
                  <a:extLst>
                    <a:ext uri="{9D8B030D-6E8A-4147-A177-3AD203B41FA5}">
                      <a16:colId xmlns:a16="http://schemas.microsoft.com/office/drawing/2014/main" val="4235403215"/>
                    </a:ext>
                  </a:extLst>
                </a:gridCol>
                <a:gridCol w="647874">
                  <a:extLst>
                    <a:ext uri="{9D8B030D-6E8A-4147-A177-3AD203B41FA5}">
                      <a16:colId xmlns:a16="http://schemas.microsoft.com/office/drawing/2014/main" val="2153124820"/>
                    </a:ext>
                  </a:extLst>
                </a:gridCol>
                <a:gridCol w="613652">
                  <a:extLst>
                    <a:ext uri="{9D8B030D-6E8A-4147-A177-3AD203B41FA5}">
                      <a16:colId xmlns:a16="http://schemas.microsoft.com/office/drawing/2014/main" val="3601810853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Sweep Val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O1_final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 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Mp[%]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e_ss_abs[°]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RMSE[°]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ITAE[°s]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Tr[s]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Iosc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U_peak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U_rms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U_energy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U_abs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U_TV</a:t>
                      </a:r>
                      <a:endParaRPr lang="es-ES_tradnl" sz="90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67217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3.14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58.47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14.10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31.34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13.47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15.32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245.38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0.29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1.65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15.77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4.03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13.40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1796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58.22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13.74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30.53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13.22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16.40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241.01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80.00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1.98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23.48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5.02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14.53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7237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_tradnl" sz="900" b="0" noProof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-3.14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58.33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13.78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30.63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13.33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19.94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245.83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0.37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45.00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6.00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2.19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28.67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6.13</a:t>
                      </a:r>
                      <a:endParaRPr lang="de-DE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9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62.62</a:t>
                      </a:r>
                      <a:endParaRPr lang="de-DE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60242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04039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b="0" noProof="1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s-ES_tradnl" sz="900" noProof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8356"/>
                  </a:ext>
                </a:extLst>
              </a:tr>
            </a:tbl>
          </a:graphicData>
        </a:graphic>
      </p:graphicFrame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53BDBFB-3718-7C96-8527-4C6F33EF74DD}"/>
              </a:ext>
            </a:extLst>
          </p:cNvPr>
          <p:cNvSpPr txBox="1">
            <a:spLocks noGrp="1"/>
          </p:cNvSpPr>
          <p:nvPr>
            <p:ph sz="quarter" idx="16"/>
          </p:nvPr>
        </p:nvSpPr>
        <p:spPr>
          <a:xfrm>
            <a:off x="561487" y="2465822"/>
            <a:ext cx="2688490" cy="1449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sz="1400" noProof="1"/>
              <a:t>El sistema converge en todos los casos, pero el transitorio se ve afectado: RMSE ≈15.32° (+3.14 rad/s), ≈16.40° (0) y ≈19.94° (−3.14), con variaciones en sobreimpulso y esfuerzo de control.</a:t>
            </a:r>
          </a:p>
        </p:txBody>
      </p:sp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1513243C-0E8E-C0FB-A154-E03898F3EB5B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2"/>
          <a:stretch>
            <a:fillRect/>
          </a:stretch>
        </p:blipFill>
        <p:spPr>
          <a:xfrm>
            <a:off x="3344090" y="2078038"/>
            <a:ext cx="6374675" cy="2505075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918E8155-ECB8-9669-0134-3D6487767077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1699608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E012E-AB17-C01A-8583-8EB3C566F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37BCFB0-6D39-022A-94B1-0E8AD707F1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Influencias de las perturbaciones en plataforma plana</a:t>
            </a:r>
          </a:p>
          <a:p>
            <a:endParaRPr lang="es-ES_tradnl" noProof="1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BA4C25B-3A23-2C21-617D-40FE8ABDE83F}"/>
              </a:ext>
            </a:extLst>
          </p:cNvPr>
          <p:cNvSpPr txBox="1"/>
          <p:nvPr/>
        </p:nvSpPr>
        <p:spPr>
          <a:xfrm>
            <a:off x="1220412" y="5002600"/>
            <a:ext cx="15326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o1ini: (-90, 0 , 90) [°]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EE661BA-A963-30E1-ABBB-B0E86E3418BF}"/>
              </a:ext>
            </a:extLst>
          </p:cNvPr>
          <p:cNvSpPr txBox="1"/>
          <p:nvPr/>
        </p:nvSpPr>
        <p:spPr>
          <a:xfrm>
            <a:off x="5069907" y="5008526"/>
            <a:ext cx="16858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Retardo: (0, 0.01, 0.02) [ms]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A6942562-393F-ABE6-57FF-84A5F7BF90EC}"/>
              </a:ext>
            </a:extLst>
          </p:cNvPr>
          <p:cNvSpPr txBox="1"/>
          <p:nvPr/>
        </p:nvSpPr>
        <p:spPr>
          <a:xfrm>
            <a:off x="9040777" y="5002227"/>
            <a:ext cx="15069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do1ini: (-0.5, 0, 0.5)[rad/s]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4918457A-C7A2-A6DA-7D63-C1EAA191F7B9}"/>
              </a:ext>
            </a:extLst>
          </p:cNvPr>
          <p:cNvSpPr txBox="1"/>
          <p:nvPr/>
        </p:nvSpPr>
        <p:spPr>
          <a:xfrm>
            <a:off x="327464" y="5574375"/>
            <a:ext cx="11609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El agente mantiene estabilidad global. El retardo tiene impacto mínimo (≈36.69° → ≈36.92°, +0.6%), mientras que las condiciones iniciales dominan el desempeño: o1ini hasta ≈41.6° y d</a:t>
            </a:r>
            <a:r>
              <a:rPr lang="el-GR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s-ES_tradnl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ini hasta ≈35.7°, evidenciando sensibilidad al estado inicial.</a:t>
            </a:r>
          </a:p>
        </p:txBody>
      </p:sp>
      <p:pic>
        <p:nvPicPr>
          <p:cNvPr id="6" name="Onlinebild-Platzhalter 10">
            <a:extLst>
              <a:ext uri="{FF2B5EF4-FFF2-40B4-BE49-F238E27FC236}">
                <a16:creationId xmlns:a16="http://schemas.microsoft.com/office/drawing/2014/main" id="{A905B617-929C-4B3F-61D0-C7257BA57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41" y="2309183"/>
            <a:ext cx="3467350" cy="2652764"/>
          </a:xfrm>
          <a:prstGeom prst="rect">
            <a:avLst/>
          </a:prstGeom>
        </p:spPr>
      </p:pic>
      <p:pic>
        <p:nvPicPr>
          <p:cNvPr id="15" name="Onlinebild-Platzhalter 5">
            <a:extLst>
              <a:ext uri="{FF2B5EF4-FFF2-40B4-BE49-F238E27FC236}">
                <a16:creationId xmlns:a16="http://schemas.microsoft.com/office/drawing/2014/main" id="{C46AFA8C-C0EA-0DDC-7B99-54811BEA50B9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3"/>
          <a:stretch>
            <a:fillRect/>
          </a:stretch>
        </p:blipFill>
        <p:spPr>
          <a:xfrm>
            <a:off x="4018114" y="2309183"/>
            <a:ext cx="3649783" cy="2652763"/>
          </a:xfrm>
          <a:prstGeom prst="rect">
            <a:avLst/>
          </a:prstGeom>
        </p:spPr>
      </p:pic>
      <p:pic>
        <p:nvPicPr>
          <p:cNvPr id="16" name="Onlinebild-Platzhalter 5">
            <a:extLst>
              <a:ext uri="{FF2B5EF4-FFF2-40B4-BE49-F238E27FC236}">
                <a16:creationId xmlns:a16="http://schemas.microsoft.com/office/drawing/2014/main" id="{FEC6CF34-CC0D-1665-5A68-C8D52BD2AB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6120" y="2309183"/>
            <a:ext cx="4088415" cy="2652763"/>
          </a:xfrm>
          <a:prstGeom prst="rect">
            <a:avLst/>
          </a:prstGeom>
        </p:spPr>
      </p:pic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A2FF155D-4BBC-9737-EB29-40562421BA7C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2931838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1503</Words>
  <Application>Microsoft Macintosh PowerPoint</Application>
  <PresentationFormat>Breitbild</PresentationFormat>
  <Paragraphs>423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2</cp:revision>
  <dcterms:created xsi:type="dcterms:W3CDTF">2026-04-12T06:31:18Z</dcterms:created>
  <dcterms:modified xsi:type="dcterms:W3CDTF">2026-04-12T07:49:30Z</dcterms:modified>
</cp:coreProperties>
</file>