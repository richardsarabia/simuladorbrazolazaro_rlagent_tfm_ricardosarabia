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498" r:id="rId2"/>
    <p:sldId id="505" r:id="rId3"/>
    <p:sldId id="500" r:id="rId4"/>
    <p:sldId id="501" r:id="rId5"/>
    <p:sldId id="502" r:id="rId6"/>
    <p:sldId id="503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6" d="100"/>
          <a:sy n="106" d="100"/>
        </p:scale>
        <p:origin x="133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91C9DA-5E78-0348-9301-D99234C54D1F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49307A-5389-6A4E-9D36-08BBC190BAF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69756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92908-D8BB-632D-60AC-3D09B27F7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E66A512-9A20-8D16-15B3-5ED5271184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s-ES_tradnl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A4FE162-CF0A-F25D-927D-9BF589A520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CAD5AB7-DD00-EECD-41B5-86F5FFE8D5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85C0-5D3C-044C-86BD-FEC1FEF91D7D}" type="slidenum">
              <a:rPr lang="es-ES_tradnl" smtClean="0"/>
              <a:t>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62201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379A7C-61D8-6E11-DF06-4DBC3A8BCA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6DCCD01-9762-3294-7AAA-C171283F11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2B10671-BA60-0767-FDE7-E40307C21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61ED5-F9AB-0E48-BD2B-E48EC9A6A555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C0B24F3-7EF0-5198-40A3-DECB3C3A3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E7016FA-88E3-1F35-430C-8F4EDB53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4B2AF-13AD-8D48-87EF-CD2D42C9CDF4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6870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27E591-38C1-789E-DDCD-E1311FD2D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17FCE7E-8951-BA80-DD12-26B6E1CAD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AF3D1E-FC08-CAD9-F744-357C01027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61ED5-F9AB-0E48-BD2B-E48EC9A6A555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96FEED-C910-05F3-4E59-4E94DB745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187F1CB-3E15-558E-66AF-002C3EAF3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4B2AF-13AD-8D48-87EF-CD2D42C9CDF4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60392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7E9834-5D2D-C972-A3B4-75266B224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9179A60-5CFB-CD65-300D-146642A8F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FC6676-9204-99A1-6D63-569BC0D18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61ED5-F9AB-0E48-BD2B-E48EC9A6A555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EC1D9AA-DBD2-A8F5-8E42-E6BB5CF0E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7CDC422-2EA3-2638-D3A9-C86C61CA9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4B2AF-13AD-8D48-87EF-CD2D42C9CDF4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95046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AEBA26-114A-F54B-A66A-3F0C7ACE3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4AA6809-BD0B-B3B7-8800-41145D69EB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69AAF6F-F116-9443-988F-8AF0AEDAD5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B17298F-2013-E2B3-40EA-3C4857405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61ED5-F9AB-0E48-BD2B-E48EC9A6A555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9A6ECA3-426E-4FDC-7FA3-359E00D47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4444858-F2E7-B4F1-DC1F-C77D17A5A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4B2AF-13AD-8D48-87EF-CD2D42C9CDF4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02211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55EFE7-78D5-C50A-AAB8-62CDEB4CB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2CDB4F-6D87-A434-8A4E-899D5C2EC2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F602652-144E-EAF7-C0AA-1964ADE1EE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B655118-50F5-E180-5BC9-24C3B7DFA7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FB9E923-2C05-A810-473A-820E21F241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0D8CCB3-9370-086D-AEA0-682C0465E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61ED5-F9AB-0E48-BD2B-E48EC9A6A555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7F3306E-D3DE-8464-DB45-B15439D68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826C69-A21F-4688-D6D1-F1C52B89D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4B2AF-13AD-8D48-87EF-CD2D42C9CDF4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57165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CD721A-E879-D104-052D-28935A5DC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45BB6F8-5752-C86C-803A-9177325B1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61ED5-F9AB-0E48-BD2B-E48EC9A6A555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F6A08E3-999F-1B17-D94E-6340E9C35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3D97E03-CD3A-7DED-2A9F-02BFB356A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4B2AF-13AD-8D48-87EF-CD2D42C9CDF4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36568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1A12A5B-3D24-7D88-2D51-20788FB58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61ED5-F9AB-0E48-BD2B-E48EC9A6A555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32421AD-C809-7006-0114-A5909DF3D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D76CCE4-5F8D-EE5F-5AF8-812591DF4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4B2AF-13AD-8D48-87EF-CD2D42C9CDF4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80612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69A36A-FA80-E11A-9EB7-0C8FCA6AA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083AD89-BBCB-6FEA-E82C-3E0CAF675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CF1B37C-89BC-3658-3B0D-8A50A2C7B7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B216D17-FA59-5201-3950-57A898EDC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61ED5-F9AB-0E48-BD2B-E48EC9A6A555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95503A6-FBF6-5431-D42B-7D95C59C8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61A37FC-C0AC-A7F3-FE3F-6CD88CBF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4B2AF-13AD-8D48-87EF-CD2D42C9CDF4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79827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B5A54B-5206-417B-78D3-E85A02FB6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0670C1B-A39F-6767-958F-F6854B9179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E9429A2-5C0E-2C7C-73B3-98FFE983A4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5CF8A27-7C12-1075-74D9-663EF854C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61ED5-F9AB-0E48-BD2B-E48EC9A6A555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E0705CF-57CB-9A39-534E-66592C5A2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9E34BA1-2BD6-CA9F-A266-D7CB165A7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4B2AF-13AD-8D48-87EF-CD2D42C9CDF4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0497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7F7419-C059-DEB6-270E-E0DC4F405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D02EEA8-AE40-587F-03F2-7B2ECD76D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23E2FB0-DFE8-27C1-3208-377FA7589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61ED5-F9AB-0E48-BD2B-E48EC9A6A555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1A6FC58-C47B-F260-001F-90455E00A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C07A4B3-3C82-359C-E4A7-EEA8B607A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4B2AF-13AD-8D48-87EF-CD2D42C9CDF4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26186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12E6126-FF44-3B55-E796-EA4624A1C8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A77B7D2-082F-9A68-1A44-C15CC870AF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8BC3179-E0E4-BAA6-A837-B55FCEB7C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61ED5-F9AB-0E48-BD2B-E48EC9A6A555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FE17B11-35B0-DC75-A0F7-F930907AF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38D3B1E-5EDB-015E-C396-DCB82F36C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4B2AF-13AD-8D48-87EF-CD2D42C9CDF4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682889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RAVAPRENDIZA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04077B-F64E-73B0-DB6F-6D6069A174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640054" y="1307035"/>
            <a:ext cx="1465024" cy="1057511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41B35AC-5FD2-0498-0C0B-3C9BC3F79BD3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del Aprendizaje</a:t>
            </a: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56235" y="2636555"/>
            <a:ext cx="5260975" cy="3454400"/>
          </a:xfrm>
        </p:spPr>
        <p:txBody>
          <a:bodyPr/>
          <a:lstStyle>
            <a:lvl1pPr algn="l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algn="l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endParaRPr lang="es-ES_tradnl" dirty="0"/>
          </a:p>
        </p:txBody>
      </p:sp>
      <p:cxnSp>
        <p:nvCxnSpPr>
          <p:cNvPr id="2" name="Gerade Verbindung 1">
            <a:extLst>
              <a:ext uri="{FF2B5EF4-FFF2-40B4-BE49-F238E27FC236}">
                <a16:creationId xmlns:a16="http://schemas.microsoft.com/office/drawing/2014/main" id="{C9FA80AC-474F-A8AF-0BBA-9AB82BAAA43A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9945312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platzhalter 23">
            <a:extLst>
              <a:ext uri="{FF2B5EF4-FFF2-40B4-BE49-F238E27FC236}">
                <a16:creationId xmlns:a16="http://schemas.microsoft.com/office/drawing/2014/main" id="{06C3DDAC-8DFE-9B03-74E8-A4BE68B393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nlinebild-Platzhalter 4">
            <a:extLst>
              <a:ext uri="{FF2B5EF4-FFF2-40B4-BE49-F238E27FC236}">
                <a16:creationId xmlns:a16="http://schemas.microsoft.com/office/drawing/2014/main" id="{C1E1E36D-5A9D-D8DD-682D-7CF8D7D21B6C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374650" y="2636838"/>
            <a:ext cx="5991426" cy="3278187"/>
          </a:xfrm>
        </p:spPr>
        <p:txBody>
          <a:bodyPr/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206510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MSE TOP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04077B-F64E-73B0-DB6F-6D6069A174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640054" y="1307035"/>
            <a:ext cx="1465024" cy="1057511"/>
          </a:xfrm>
          <a:prstGeom prst="rect">
            <a:avLst/>
          </a:prstGeom>
        </p:spPr>
      </p:pic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2015AB68-02CA-6B80-D8DC-4FA20BDB74DD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9945312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B3EF8E9B-C7D0-2592-12B9-6291B02A5FA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24385" y="5510118"/>
            <a:ext cx="9503058" cy="677305"/>
          </a:xfrm>
        </p:spPr>
        <p:txBody>
          <a:bodyPr/>
          <a:lstStyle>
            <a:lvl1pPr algn="ctr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Onlinebild-Platzhalter 7">
            <a:extLst>
              <a:ext uri="{FF2B5EF4-FFF2-40B4-BE49-F238E27FC236}">
                <a16:creationId xmlns:a16="http://schemas.microsoft.com/office/drawing/2014/main" id="{FAA78FF5-2A44-C038-8C33-581E4612C4B9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2386065" y="2254597"/>
            <a:ext cx="7188609" cy="3098654"/>
          </a:xfrm>
        </p:spPr>
        <p:txBody>
          <a:bodyPr/>
          <a:lstStyle/>
          <a:p>
            <a:endParaRPr lang="es-ES_tradnl"/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3DC88AFA-5823-4006-865A-291216A99A1D}"/>
              </a:ext>
            </a:extLst>
          </p:cNvPr>
          <p:cNvGrpSpPr/>
          <p:nvPr userDrawn="1"/>
        </p:nvGrpSpPr>
        <p:grpSpPr>
          <a:xfrm>
            <a:off x="606204" y="3429002"/>
            <a:ext cx="1039143" cy="1226891"/>
            <a:chOff x="2471323" y="3094239"/>
            <a:chExt cx="1039143" cy="1226891"/>
          </a:xfrm>
        </p:grpSpPr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D67975EE-02C4-F175-795B-93A638306DE2}"/>
                </a:ext>
              </a:extLst>
            </p:cNvPr>
            <p:cNvGrpSpPr/>
            <p:nvPr/>
          </p:nvGrpSpPr>
          <p:grpSpPr>
            <a:xfrm>
              <a:off x="2471323" y="3278090"/>
              <a:ext cx="1039143" cy="1043040"/>
              <a:chOff x="7954338" y="203337"/>
              <a:chExt cx="1275466" cy="1149452"/>
            </a:xfrm>
          </p:grpSpPr>
          <p:pic>
            <p:nvPicPr>
              <p:cNvPr id="14" name="Grafik 13">
                <a:extLst>
                  <a:ext uri="{FF2B5EF4-FFF2-40B4-BE49-F238E27FC236}">
                    <a16:creationId xmlns:a16="http://schemas.microsoft.com/office/drawing/2014/main" id="{8D070CE1-EC82-7F15-BBFD-68082F249B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22679" t="14811" r="19766" b="18544"/>
              <a:stretch>
                <a:fillRect/>
              </a:stretch>
            </p:blipFill>
            <p:spPr>
              <a:xfrm>
                <a:off x="7954338" y="203337"/>
                <a:ext cx="1275466" cy="1149452"/>
              </a:xfrm>
              <a:prstGeom prst="rect">
                <a:avLst/>
              </a:prstGeom>
            </p:spPr>
          </p:pic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4AF5F29C-6703-E5DA-3E54-C687E6CC7606}"/>
                  </a:ext>
                </a:extLst>
              </p:cNvPr>
              <p:cNvSpPr txBox="1"/>
              <p:nvPr/>
            </p:nvSpPr>
            <p:spPr>
              <a:xfrm>
                <a:off x="8496320" y="1024996"/>
                <a:ext cx="622143" cy="288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1100" dirty="0"/>
                  <a:t>(TD3)</a:t>
                </a:r>
              </a:p>
            </p:txBody>
          </p:sp>
        </p:grp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C0A244D5-E2F4-55A2-9535-F4C6F1162F3F}"/>
                </a:ext>
              </a:extLst>
            </p:cNvPr>
            <p:cNvSpPr txBox="1"/>
            <p:nvPr/>
          </p:nvSpPr>
          <p:spPr>
            <a:xfrm>
              <a:off x="2536282" y="3094239"/>
              <a:ext cx="86113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100" dirty="0"/>
                <a:t>Agentes RL</a:t>
              </a:r>
            </a:p>
          </p:txBody>
        </p:sp>
      </p:grpSp>
      <p:sp>
        <p:nvSpPr>
          <p:cNvPr id="35" name="Textfeld 34">
            <a:extLst>
              <a:ext uri="{FF2B5EF4-FFF2-40B4-BE49-F238E27FC236}">
                <a16:creationId xmlns:a16="http://schemas.microsoft.com/office/drawing/2014/main" id="{308D64B1-247C-C0A8-0B78-5ABD6A7629E1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del Aprendizaje</a:t>
            </a:r>
          </a:p>
        </p:txBody>
      </p:sp>
    </p:spTree>
    <p:extLst>
      <p:ext uri="{BB962C8B-B14F-4D97-AF65-F5344CB8AC3E}">
        <p14:creationId xmlns:p14="http://schemas.microsoft.com/office/powerpoint/2010/main" val="4812745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VALUACION TABLA RM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2015AB68-02CA-6B80-D8DC-4FA20BDB74DD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11169569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B3EF8E9B-C7D0-2592-12B9-6291B02A5FA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01014" y="2449374"/>
            <a:ext cx="6862686" cy="3020412"/>
          </a:xfrm>
        </p:spPr>
        <p:txBody>
          <a:bodyPr/>
          <a:lstStyle>
            <a:lvl1pPr algn="ctr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308D64B1-247C-C0A8-0B78-5ABD6A7629E1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del Aprendizaje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F068B4D2-1A49-F63B-10AE-75995C064D95}"/>
              </a:ext>
            </a:extLst>
          </p:cNvPr>
          <p:cNvSpPr txBox="1"/>
          <p:nvPr userDrawn="1"/>
        </p:nvSpPr>
        <p:spPr>
          <a:xfrm>
            <a:off x="-543695" y="56223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sz="1800" dirty="0"/>
          </a:p>
        </p:txBody>
      </p:sp>
      <p:sp>
        <p:nvSpPr>
          <p:cNvPr id="22" name="Inhaltsplatzhalter 28">
            <a:extLst>
              <a:ext uri="{FF2B5EF4-FFF2-40B4-BE49-F238E27FC236}">
                <a16:creationId xmlns:a16="http://schemas.microsoft.com/office/drawing/2014/main" id="{AFD1239B-68D5-E93B-312D-B6D4E061E4F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694330" y="5653005"/>
            <a:ext cx="8032830" cy="677305"/>
          </a:xfrm>
        </p:spPr>
        <p:txBody>
          <a:bodyPr/>
          <a:lstStyle>
            <a:lvl1pPr algn="ctr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16842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OMINIO_ANGULAR_DETERMINS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2015AB68-02CA-6B80-D8DC-4FA20BDB74DD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11169569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B3EF8E9B-C7D0-2592-12B9-6291B02A5FA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154498" y="2390798"/>
            <a:ext cx="6862686" cy="3020412"/>
          </a:xfrm>
        </p:spPr>
        <p:txBody>
          <a:bodyPr/>
          <a:lstStyle>
            <a:lvl1pPr algn="ctr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308D64B1-247C-C0A8-0B78-5ABD6A7629E1}"/>
              </a:ext>
            </a:extLst>
          </p:cNvPr>
          <p:cNvSpPr txBox="1"/>
          <p:nvPr userDrawn="1"/>
        </p:nvSpPr>
        <p:spPr>
          <a:xfrm>
            <a:off x="374790" y="256348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en el Dominio Angular en Simulación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F068B4D2-1A49-F63B-10AE-75995C064D95}"/>
              </a:ext>
            </a:extLst>
          </p:cNvPr>
          <p:cNvSpPr txBox="1"/>
          <p:nvPr userDrawn="1"/>
        </p:nvSpPr>
        <p:spPr>
          <a:xfrm>
            <a:off x="-543695" y="56223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sz="1800" dirty="0"/>
          </a:p>
        </p:txBody>
      </p:sp>
      <p:sp>
        <p:nvSpPr>
          <p:cNvPr id="22" name="Inhaltsplatzhalter 28">
            <a:extLst>
              <a:ext uri="{FF2B5EF4-FFF2-40B4-BE49-F238E27FC236}">
                <a16:creationId xmlns:a16="http://schemas.microsoft.com/office/drawing/2014/main" id="{AFD1239B-68D5-E93B-312D-B6D4E061E4F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694330" y="5653005"/>
            <a:ext cx="8032830" cy="677305"/>
          </a:xfrm>
        </p:spPr>
        <p:txBody>
          <a:bodyPr/>
          <a:lstStyle>
            <a:lvl1pPr algn="ctr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13020E74-8C7E-3BC9-5499-58771C93405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42383" y="4443286"/>
            <a:ext cx="2535870" cy="740082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9F1F9970-4195-4991-774F-95C6F7EF629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393293" y="2736054"/>
            <a:ext cx="2152202" cy="170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729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3BB1521-53BD-6751-2BD0-4DE649156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E548B06-5CE8-2B6E-8697-58F5560B2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F7E2B1-36E1-33A9-F7A3-999A28B850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61ED5-F9AB-0E48-BD2B-E48EC9A6A555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44D897-66D3-5656-A003-2E3FB0646C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A819E0D-BCC2-33B3-5FB1-1175618831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C4B2AF-13AD-8D48-87EF-CD2D42C9CDF4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63636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254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8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259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FDBF6-8A5E-4D86-83AB-0578B3BB2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hteck 48">
            <a:extLst>
              <a:ext uri="{FF2B5EF4-FFF2-40B4-BE49-F238E27FC236}">
                <a16:creationId xmlns:a16="http://schemas.microsoft.com/office/drawing/2014/main" id="{5D571C0E-5862-67C6-E40D-043AF83666D6}"/>
              </a:ext>
            </a:extLst>
          </p:cNvPr>
          <p:cNvSpPr/>
          <p:nvPr/>
        </p:nvSpPr>
        <p:spPr>
          <a:xfrm>
            <a:off x="-3818" y="-7820"/>
            <a:ext cx="12195818" cy="976185"/>
          </a:xfrm>
          <a:prstGeom prst="rect">
            <a:avLst/>
          </a:prstGeom>
          <a:solidFill>
            <a:schemeClr val="accent4">
              <a:alpha val="2392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12F96927-8487-3CAA-505B-15AF1C577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EEE6E7D6-513D-9A39-C68C-F295E79218CA}"/>
              </a:ext>
            </a:extLst>
          </p:cNvPr>
          <p:cNvSpPr txBox="1"/>
          <p:nvPr/>
        </p:nvSpPr>
        <p:spPr>
          <a:xfrm>
            <a:off x="-543697" y="56223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1"/>
          </a:p>
        </p:txBody>
      </p:sp>
      <p:cxnSp>
        <p:nvCxnSpPr>
          <p:cNvPr id="27" name="Gerade Verbindung 26">
            <a:extLst>
              <a:ext uri="{FF2B5EF4-FFF2-40B4-BE49-F238E27FC236}">
                <a16:creationId xmlns:a16="http://schemas.microsoft.com/office/drawing/2014/main" id="{EC376792-CFC7-FF7D-1C0A-713C9882B6AD}"/>
              </a:ext>
            </a:extLst>
          </p:cNvPr>
          <p:cNvCxnSpPr>
            <a:cxnSpLocks/>
          </p:cNvCxnSpPr>
          <p:nvPr/>
        </p:nvCxnSpPr>
        <p:spPr>
          <a:xfrm>
            <a:off x="376884" y="1796587"/>
            <a:ext cx="9900837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" name="Grafik 1">
            <a:extLst>
              <a:ext uri="{FF2B5EF4-FFF2-40B4-BE49-F238E27FC236}">
                <a16:creationId xmlns:a16="http://schemas.microsoft.com/office/drawing/2014/main" id="{3ACF2541-11C0-42E4-810A-EDC671C562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593555" y="1347883"/>
            <a:ext cx="1142114" cy="824422"/>
          </a:xfrm>
          <a:prstGeom prst="rect">
            <a:avLst/>
          </a:prstGeom>
        </p:spPr>
      </p:pic>
      <p:sp>
        <p:nvSpPr>
          <p:cNvPr id="22" name="Textfeld 21">
            <a:extLst>
              <a:ext uri="{FF2B5EF4-FFF2-40B4-BE49-F238E27FC236}">
                <a16:creationId xmlns:a16="http://schemas.microsoft.com/office/drawing/2014/main" id="{26857D1E-365D-5B3A-EFFE-3902637AF4D6}"/>
              </a:ext>
            </a:extLst>
          </p:cNvPr>
          <p:cNvSpPr txBox="1"/>
          <p:nvPr/>
        </p:nvSpPr>
        <p:spPr>
          <a:xfrm>
            <a:off x="340469" y="1382633"/>
            <a:ext cx="10169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Seguimiento y Curriculum</a:t>
            </a:r>
            <a:endParaRPr lang="es-ES_tradnl" sz="2000" b="1" noProof="1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773BCE8F-17FC-253C-A768-AAF42F6767B9}"/>
              </a:ext>
            </a:extLst>
          </p:cNvPr>
          <p:cNvSpPr txBox="1"/>
          <p:nvPr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noProof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Curriculum </a:t>
            </a:r>
          </a:p>
        </p:txBody>
      </p:sp>
      <p:cxnSp>
        <p:nvCxnSpPr>
          <p:cNvPr id="58" name="Gewinkelte Verbindung 57">
            <a:extLst>
              <a:ext uri="{FF2B5EF4-FFF2-40B4-BE49-F238E27FC236}">
                <a16:creationId xmlns:a16="http://schemas.microsoft.com/office/drawing/2014/main" id="{D2AF5B6D-C7C3-F1AB-DCC3-A951711E4C29}"/>
              </a:ext>
            </a:extLst>
          </p:cNvPr>
          <p:cNvCxnSpPr>
            <a:cxnSpLocks/>
            <a:stCxn id="35" idx="2"/>
            <a:endCxn id="26" idx="0"/>
          </p:cNvCxnSpPr>
          <p:nvPr/>
        </p:nvCxnSpPr>
        <p:spPr>
          <a:xfrm rot="16200000" flipH="1">
            <a:off x="1878860" y="3299543"/>
            <a:ext cx="1193857" cy="1036592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134211EC-E3F4-23E3-6956-150702A602CF}"/>
              </a:ext>
            </a:extLst>
          </p:cNvPr>
          <p:cNvGrpSpPr/>
          <p:nvPr/>
        </p:nvGrpSpPr>
        <p:grpSpPr>
          <a:xfrm>
            <a:off x="7328764" y="3494775"/>
            <a:ext cx="3264791" cy="2783336"/>
            <a:chOff x="6169323" y="3034088"/>
            <a:chExt cx="3264791" cy="2783336"/>
          </a:xfrm>
        </p:grpSpPr>
        <p:grpSp>
          <p:nvGrpSpPr>
            <p:cNvPr id="86" name="Gruppieren 85">
              <a:extLst>
                <a:ext uri="{FF2B5EF4-FFF2-40B4-BE49-F238E27FC236}">
                  <a16:creationId xmlns:a16="http://schemas.microsoft.com/office/drawing/2014/main" id="{A078D8BD-2AD9-F2A9-202A-A5A6807F8315}"/>
                </a:ext>
              </a:extLst>
            </p:cNvPr>
            <p:cNvGrpSpPr/>
            <p:nvPr/>
          </p:nvGrpSpPr>
          <p:grpSpPr>
            <a:xfrm>
              <a:off x="7686988" y="4590533"/>
              <a:ext cx="1039143" cy="1226891"/>
              <a:chOff x="2340512" y="2888303"/>
              <a:chExt cx="1039143" cy="1226891"/>
            </a:xfrm>
          </p:grpSpPr>
          <p:grpSp>
            <p:nvGrpSpPr>
              <p:cNvPr id="89" name="Gruppieren 88">
                <a:extLst>
                  <a:ext uri="{FF2B5EF4-FFF2-40B4-BE49-F238E27FC236}">
                    <a16:creationId xmlns:a16="http://schemas.microsoft.com/office/drawing/2014/main" id="{A88CCD8C-88D7-4B63-E42F-2BC43F73B409}"/>
                  </a:ext>
                </a:extLst>
              </p:cNvPr>
              <p:cNvGrpSpPr/>
              <p:nvPr/>
            </p:nvGrpSpPr>
            <p:grpSpPr>
              <a:xfrm>
                <a:off x="2340512" y="3072154"/>
                <a:ext cx="1039143" cy="1043040"/>
                <a:chOff x="7793778" y="-23609"/>
                <a:chExt cx="1275466" cy="1149452"/>
              </a:xfrm>
            </p:grpSpPr>
            <p:pic>
              <p:nvPicPr>
                <p:cNvPr id="91" name="Grafik 90">
                  <a:extLst>
                    <a:ext uri="{FF2B5EF4-FFF2-40B4-BE49-F238E27FC236}">
                      <a16:creationId xmlns:a16="http://schemas.microsoft.com/office/drawing/2014/main" id="{ACF535C5-F279-2CB3-6269-8489C300BF0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rcRect l="22679" t="14811" r="19766" b="18544"/>
                <a:stretch>
                  <a:fillRect/>
                </a:stretch>
              </p:blipFill>
              <p:spPr>
                <a:xfrm>
                  <a:off x="7793778" y="-23609"/>
                  <a:ext cx="1275466" cy="1149452"/>
                </a:xfrm>
                <a:prstGeom prst="rect">
                  <a:avLst/>
                </a:prstGeom>
              </p:spPr>
            </p:pic>
            <p:sp>
              <p:nvSpPr>
                <p:cNvPr id="92" name="Textfeld 91">
                  <a:extLst>
                    <a:ext uri="{FF2B5EF4-FFF2-40B4-BE49-F238E27FC236}">
                      <a16:creationId xmlns:a16="http://schemas.microsoft.com/office/drawing/2014/main" id="{8D62498B-114D-45EE-10DB-A66C33007623}"/>
                    </a:ext>
                  </a:extLst>
                </p:cNvPr>
                <p:cNvSpPr txBox="1"/>
                <p:nvPr/>
              </p:nvSpPr>
              <p:spPr>
                <a:xfrm>
                  <a:off x="8402980" y="809204"/>
                  <a:ext cx="622143" cy="2883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_tradnl" sz="1100" noProof="1"/>
                    <a:t>(TD3)</a:t>
                  </a:r>
                </a:p>
              </p:txBody>
            </p:sp>
          </p:grpSp>
          <p:sp>
            <p:nvSpPr>
              <p:cNvPr id="90" name="Textfeld 89">
                <a:extLst>
                  <a:ext uri="{FF2B5EF4-FFF2-40B4-BE49-F238E27FC236}">
                    <a16:creationId xmlns:a16="http://schemas.microsoft.com/office/drawing/2014/main" id="{9EF26F9D-EC00-235C-8BC6-E699D8364C8F}"/>
                  </a:ext>
                </a:extLst>
              </p:cNvPr>
              <p:cNvSpPr txBox="1"/>
              <p:nvPr/>
            </p:nvSpPr>
            <p:spPr>
              <a:xfrm>
                <a:off x="2405471" y="2888303"/>
                <a:ext cx="938077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1100" noProof="1"/>
                  <a:t>Agente 2000</a:t>
                </a:r>
              </a:p>
            </p:txBody>
          </p:sp>
        </p:grpSp>
        <p:sp>
          <p:nvSpPr>
            <p:cNvPr id="87" name="Textfeld 86">
              <a:extLst>
                <a:ext uri="{FF2B5EF4-FFF2-40B4-BE49-F238E27FC236}">
                  <a16:creationId xmlns:a16="http://schemas.microsoft.com/office/drawing/2014/main" id="{1510B7CB-0D5E-D81F-DF0E-162C82FF9525}"/>
                </a:ext>
              </a:extLst>
            </p:cNvPr>
            <p:cNvSpPr txBox="1"/>
            <p:nvPr/>
          </p:nvSpPr>
          <p:spPr>
            <a:xfrm>
              <a:off x="6169323" y="5103715"/>
              <a:ext cx="152958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100" b="1" noProof="1"/>
                <a:t>Agente seleccionado</a:t>
              </a:r>
            </a:p>
            <a:p>
              <a:r>
                <a:rPr lang="es-ES_tradnl" sz="1100" noProof="1"/>
                <a:t>Checkpoint1900</a:t>
              </a:r>
            </a:p>
          </p:txBody>
        </p:sp>
        <p:sp>
          <p:nvSpPr>
            <p:cNvPr id="88" name="Textfeld 87">
              <a:extLst>
                <a:ext uri="{FF2B5EF4-FFF2-40B4-BE49-F238E27FC236}">
                  <a16:creationId xmlns:a16="http://schemas.microsoft.com/office/drawing/2014/main" id="{BF77D826-0720-5DD0-4AB5-5853AA8DF0D7}"/>
                </a:ext>
              </a:extLst>
            </p:cNvPr>
            <p:cNvSpPr txBox="1"/>
            <p:nvPr/>
          </p:nvSpPr>
          <p:spPr>
            <a:xfrm>
              <a:off x="7098991" y="3034088"/>
              <a:ext cx="2335123" cy="161582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_tradnl" sz="1100" noProof="1"/>
                <a:t>Entrenamiento: </a:t>
              </a:r>
            </a:p>
            <a:p>
              <a:r>
                <a:rPr lang="es-ES_tradnl" sz="1100" noProof="1"/>
                <a:t>Scen58, Reward_SystemI</a:t>
              </a:r>
            </a:p>
            <a:p>
              <a:r>
                <a:rPr lang="es-ES_tradnl" sz="1100" noProof="1"/>
                <a:t>Run_x191, 2000eps</a:t>
              </a:r>
            </a:p>
            <a:p>
              <a:r>
                <a:rPr lang="es-ES_tradnl" sz="1100" noProof="1"/>
                <a:t>01ini:  (-180,180) [° ]</a:t>
              </a:r>
              <a:r>
                <a:rPr lang="es-ES_tradnl" sz="1100" noProof="1">
                  <a:sym typeface="Wingdings" pitchFamily="2" charset="2"/>
                </a:rPr>
                <a:t> </a:t>
              </a:r>
            </a:p>
            <a:p>
              <a:r>
                <a:rPr lang="es-ES_tradnl" sz="1100" noProof="1">
                  <a:sym typeface="Wingdings" pitchFamily="2" charset="2"/>
                </a:rPr>
                <a:t>O1sp:</a:t>
              </a:r>
              <a:r>
                <a:rPr lang="es-ES_tradnl" sz="1100" noProof="1"/>
                <a:t> (-180,180) [° ]</a:t>
              </a:r>
              <a:r>
                <a:rPr lang="es-ES_tradnl" sz="1100" noProof="1">
                  <a:sym typeface="Wingdings" pitchFamily="2" charset="2"/>
                </a:rPr>
                <a:t> </a:t>
              </a:r>
            </a:p>
            <a:p>
              <a:r>
                <a:rPr lang="es-ES_tradnl" sz="1100" noProof="1"/>
                <a:t>Do1ini</a:t>
              </a:r>
              <a:r>
                <a:rPr lang="es-ES_tradnl" sz="1100" noProof="1">
                  <a:sym typeface="Wingdings" pitchFamily="2" charset="2"/>
                </a:rPr>
                <a:t>: (-0.5, 0.5) [rad/s]</a:t>
              </a:r>
            </a:p>
            <a:p>
              <a:r>
                <a:rPr lang="es-ES_tradnl" sz="1100" noProof="1">
                  <a:sym typeface="Wingdings" pitchFamily="2" charset="2"/>
                </a:rPr>
                <a:t>Roll: (-10,10) [°]</a:t>
              </a:r>
            </a:p>
            <a:p>
              <a:r>
                <a:rPr lang="es-ES_tradnl" sz="1100" noProof="1">
                  <a:sym typeface="Wingdings" pitchFamily="2" charset="2"/>
                </a:rPr>
                <a:t>Pitch:(-10,10) [°]</a:t>
              </a:r>
            </a:p>
            <a:p>
              <a:r>
                <a:rPr lang="es-ES_tradnl" sz="1100" noProof="1"/>
                <a:t>Exploration, TgtSmoothing</a:t>
              </a:r>
            </a:p>
          </p:txBody>
        </p:sp>
      </p:grpSp>
      <p:cxnSp>
        <p:nvCxnSpPr>
          <p:cNvPr id="107" name="Gerade Verbindung mit Pfeil 106">
            <a:extLst>
              <a:ext uri="{FF2B5EF4-FFF2-40B4-BE49-F238E27FC236}">
                <a16:creationId xmlns:a16="http://schemas.microsoft.com/office/drawing/2014/main" id="{7EE0AD6F-8117-C6DD-12F5-A0E0D4097FAC}"/>
              </a:ext>
            </a:extLst>
          </p:cNvPr>
          <p:cNvCxnSpPr>
            <a:cxnSpLocks/>
          </p:cNvCxnSpPr>
          <p:nvPr/>
        </p:nvCxnSpPr>
        <p:spPr>
          <a:xfrm>
            <a:off x="7096336" y="4439729"/>
            <a:ext cx="680752" cy="1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winkelte Verbindung 24">
            <a:extLst>
              <a:ext uri="{FF2B5EF4-FFF2-40B4-BE49-F238E27FC236}">
                <a16:creationId xmlns:a16="http://schemas.microsoft.com/office/drawing/2014/main" id="{6CEC234F-71DA-FB02-0A06-23C611EEBEBA}"/>
              </a:ext>
            </a:extLst>
          </p:cNvPr>
          <p:cNvCxnSpPr>
            <a:cxnSpLocks/>
            <a:stCxn id="34" idx="1"/>
          </p:cNvCxnSpPr>
          <p:nvPr/>
        </p:nvCxnSpPr>
        <p:spPr>
          <a:xfrm rot="10800000" flipV="1">
            <a:off x="1111946" y="2735225"/>
            <a:ext cx="150548" cy="2299673"/>
          </a:xfrm>
          <a:prstGeom prst="bentConnector2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1D6B88FB-D230-CC85-D748-6ED3631D9C7F}"/>
              </a:ext>
            </a:extLst>
          </p:cNvPr>
          <p:cNvGrpSpPr/>
          <p:nvPr/>
        </p:nvGrpSpPr>
        <p:grpSpPr>
          <a:xfrm>
            <a:off x="1262496" y="2029857"/>
            <a:ext cx="2870221" cy="1226891"/>
            <a:chOff x="1871007" y="4084191"/>
            <a:chExt cx="2870221" cy="1226891"/>
          </a:xfrm>
        </p:grpSpPr>
        <p:grpSp>
          <p:nvGrpSpPr>
            <p:cNvPr id="31" name="Gruppieren 30">
              <a:extLst>
                <a:ext uri="{FF2B5EF4-FFF2-40B4-BE49-F238E27FC236}">
                  <a16:creationId xmlns:a16="http://schemas.microsoft.com/office/drawing/2014/main" id="{4C045A84-218C-93F3-AD85-48BDE7FD0DAB}"/>
                </a:ext>
              </a:extLst>
            </p:cNvPr>
            <p:cNvGrpSpPr/>
            <p:nvPr/>
          </p:nvGrpSpPr>
          <p:grpSpPr>
            <a:xfrm>
              <a:off x="1871007" y="4268042"/>
              <a:ext cx="1039143" cy="1043040"/>
              <a:chOff x="7954338" y="203337"/>
              <a:chExt cx="1275466" cy="1149452"/>
            </a:xfrm>
          </p:grpSpPr>
          <p:pic>
            <p:nvPicPr>
              <p:cNvPr id="34" name="Grafik 33">
                <a:extLst>
                  <a:ext uri="{FF2B5EF4-FFF2-40B4-BE49-F238E27FC236}">
                    <a16:creationId xmlns:a16="http://schemas.microsoft.com/office/drawing/2014/main" id="{BE0C4B33-4623-32FF-563F-B9C98B22D2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22679" t="14811" r="19766" b="18544"/>
              <a:stretch>
                <a:fillRect/>
              </a:stretch>
            </p:blipFill>
            <p:spPr>
              <a:xfrm>
                <a:off x="7954338" y="203337"/>
                <a:ext cx="1275466" cy="1149452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35" name="Textfeld 34">
                <a:extLst>
                  <a:ext uri="{FF2B5EF4-FFF2-40B4-BE49-F238E27FC236}">
                    <a16:creationId xmlns:a16="http://schemas.microsoft.com/office/drawing/2014/main" id="{52077F89-376C-8463-F7BF-F8903E3D9A62}"/>
                  </a:ext>
                </a:extLst>
              </p:cNvPr>
              <p:cNvSpPr txBox="1"/>
              <p:nvPr/>
            </p:nvSpPr>
            <p:spPr>
              <a:xfrm>
                <a:off x="8496319" y="1024996"/>
                <a:ext cx="622143" cy="28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s-ES_tradnl" sz="1100" noProof="1"/>
                  <a:t>(TD3)</a:t>
                </a:r>
              </a:p>
            </p:txBody>
          </p:sp>
        </p:grp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4333BED0-479D-FE5E-8DA6-FE94838DB9AB}"/>
                </a:ext>
              </a:extLst>
            </p:cNvPr>
            <p:cNvSpPr txBox="1"/>
            <p:nvPr/>
          </p:nvSpPr>
          <p:spPr>
            <a:xfrm>
              <a:off x="1935966" y="4084191"/>
              <a:ext cx="862737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100" noProof="1"/>
                <a:t>Agente 600</a:t>
              </a:r>
            </a:p>
          </p:txBody>
        </p:sp>
        <p:sp>
          <p:nvSpPr>
            <p:cNvPr id="33" name="Textfeld 32">
              <a:extLst>
                <a:ext uri="{FF2B5EF4-FFF2-40B4-BE49-F238E27FC236}">
                  <a16:creationId xmlns:a16="http://schemas.microsoft.com/office/drawing/2014/main" id="{1B28BA23-FBDF-AA23-05BB-0EEA9FAE0DAD}"/>
                </a:ext>
              </a:extLst>
            </p:cNvPr>
            <p:cNvSpPr txBox="1"/>
            <p:nvPr/>
          </p:nvSpPr>
          <p:spPr>
            <a:xfrm>
              <a:off x="2897735" y="4413471"/>
              <a:ext cx="1843493" cy="6001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_tradnl" sz="1100" noProof="1"/>
                <a:t>Scen58, Reward_SystemD</a:t>
              </a:r>
            </a:p>
            <a:p>
              <a:r>
                <a:rPr lang="es-ES_tradnl" sz="1100" noProof="1"/>
                <a:t>Run_x681, 3000eps</a:t>
              </a:r>
            </a:p>
            <a:p>
              <a:r>
                <a:rPr lang="es-ES_tradnl" sz="1100" noProof="1"/>
                <a:t>Checkpoint600</a:t>
              </a:r>
            </a:p>
          </p:txBody>
        </p:sp>
      </p:grpSp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1106A007-59F9-A23A-FAE2-52CF2A18D049}"/>
              </a:ext>
            </a:extLst>
          </p:cNvPr>
          <p:cNvGrpSpPr/>
          <p:nvPr/>
        </p:nvGrpSpPr>
        <p:grpSpPr>
          <a:xfrm>
            <a:off x="3880139" y="3858646"/>
            <a:ext cx="2870221" cy="1226891"/>
            <a:chOff x="1871007" y="4084191"/>
            <a:chExt cx="2870221" cy="1226891"/>
          </a:xfrm>
        </p:grpSpPr>
        <p:grpSp>
          <p:nvGrpSpPr>
            <p:cNvPr id="39" name="Gruppieren 38">
              <a:extLst>
                <a:ext uri="{FF2B5EF4-FFF2-40B4-BE49-F238E27FC236}">
                  <a16:creationId xmlns:a16="http://schemas.microsoft.com/office/drawing/2014/main" id="{B954452C-3B53-689B-7CC7-F260873D905A}"/>
                </a:ext>
              </a:extLst>
            </p:cNvPr>
            <p:cNvGrpSpPr/>
            <p:nvPr/>
          </p:nvGrpSpPr>
          <p:grpSpPr>
            <a:xfrm>
              <a:off x="1871007" y="4268042"/>
              <a:ext cx="1039143" cy="1043040"/>
              <a:chOff x="7954338" y="203337"/>
              <a:chExt cx="1275466" cy="1149452"/>
            </a:xfrm>
          </p:grpSpPr>
          <p:pic>
            <p:nvPicPr>
              <p:cNvPr id="42" name="Grafik 41">
                <a:extLst>
                  <a:ext uri="{FF2B5EF4-FFF2-40B4-BE49-F238E27FC236}">
                    <a16:creationId xmlns:a16="http://schemas.microsoft.com/office/drawing/2014/main" id="{3D771A3C-E6AD-FD81-4F8C-3A718C7A04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22679" t="14811" r="19766" b="18544"/>
              <a:stretch>
                <a:fillRect/>
              </a:stretch>
            </p:blipFill>
            <p:spPr>
              <a:xfrm>
                <a:off x="7954338" y="203337"/>
                <a:ext cx="1275466" cy="1149452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43" name="Textfeld 42">
                <a:extLst>
                  <a:ext uri="{FF2B5EF4-FFF2-40B4-BE49-F238E27FC236}">
                    <a16:creationId xmlns:a16="http://schemas.microsoft.com/office/drawing/2014/main" id="{0496E667-3EB3-2376-E6A0-79B53E044938}"/>
                  </a:ext>
                </a:extLst>
              </p:cNvPr>
              <p:cNvSpPr txBox="1"/>
              <p:nvPr/>
            </p:nvSpPr>
            <p:spPr>
              <a:xfrm>
                <a:off x="8496319" y="1024996"/>
                <a:ext cx="622143" cy="28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s-ES_tradnl" sz="1100" noProof="1"/>
                  <a:t>(TD3)</a:t>
                </a:r>
              </a:p>
            </p:txBody>
          </p:sp>
        </p:grpSp>
        <p:sp>
          <p:nvSpPr>
            <p:cNvPr id="40" name="Textfeld 39">
              <a:extLst>
                <a:ext uri="{FF2B5EF4-FFF2-40B4-BE49-F238E27FC236}">
                  <a16:creationId xmlns:a16="http://schemas.microsoft.com/office/drawing/2014/main" id="{C27A9D85-0349-95A9-3D5E-8FA74FC86535}"/>
                </a:ext>
              </a:extLst>
            </p:cNvPr>
            <p:cNvSpPr txBox="1"/>
            <p:nvPr/>
          </p:nvSpPr>
          <p:spPr>
            <a:xfrm>
              <a:off x="1935966" y="4084191"/>
              <a:ext cx="938077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100" noProof="1"/>
                <a:t>Agente 1000</a:t>
              </a:r>
            </a:p>
          </p:txBody>
        </p: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4DC6441C-F927-6FCF-CC32-3892B2511F57}"/>
                </a:ext>
              </a:extLst>
            </p:cNvPr>
            <p:cNvSpPr txBox="1"/>
            <p:nvPr/>
          </p:nvSpPr>
          <p:spPr>
            <a:xfrm>
              <a:off x="2897735" y="4413471"/>
              <a:ext cx="1843493" cy="6001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_tradnl" sz="1100" noProof="1"/>
                <a:t>Scen58, Reward_SystemI</a:t>
              </a:r>
            </a:p>
            <a:p>
              <a:r>
                <a:rPr lang="es-ES_tradnl" sz="1100" noProof="1"/>
                <a:t>Run_x427, 1000eps</a:t>
              </a:r>
            </a:p>
            <a:p>
              <a:r>
                <a:rPr lang="es-ES_tradnl" sz="1100" noProof="1"/>
                <a:t>Checkpoint200</a:t>
              </a:r>
            </a:p>
          </p:txBody>
        </p:sp>
      </p:grp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5E9FE594-AF2D-2EA3-C424-01F83075A850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3188208" y="4545573"/>
            <a:ext cx="438457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feld 25">
            <a:extLst>
              <a:ext uri="{FF2B5EF4-FFF2-40B4-BE49-F238E27FC236}">
                <a16:creationId xmlns:a16="http://schemas.microsoft.com/office/drawing/2014/main" id="{F488C374-283C-1550-0EFC-ABBB2B511040}"/>
              </a:ext>
            </a:extLst>
          </p:cNvPr>
          <p:cNvSpPr txBox="1"/>
          <p:nvPr/>
        </p:nvSpPr>
        <p:spPr>
          <a:xfrm>
            <a:off x="2799960" y="4414768"/>
            <a:ext cx="38824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b="1" noProof="1"/>
              <a:t>(…)</a:t>
            </a:r>
            <a:endParaRPr lang="es-ES_tradnl" sz="1100" noProof="1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11536C64-710D-A3B3-DFC6-F8911E0A2BDB}"/>
              </a:ext>
            </a:extLst>
          </p:cNvPr>
          <p:cNvSpPr txBox="1"/>
          <p:nvPr/>
        </p:nvSpPr>
        <p:spPr>
          <a:xfrm>
            <a:off x="942511" y="5048989"/>
            <a:ext cx="38824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b="1" noProof="1"/>
              <a:t>(…)</a:t>
            </a:r>
            <a:endParaRPr lang="es-ES_tradnl" sz="1100" noProof="1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7255EE4-66D6-77F4-4D8F-46D23AF1C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8476" y="6356350"/>
            <a:ext cx="11108724" cy="365125"/>
          </a:xfrm>
        </p:spPr>
        <p:txBody>
          <a:bodyPr/>
          <a:lstStyle/>
          <a:p>
            <a:r>
              <a:rPr lang="es-ES_tradnl" sz="1000" noProof="1">
                <a:solidFill>
                  <a:schemeClr val="tx1"/>
                </a:solidFill>
              </a:rPr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2415337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7AD18-8928-E3A4-6625-976DEA5F7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2">
            <a:extLst>
              <a:ext uri="{FF2B5EF4-FFF2-40B4-BE49-F238E27FC236}">
                <a16:creationId xmlns:a16="http://schemas.microsoft.com/office/drawing/2014/main" id="{260F349C-D7D6-EC2B-C191-F1F2598FDF1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Curva de Aprendizaje y Métricas. Agente2000</a:t>
            </a:r>
          </a:p>
          <a:p>
            <a:endParaRPr lang="es-ES_tradnl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Inhaltsplatzhalter 28">
                <a:extLst>
                  <a:ext uri="{FF2B5EF4-FFF2-40B4-BE49-F238E27FC236}">
                    <a16:creationId xmlns:a16="http://schemas.microsoft.com/office/drawing/2014/main" id="{452E2648-86A6-0700-6754-32AF7093BB02}"/>
                  </a:ext>
                </a:extLst>
              </p:cNvPr>
              <p:cNvGraphicFramePr>
                <a:graphicFrameLocks noGrp="1"/>
              </p:cNvGraphicFramePr>
              <p:nvPr>
                <p:ph sz="quarter" idx="14"/>
              </p:nvPr>
            </p:nvGraphicFramePr>
            <p:xfrm>
              <a:off x="6556375" y="2636838"/>
              <a:ext cx="5190134" cy="345008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212478">
                      <a:extLst>
                        <a:ext uri="{9D8B030D-6E8A-4147-A177-3AD203B41FA5}">
                          <a16:colId xmlns:a16="http://schemas.microsoft.com/office/drawing/2014/main" val="2405561049"/>
                        </a:ext>
                      </a:extLst>
                    </a:gridCol>
                    <a:gridCol w="605933">
                      <a:extLst>
                        <a:ext uri="{9D8B030D-6E8A-4147-A177-3AD203B41FA5}">
                          <a16:colId xmlns:a16="http://schemas.microsoft.com/office/drawing/2014/main" val="488062266"/>
                        </a:ext>
                      </a:extLst>
                    </a:gridCol>
                    <a:gridCol w="678620">
                      <a:extLst>
                        <a:ext uri="{9D8B030D-6E8A-4147-A177-3AD203B41FA5}">
                          <a16:colId xmlns:a16="http://schemas.microsoft.com/office/drawing/2014/main" val="1893478119"/>
                        </a:ext>
                      </a:extLst>
                    </a:gridCol>
                    <a:gridCol w="244939">
                      <a:extLst>
                        <a:ext uri="{9D8B030D-6E8A-4147-A177-3AD203B41FA5}">
                          <a16:colId xmlns:a16="http://schemas.microsoft.com/office/drawing/2014/main" val="3116834067"/>
                        </a:ext>
                      </a:extLst>
                    </a:gridCol>
                    <a:gridCol w="1308376">
                      <a:extLst>
                        <a:ext uri="{9D8B030D-6E8A-4147-A177-3AD203B41FA5}">
                          <a16:colId xmlns:a16="http://schemas.microsoft.com/office/drawing/2014/main" val="2774520855"/>
                        </a:ext>
                      </a:extLst>
                    </a:gridCol>
                    <a:gridCol w="538742">
                      <a:extLst>
                        <a:ext uri="{9D8B030D-6E8A-4147-A177-3AD203B41FA5}">
                          <a16:colId xmlns:a16="http://schemas.microsoft.com/office/drawing/2014/main" val="1733927255"/>
                        </a:ext>
                      </a:extLst>
                    </a:gridCol>
                    <a:gridCol w="601046">
                      <a:extLst>
                        <a:ext uri="{9D8B030D-6E8A-4147-A177-3AD203B41FA5}">
                          <a16:colId xmlns:a16="http://schemas.microsoft.com/office/drawing/2014/main" val="798805586"/>
                        </a:ext>
                      </a:extLst>
                    </a:gridCol>
                  </a:tblGrid>
                  <a:tr h="0"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Training Stats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Advanced Agent Options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747692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4935132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de episodios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𝑒𝑝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Tiempo muestreo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5199987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Recompensa total último episodio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𝑒𝑝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-200.605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Factor descuento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5318919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Recompensa Media 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-199.16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Tamaño del Batchize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256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6950445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Pasos último episodio 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Tamaño del Exp. Buffer 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400000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1870570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Número total de pasos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𝑠𝑡𝑒𝑝𝑠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1.2e+06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Modo del Buffer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Reset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29802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Promedio pasos/eps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Taza aprendizaje actor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1.0000e-04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4629458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 Q estimado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-140.454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Optimizador del actor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adam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6183823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Taza aprendizaje critico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0.007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7414733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Optimizador del critico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adam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2305789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Coeficiente actualización suave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6370912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5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1244666"/>
                      </a:ext>
                    </a:extLst>
                  </a:tr>
                  <a:tr h="0"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Exploration Gaussian Model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Target Policy Smoothing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261586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579180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6693710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2302959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Lower Lim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Lower Lim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7354726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 Lim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 Lim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2754715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decay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1.1194e-06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decay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8.9413e-07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1371702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min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min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9099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Inhaltsplatzhalter 28">
                <a:extLst>
                  <a:ext uri="{FF2B5EF4-FFF2-40B4-BE49-F238E27FC236}">
                    <a16:creationId xmlns:a16="http://schemas.microsoft.com/office/drawing/2014/main" id="{452E2648-86A6-0700-6754-32AF7093BB02}"/>
                  </a:ext>
                </a:extLst>
              </p:cNvPr>
              <p:cNvGraphicFramePr>
                <a:graphicFrameLocks noGrp="1"/>
              </p:cNvGraphicFramePr>
              <p:nvPr>
                <p:ph sz="quarter" idx="14"/>
                <p:extLst>
                  <p:ext uri="{D42A27DB-BD31-4B8C-83A1-F6EECF244321}">
                    <p14:modId xmlns:p14="http://schemas.microsoft.com/office/powerpoint/2010/main" val="882943802"/>
                  </p:ext>
                </p:extLst>
              </p:nvPr>
            </p:nvGraphicFramePr>
            <p:xfrm>
              <a:off x="6556375" y="2636838"/>
              <a:ext cx="5190134" cy="345008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212478">
                      <a:extLst>
                        <a:ext uri="{9D8B030D-6E8A-4147-A177-3AD203B41FA5}">
                          <a16:colId xmlns:a16="http://schemas.microsoft.com/office/drawing/2014/main" val="2405561049"/>
                        </a:ext>
                      </a:extLst>
                    </a:gridCol>
                    <a:gridCol w="605933">
                      <a:extLst>
                        <a:ext uri="{9D8B030D-6E8A-4147-A177-3AD203B41FA5}">
                          <a16:colId xmlns:a16="http://schemas.microsoft.com/office/drawing/2014/main" val="488062266"/>
                        </a:ext>
                      </a:extLst>
                    </a:gridCol>
                    <a:gridCol w="678620">
                      <a:extLst>
                        <a:ext uri="{9D8B030D-6E8A-4147-A177-3AD203B41FA5}">
                          <a16:colId xmlns:a16="http://schemas.microsoft.com/office/drawing/2014/main" val="1893478119"/>
                        </a:ext>
                      </a:extLst>
                    </a:gridCol>
                    <a:gridCol w="244939">
                      <a:extLst>
                        <a:ext uri="{9D8B030D-6E8A-4147-A177-3AD203B41FA5}">
                          <a16:colId xmlns:a16="http://schemas.microsoft.com/office/drawing/2014/main" val="3116834067"/>
                        </a:ext>
                      </a:extLst>
                    </a:gridCol>
                    <a:gridCol w="1308376">
                      <a:extLst>
                        <a:ext uri="{9D8B030D-6E8A-4147-A177-3AD203B41FA5}">
                          <a16:colId xmlns:a16="http://schemas.microsoft.com/office/drawing/2014/main" val="2774520855"/>
                        </a:ext>
                      </a:extLst>
                    </a:gridCol>
                    <a:gridCol w="538742">
                      <a:extLst>
                        <a:ext uri="{9D8B030D-6E8A-4147-A177-3AD203B41FA5}">
                          <a16:colId xmlns:a16="http://schemas.microsoft.com/office/drawing/2014/main" val="1733927255"/>
                        </a:ext>
                      </a:extLst>
                    </a:gridCol>
                    <a:gridCol w="601046">
                      <a:extLst>
                        <a:ext uri="{9D8B030D-6E8A-4147-A177-3AD203B41FA5}">
                          <a16:colId xmlns:a16="http://schemas.microsoft.com/office/drawing/2014/main" val="798805586"/>
                        </a:ext>
                      </a:extLst>
                    </a:gridCol>
                  </a:tblGrid>
                  <a:tr h="137160"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Training Stats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Advanced Agent Options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7476921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49351327"/>
                      </a:ext>
                    </a:extLst>
                  </a:tr>
                  <a:tr h="14770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de episodios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06383" t="-227273" r="-570213" b="-22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Tiempo muestreo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744186" t="-227273" r="-113953" b="-22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5199987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Recompensa total último episodio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06383" t="-163636" r="-570213" b="-10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-200.605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Factor descuento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744186" t="-163636" r="-113953" b="-10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53189194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Recompensa Media 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06383" t="-527273" r="-570213" b="-19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-199.16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Tamaño del Batchize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744186" t="-527273" r="-113953" b="-19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256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69504454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Pasos último episodio 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Tamaño del Exp. Buffer 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400000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18705704"/>
                      </a:ext>
                    </a:extLst>
                  </a:tr>
                  <a:tr h="14770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Número total de pasos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06383" t="-727273" r="-570213" b="-17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1.2e+06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Modo del Buffer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Reset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298020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Promedio pasos/eps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Taza aprendizaje actor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744186" t="-413636" r="-113953" b="-76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1.0000e-04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46294582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 Q estimado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06383" t="-1027273" r="-570213" b="-14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-140.454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Optimizador del actor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adam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61838232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Taza aprendizaje critico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744186" t="-1127273" r="-113953" b="-13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0.007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74147338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Optimizador del critico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adam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2305789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Coeficiente actualización suave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744186" t="-695238" r="-113953" b="-5476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63709122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5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1244666"/>
                      </a:ext>
                    </a:extLst>
                  </a:tr>
                  <a:tr h="137160"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Exploration Gaussian Model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Target Policy Smoothing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2615868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5791803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06383" t="-1818182" r="-570213" b="-6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744186" t="-1818182" r="-113953" b="-6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66937107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06383" t="-1918182" r="-570213" b="-5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744186" t="-1918182" r="-113953" b="-5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23029594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Lower Lim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Lower Lim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73547265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 Lim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 Lim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2754715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decay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06383" t="-1104545" r="-570213" b="-7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1.1194e-06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decay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744186" t="-1104545" r="-113953" b="-7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8.9413e-07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13717025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min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06383" t="-2409091" r="-570213" b="-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min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744186" t="-2409091" r="-113953" b="-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90990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3" name="Onlinebild-Platzhalter 12">
            <a:extLst>
              <a:ext uri="{FF2B5EF4-FFF2-40B4-BE49-F238E27FC236}">
                <a16:creationId xmlns:a16="http://schemas.microsoft.com/office/drawing/2014/main" id="{624A6281-D1C7-034A-5638-36AA16C266DC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3"/>
          <a:stretch>
            <a:fillRect/>
          </a:stretch>
        </p:blipFill>
        <p:spPr>
          <a:xfrm>
            <a:off x="748366" y="2636838"/>
            <a:ext cx="5243793" cy="3278187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49A658A6-5A2F-74FF-769F-E48491159A0A}"/>
              </a:ext>
            </a:extLst>
          </p:cNvPr>
          <p:cNvSpPr txBox="1">
            <a:spLocks/>
          </p:cNvSpPr>
          <p:nvPr/>
        </p:nvSpPr>
        <p:spPr>
          <a:xfrm>
            <a:off x="778476" y="6356350"/>
            <a:ext cx="11108724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1000" noProof="1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1149209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BDFCD-D574-A5AA-0EFC-384375133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B8C8946-3C17-86EF-08A9-E293ECECE882}"/>
              </a:ext>
            </a:extLst>
          </p:cNvPr>
          <p:cNvSpPr txBox="1">
            <a:spLocks noGrp="1"/>
          </p:cNvSpPr>
          <p:nvPr>
            <p:ph sz="quarter" idx="14"/>
          </p:nvPr>
        </p:nvSpPr>
        <p:spPr>
          <a:xfrm>
            <a:off x="2011337" y="5656422"/>
            <a:ext cx="8169326" cy="674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spcBef>
                <a:spcPts val="0"/>
              </a:spcBef>
            </a:pPr>
            <a:r>
              <a:rPr lang="es-ES_tradnl" sz="1400" noProof="1"/>
              <a:t>El RMSE presenta un mínimo en la región central del dominio angular.</a:t>
            </a:r>
          </a:p>
          <a:p>
            <a:pPr marL="0" indent="0">
              <a:spcBef>
                <a:spcPts val="0"/>
              </a:spcBef>
            </a:pPr>
            <a:r>
              <a:rPr lang="es-ES_tradnl" sz="1400" noProof="1"/>
              <a:t>El error aumenta hacia los extremos, mostrando una degradación progresiva del desempeño fuera del rango nominal.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4301FAD-F1B2-4449-18B0-B576660E3BC4}"/>
              </a:ext>
            </a:extLst>
          </p:cNvPr>
          <p:cNvSpPr txBox="1">
            <a:spLocks noGrp="1"/>
          </p:cNvSpPr>
          <p:nvPr>
            <p:ph type="body" sz="quarter" idx="12"/>
          </p:nvPr>
        </p:nvSpPr>
        <p:spPr>
          <a:xfrm>
            <a:off x="520861" y="1446790"/>
            <a:ext cx="10012101" cy="774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Top3 Curvas RMSE en el Dominio Angular</a:t>
            </a:r>
            <a:endParaRPr lang="es-ES_tradnl" b="1" noProof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s-ES_tradnl" b="1" noProof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Onlinebild-Platzhalter 4">
            <a:extLst>
              <a:ext uri="{FF2B5EF4-FFF2-40B4-BE49-F238E27FC236}">
                <a16:creationId xmlns:a16="http://schemas.microsoft.com/office/drawing/2014/main" id="{836EC5DB-3EED-1ACE-E43E-0427409311C4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249028" y="2254250"/>
            <a:ext cx="5462170" cy="3098800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1C1F4D34-5EB4-644A-0461-9E9772E7FB92}"/>
              </a:ext>
            </a:extLst>
          </p:cNvPr>
          <p:cNvSpPr txBox="1">
            <a:spLocks/>
          </p:cNvSpPr>
          <p:nvPr/>
        </p:nvSpPr>
        <p:spPr>
          <a:xfrm>
            <a:off x="778476" y="6356350"/>
            <a:ext cx="11108724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1000" noProof="1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1961781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A486A-393A-F33F-D699-1E1C33265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1357B6E-112C-C36C-97DF-19E0FB2919F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871989" y="5510118"/>
            <a:ext cx="7315200" cy="677305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es-ES_tradnl" sz="1400" noProof="1"/>
              <a:t>El RMSE presenta oscilaciones durante el entrenamiento, sin convergencia monótona.</a:t>
            </a:r>
          </a:p>
          <a:p>
            <a:pPr marL="0" indent="0">
              <a:spcBef>
                <a:spcPts val="0"/>
              </a:spcBef>
            </a:pPr>
            <a:r>
              <a:rPr lang="es-ES_tradnl" sz="1400" noProof="1"/>
              <a:t>El mejor desempeño se alcanza en etapas avanzadas (~1900 episodios), tras fases intermedias de degradación y recuperación.</a:t>
            </a:r>
          </a:p>
        </p:txBody>
      </p:sp>
      <p:sp>
        <p:nvSpPr>
          <p:cNvPr id="6" name="Textplatzhalter 6">
            <a:extLst>
              <a:ext uri="{FF2B5EF4-FFF2-40B4-BE49-F238E27FC236}">
                <a16:creationId xmlns:a16="http://schemas.microsoft.com/office/drawing/2014/main" id="{EBC96420-7228-ACDB-7419-4DBE9F43C128}"/>
              </a:ext>
            </a:extLst>
          </p:cNvPr>
          <p:cNvSpPr txBox="1">
            <a:spLocks noGrp="1"/>
          </p:cNvSpPr>
          <p:nvPr>
            <p:ph type="body" sz="quarter" idx="12"/>
          </p:nvPr>
        </p:nvSpPr>
        <p:spPr>
          <a:xfrm>
            <a:off x="520861" y="1446790"/>
            <a:ext cx="9503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Progresión del RMSE durante el entrenamiento</a:t>
            </a:r>
            <a:endParaRPr lang="es-ES_tradnl" b="1" noProof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8" name="Onlinebild-Platzhalter 7">
            <a:extLst>
              <a:ext uri="{FF2B5EF4-FFF2-40B4-BE49-F238E27FC236}">
                <a16:creationId xmlns:a16="http://schemas.microsoft.com/office/drawing/2014/main" id="{22BC26D1-E56A-8189-5187-3A26CDCAFBE0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249028" y="2254250"/>
            <a:ext cx="5462170" cy="3098800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73BB6AB6-D2F7-C24C-6D37-20DE9D26532B}"/>
              </a:ext>
            </a:extLst>
          </p:cNvPr>
          <p:cNvSpPr txBox="1">
            <a:spLocks/>
          </p:cNvSpPr>
          <p:nvPr/>
        </p:nvSpPr>
        <p:spPr>
          <a:xfrm>
            <a:off x="778476" y="6356350"/>
            <a:ext cx="11108724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1000" noProof="1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2887807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70CBD-251B-B95C-B621-EBD8BDD4E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2C22DA58-1A74-AA80-9879-9D8658D55E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1" y="1446790"/>
            <a:ext cx="9086126" cy="449263"/>
          </a:xfrm>
        </p:spPr>
        <p:txBody>
          <a:bodyPr>
            <a:normAutofit fontScale="92500"/>
          </a:bodyPr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Selección del Agente en base a su rendimiento. Evaluación Determinista en la simulación</a:t>
            </a:r>
            <a:endParaRPr lang="es-ES_tradnl" b="1" noProof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s-ES_tradnl" noProof="1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1CBFCCF-D859-08FC-838E-D42D6DC3A87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694330" y="5653005"/>
            <a:ext cx="9174298" cy="677305"/>
          </a:xfrm>
        </p:spPr>
        <p:txBody>
          <a:bodyPr/>
          <a:lstStyle/>
          <a:p>
            <a:r>
              <a:rPr lang="es-ES_tradnl" b="1" noProof="1"/>
              <a:t>El Agente1900 mantiene la mejor posición en el ranking, al presentar  los menores valores  en las métricas de error y mejor compromiso global de desempeño.</a:t>
            </a:r>
            <a:endParaRPr lang="es-ES_tradnl" noProof="1"/>
          </a:p>
          <a:p>
            <a:endParaRPr lang="es-ES_tradnl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Inhaltsplatzhalter 4">
                <a:extLst>
                  <a:ext uri="{FF2B5EF4-FFF2-40B4-BE49-F238E27FC236}">
                    <a16:creationId xmlns:a16="http://schemas.microsoft.com/office/drawing/2014/main" id="{C01602EF-A7A9-37F3-AA8D-A0FE3FE8C877}"/>
                  </a:ext>
                </a:extLst>
              </p:cNvPr>
              <p:cNvGraphicFramePr>
                <a:graphicFrameLocks noGrp="1"/>
              </p:cNvGraphicFramePr>
              <p:nvPr>
                <p:ph sz="quarter" idx="14"/>
              </p:nvPr>
            </p:nvGraphicFramePr>
            <p:xfrm>
              <a:off x="3900490" y="2449515"/>
              <a:ext cx="6748805" cy="2969333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746820">
                      <a:extLst>
                        <a:ext uri="{9D8B030D-6E8A-4147-A177-3AD203B41FA5}">
                          <a16:colId xmlns:a16="http://schemas.microsoft.com/office/drawing/2014/main" val="2827808625"/>
                        </a:ext>
                      </a:extLst>
                    </a:gridCol>
                    <a:gridCol w="1109204">
                      <a:extLst>
                        <a:ext uri="{9D8B030D-6E8A-4147-A177-3AD203B41FA5}">
                          <a16:colId xmlns:a16="http://schemas.microsoft.com/office/drawing/2014/main" val="2804800256"/>
                        </a:ext>
                      </a:extLst>
                    </a:gridCol>
                    <a:gridCol w="1098476">
                      <a:extLst>
                        <a:ext uri="{9D8B030D-6E8A-4147-A177-3AD203B41FA5}">
                          <a16:colId xmlns:a16="http://schemas.microsoft.com/office/drawing/2014/main" val="3404630540"/>
                        </a:ext>
                      </a:extLst>
                    </a:gridCol>
                    <a:gridCol w="1010265">
                      <a:extLst>
                        <a:ext uri="{9D8B030D-6E8A-4147-A177-3AD203B41FA5}">
                          <a16:colId xmlns:a16="http://schemas.microsoft.com/office/drawing/2014/main" val="2864191071"/>
                        </a:ext>
                      </a:extLst>
                    </a:gridCol>
                    <a:gridCol w="929205">
                      <a:extLst>
                        <a:ext uri="{9D8B030D-6E8A-4147-A177-3AD203B41FA5}">
                          <a16:colId xmlns:a16="http://schemas.microsoft.com/office/drawing/2014/main" val="878613398"/>
                        </a:ext>
                      </a:extLst>
                    </a:gridCol>
                    <a:gridCol w="844570">
                      <a:extLst>
                        <a:ext uri="{9D8B030D-6E8A-4147-A177-3AD203B41FA5}">
                          <a16:colId xmlns:a16="http://schemas.microsoft.com/office/drawing/2014/main" val="372759601"/>
                        </a:ext>
                      </a:extLst>
                    </a:gridCol>
                    <a:gridCol w="1010265">
                      <a:extLst>
                        <a:ext uri="{9D8B030D-6E8A-4147-A177-3AD203B41FA5}">
                          <a16:colId xmlns:a16="http://schemas.microsoft.com/office/drawing/2014/main" val="3930562926"/>
                        </a:ext>
                      </a:extLst>
                    </a:gridCol>
                  </a:tblGrid>
                  <a:tr h="483117">
                    <a:tc gridSpan="7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Tabla con posición de los agentes según sus métricas 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4343187"/>
                      </a:ext>
                    </a:extLst>
                  </a:tr>
                  <a:tr h="227114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Position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Agente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900" i="1" noProof="1" dirty="0" smtClean="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𝑅𝑀𝑆</m:t>
                                </m:r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𝑔𝑙𝑜𝑏𝑎𝑙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900" i="1" noProof="1" dirty="0" smtClean="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𝑅𝑀𝑆</m:t>
                                </m:r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𝑚𝑎𝑥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s-ES_tradnl" sz="900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𝑎𝑛𝑔𝑢𝑙𝑎𝑟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900" i="1" noProof="1" dirty="0" smtClean="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𝑅𝑎𝑡𝑖</m:t>
                                </m:r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𝑒𝑥𝑡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i="1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AUC</a:t>
                          </a:r>
                          <a:endParaRPr lang="es-ES_tradnl" sz="9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32638124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Agent1900.mat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35.6079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69.0122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16.5240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1.9381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33.8498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20458715"/>
                      </a:ext>
                    </a:extLst>
                  </a:tr>
                  <a:tr h="22681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Agent300.mat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37.0973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64.8610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16.3866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1.7484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36.0126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47234824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Agent100.mat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37.7710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71.9503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16.3036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1.9049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36.7627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44789796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Agent200.mat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38.8326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65.7313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15.0605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1.6927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37.8612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10691002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Agent400.mat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39.1888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71.6536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18.0865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1.8284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38.2025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92708556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Agent1000.mat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40.6655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84.5003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16.6050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2.0779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39.6498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71250826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Agent1100.mat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41.0363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68.9146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14.8269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1.6794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39.5691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72749595"/>
                      </a:ext>
                    </a:extLst>
                  </a:tr>
                  <a:tr h="21009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Agent1700.mat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41.2308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66.9294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12.7999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1.6233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40.3713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37179832"/>
                      </a:ext>
                    </a:extLst>
                  </a:tr>
                  <a:tr h="21009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Agent2000.mat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41.5949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75.9852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23.5092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1.8268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40.2038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72674504"/>
                      </a:ext>
                    </a:extLst>
                  </a:tr>
                  <a:tr h="31769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Agent1200.mat</a:t>
                          </a: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44.1573</a:t>
                          </a: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71.5813</a:t>
                          </a: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15.9053</a:t>
                          </a: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1.6211</a:t>
                          </a: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42.7139</a:t>
                          </a: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27041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Inhaltsplatzhalter 4">
                <a:extLst>
                  <a:ext uri="{FF2B5EF4-FFF2-40B4-BE49-F238E27FC236}">
                    <a16:creationId xmlns:a16="http://schemas.microsoft.com/office/drawing/2014/main" id="{C01602EF-A7A9-37F3-AA8D-A0FE3FE8C877}"/>
                  </a:ext>
                </a:extLst>
              </p:cNvPr>
              <p:cNvGraphicFramePr>
                <a:graphicFrameLocks noGrp="1"/>
              </p:cNvGraphicFramePr>
              <p:nvPr>
                <p:ph sz="quarter" idx="14"/>
                <p:extLst>
                  <p:ext uri="{D42A27DB-BD31-4B8C-83A1-F6EECF244321}">
                    <p14:modId xmlns:p14="http://schemas.microsoft.com/office/powerpoint/2010/main" val="594184032"/>
                  </p:ext>
                </p:extLst>
              </p:nvPr>
            </p:nvGraphicFramePr>
            <p:xfrm>
              <a:off x="3900490" y="2449515"/>
              <a:ext cx="6748805" cy="2969333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746820">
                      <a:extLst>
                        <a:ext uri="{9D8B030D-6E8A-4147-A177-3AD203B41FA5}">
                          <a16:colId xmlns:a16="http://schemas.microsoft.com/office/drawing/2014/main" val="2827808625"/>
                        </a:ext>
                      </a:extLst>
                    </a:gridCol>
                    <a:gridCol w="1109204">
                      <a:extLst>
                        <a:ext uri="{9D8B030D-6E8A-4147-A177-3AD203B41FA5}">
                          <a16:colId xmlns:a16="http://schemas.microsoft.com/office/drawing/2014/main" val="2804800256"/>
                        </a:ext>
                      </a:extLst>
                    </a:gridCol>
                    <a:gridCol w="1098476">
                      <a:extLst>
                        <a:ext uri="{9D8B030D-6E8A-4147-A177-3AD203B41FA5}">
                          <a16:colId xmlns:a16="http://schemas.microsoft.com/office/drawing/2014/main" val="3404630540"/>
                        </a:ext>
                      </a:extLst>
                    </a:gridCol>
                    <a:gridCol w="1010265">
                      <a:extLst>
                        <a:ext uri="{9D8B030D-6E8A-4147-A177-3AD203B41FA5}">
                          <a16:colId xmlns:a16="http://schemas.microsoft.com/office/drawing/2014/main" val="2864191071"/>
                        </a:ext>
                      </a:extLst>
                    </a:gridCol>
                    <a:gridCol w="929205">
                      <a:extLst>
                        <a:ext uri="{9D8B030D-6E8A-4147-A177-3AD203B41FA5}">
                          <a16:colId xmlns:a16="http://schemas.microsoft.com/office/drawing/2014/main" val="878613398"/>
                        </a:ext>
                      </a:extLst>
                    </a:gridCol>
                    <a:gridCol w="844570">
                      <a:extLst>
                        <a:ext uri="{9D8B030D-6E8A-4147-A177-3AD203B41FA5}">
                          <a16:colId xmlns:a16="http://schemas.microsoft.com/office/drawing/2014/main" val="372759601"/>
                        </a:ext>
                      </a:extLst>
                    </a:gridCol>
                    <a:gridCol w="1010265">
                      <a:extLst>
                        <a:ext uri="{9D8B030D-6E8A-4147-A177-3AD203B41FA5}">
                          <a16:colId xmlns:a16="http://schemas.microsoft.com/office/drawing/2014/main" val="3930562926"/>
                        </a:ext>
                      </a:extLst>
                    </a:gridCol>
                  </a:tblGrid>
                  <a:tr h="483117">
                    <a:tc gridSpan="7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Tabla con posición de los agentes según sus métricas 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4343187"/>
                      </a:ext>
                    </a:extLst>
                  </a:tr>
                  <a:tr h="227114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Position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Agente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8966" t="-222222" r="-345977" b="-10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2500" t="-222222" r="-276250" b="-10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30137" t="-222222" r="-202740" b="-10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86364" t="-222222" r="-124242" b="-10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i="1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AUC</a:t>
                          </a:r>
                          <a:endParaRPr lang="es-ES_tradnl" sz="9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32638124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Agent1900.mat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35.6079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69.0122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16.5240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1.9381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33.8498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20458715"/>
                      </a:ext>
                    </a:extLst>
                  </a:tr>
                  <a:tr h="22681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Agent300.mat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37.0973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64.8610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16.3866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1.7484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36.0126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47234824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Agent100.mat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37.7710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71.9503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16.3036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1.9049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36.7627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44789796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Agent200.mat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38.8326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65.7313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15.0605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1.6927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37.8612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10691002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Agent400.mat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39.1888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71.6536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18.0865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1.8284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38.2025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92708556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Agent1000.mat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40.6655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84.5003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16.6050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2.0779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39.6498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71250826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Agent1100.mat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41.0363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68.9146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14.8269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1.6794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39.5691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72749595"/>
                      </a:ext>
                    </a:extLst>
                  </a:tr>
                  <a:tr h="21009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Agent1700.mat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41.2308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66.9294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12.7999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1.6233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40.3713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37179832"/>
                      </a:ext>
                    </a:extLst>
                  </a:tr>
                  <a:tr h="21009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Agent2000.mat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41.5949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75.9852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23.5092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1.8268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40.2038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72674504"/>
                      </a:ext>
                    </a:extLst>
                  </a:tr>
                  <a:tr h="31769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Agent1200.mat</a:t>
                          </a: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44.1573</a:t>
                          </a: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71.5813</a:t>
                          </a: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15.9053</a:t>
                          </a: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1.6211</a:t>
                          </a: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105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42.7139</a:t>
                          </a: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2704188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14C8A97F-FEB7-7068-E59C-2CAFFE3A9F9A}"/>
              </a:ext>
            </a:extLst>
          </p:cNvPr>
          <p:cNvGrpSpPr/>
          <p:nvPr/>
        </p:nvGrpSpPr>
        <p:grpSpPr>
          <a:xfrm>
            <a:off x="431109" y="2568053"/>
            <a:ext cx="2335123" cy="2787389"/>
            <a:chOff x="7015754" y="3707990"/>
            <a:chExt cx="2335123" cy="2787389"/>
          </a:xfrm>
        </p:grpSpPr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6589A46B-3E14-6486-1582-7660BB82F094}"/>
                </a:ext>
              </a:extLst>
            </p:cNvPr>
            <p:cNvGrpSpPr/>
            <p:nvPr/>
          </p:nvGrpSpPr>
          <p:grpSpPr>
            <a:xfrm>
              <a:off x="7686988" y="4590533"/>
              <a:ext cx="1039143" cy="1226891"/>
              <a:chOff x="2340512" y="2888303"/>
              <a:chExt cx="1039143" cy="1226891"/>
            </a:xfrm>
          </p:grpSpPr>
          <p:grpSp>
            <p:nvGrpSpPr>
              <p:cNvPr id="10" name="Gruppieren 9">
                <a:extLst>
                  <a:ext uri="{FF2B5EF4-FFF2-40B4-BE49-F238E27FC236}">
                    <a16:creationId xmlns:a16="http://schemas.microsoft.com/office/drawing/2014/main" id="{7601CC5E-8983-4529-F716-482DB975898F}"/>
                  </a:ext>
                </a:extLst>
              </p:cNvPr>
              <p:cNvGrpSpPr/>
              <p:nvPr/>
            </p:nvGrpSpPr>
            <p:grpSpPr>
              <a:xfrm>
                <a:off x="2340512" y="3072154"/>
                <a:ext cx="1039143" cy="1043040"/>
                <a:chOff x="7793778" y="-23609"/>
                <a:chExt cx="1275466" cy="1149452"/>
              </a:xfrm>
            </p:grpSpPr>
            <p:pic>
              <p:nvPicPr>
                <p:cNvPr id="12" name="Grafik 11">
                  <a:extLst>
                    <a:ext uri="{FF2B5EF4-FFF2-40B4-BE49-F238E27FC236}">
                      <a16:creationId xmlns:a16="http://schemas.microsoft.com/office/drawing/2014/main" id="{8E82202D-294A-4C83-EE18-A98E1FD944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l="22679" t="14811" r="19766" b="18544"/>
                <a:stretch>
                  <a:fillRect/>
                </a:stretch>
              </p:blipFill>
              <p:spPr>
                <a:xfrm>
                  <a:off x="7793778" y="-23609"/>
                  <a:ext cx="1275466" cy="1149452"/>
                </a:xfrm>
                <a:prstGeom prst="rect">
                  <a:avLst/>
                </a:prstGeom>
              </p:spPr>
            </p:pic>
            <p:sp>
              <p:nvSpPr>
                <p:cNvPr id="13" name="Textfeld 12">
                  <a:extLst>
                    <a:ext uri="{FF2B5EF4-FFF2-40B4-BE49-F238E27FC236}">
                      <a16:creationId xmlns:a16="http://schemas.microsoft.com/office/drawing/2014/main" id="{A2CD7BD2-78D2-5581-1B78-7F703AB1C740}"/>
                    </a:ext>
                  </a:extLst>
                </p:cNvPr>
                <p:cNvSpPr txBox="1"/>
                <p:nvPr/>
              </p:nvSpPr>
              <p:spPr>
                <a:xfrm>
                  <a:off x="8402980" y="809204"/>
                  <a:ext cx="622143" cy="2883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_tradnl" sz="1100" noProof="1"/>
                    <a:t>(TD3)</a:t>
                  </a:r>
                </a:p>
              </p:txBody>
            </p:sp>
          </p:grpSp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6CD1D076-5F53-D440-B0F2-CC53BAE094E6}"/>
                  </a:ext>
                </a:extLst>
              </p:cNvPr>
              <p:cNvSpPr txBox="1"/>
              <p:nvPr/>
            </p:nvSpPr>
            <p:spPr>
              <a:xfrm>
                <a:off x="2405471" y="2888303"/>
                <a:ext cx="938077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1100" noProof="1"/>
                  <a:t>Agente 2000</a:t>
                </a:r>
              </a:p>
            </p:txBody>
          </p:sp>
        </p:grpSp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D662F055-0417-8899-E6C6-31D0F5DBE891}"/>
                </a:ext>
              </a:extLst>
            </p:cNvPr>
            <p:cNvSpPr txBox="1"/>
            <p:nvPr/>
          </p:nvSpPr>
          <p:spPr>
            <a:xfrm>
              <a:off x="7441766" y="6064492"/>
              <a:ext cx="152958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100" b="1" noProof="1"/>
                <a:t>Agente seleccionado</a:t>
              </a:r>
            </a:p>
            <a:p>
              <a:r>
                <a:rPr lang="es-ES_tradnl" sz="1100" noProof="1"/>
                <a:t>Checkpoint1900</a:t>
              </a:r>
            </a:p>
          </p:txBody>
        </p: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8C9E8B3B-DF2B-0485-692B-DF77AB32820A}"/>
                </a:ext>
              </a:extLst>
            </p:cNvPr>
            <p:cNvSpPr txBox="1"/>
            <p:nvPr/>
          </p:nvSpPr>
          <p:spPr>
            <a:xfrm>
              <a:off x="7015754" y="3707990"/>
              <a:ext cx="2335123" cy="60016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_tradnl" sz="1100" noProof="1"/>
                <a:t>Entrenamiento: </a:t>
              </a:r>
            </a:p>
            <a:p>
              <a:r>
                <a:rPr lang="es-ES_tradnl" sz="1100" noProof="1"/>
                <a:t>Scen58, Reward_SystemI</a:t>
              </a:r>
            </a:p>
            <a:p>
              <a:r>
                <a:rPr lang="es-ES_tradnl" sz="1100" noProof="1"/>
                <a:t>Run_x191, 2000eps</a:t>
              </a:r>
            </a:p>
          </p:txBody>
        </p:sp>
      </p:grp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A3F3852-E636-7977-7060-8486EA1A25C8}"/>
              </a:ext>
            </a:extLst>
          </p:cNvPr>
          <p:cNvSpPr txBox="1">
            <a:spLocks/>
          </p:cNvSpPr>
          <p:nvPr/>
        </p:nvSpPr>
        <p:spPr>
          <a:xfrm>
            <a:off x="778476" y="6356350"/>
            <a:ext cx="11108724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1000" noProof="1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3229596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B4CD4-C2CB-BA29-FBE6-9C0B8F927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448203B-C4EC-01CB-0855-09379D52598C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pPr marL="0" indent="0"/>
            <a:r>
              <a:rPr lang="es-ES_tradnl" b="1" noProof="1"/>
              <a:t>El agente ha aprendido una política con degradación significativa del rendimiento global fuera del entorno cercano al objetivo.</a:t>
            </a:r>
            <a:endParaRPr lang="es-ES_tradnl" sz="1100" b="1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platzhalter 1">
                <a:extLst>
                  <a:ext uri="{FF2B5EF4-FFF2-40B4-BE49-F238E27FC236}">
                    <a16:creationId xmlns:a16="http://schemas.microsoft.com/office/drawing/2014/main" id="{53A19751-6D6E-4B01-2D9D-C428CFC1945C}"/>
                  </a:ext>
                </a:extLst>
              </p:cNvPr>
              <p:cNvSpPr>
                <a:spLocks noGrp="1"/>
              </p:cNvSpPr>
              <p:nvPr>
                <p:ph type="body" sz="quarter" idx="12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_tradnl" i="1" noProof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 noProof="1" dirty="0">
                            <a:latin typeface="Cambria Math" panose="02040503050406030204" pitchFamily="18" charset="0"/>
                          </a:rPr>
                          <m:t>𝑅𝑀𝑆𝐸</m:t>
                        </m:r>
                      </m:e>
                      <m:sub>
                        <m:r>
                          <a:rPr lang="es-ES_tradnl" i="1" noProof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_tradnl" noProof="1"/>
                  <a:t> en dominio angular del Agente1900</a:t>
                </a:r>
              </a:p>
            </p:txBody>
          </p:sp>
        </mc:Choice>
        <mc:Fallback xmlns="">
          <p:sp>
            <p:nvSpPr>
              <p:cNvPr id="6" name="Textplatzhalter 1">
                <a:extLst>
                  <a:ext uri="{FF2B5EF4-FFF2-40B4-BE49-F238E27FC236}">
                    <a16:creationId xmlns:a16="http://schemas.microsoft.com/office/drawing/2014/main" id="{53A19751-6D6E-4B01-2D9D-C428CFC194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blipFill>
                <a:blip r:embed="rId2"/>
                <a:stretch>
                  <a:fillRect t="-10811" b="-540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feld 6">
            <a:extLst>
              <a:ext uri="{FF2B5EF4-FFF2-40B4-BE49-F238E27FC236}">
                <a16:creationId xmlns:a16="http://schemas.microsoft.com/office/drawing/2014/main" id="{27C307CE-35C4-B4F4-D889-2FDDFF969306}"/>
              </a:ext>
            </a:extLst>
          </p:cNvPr>
          <p:cNvSpPr txBox="1"/>
          <p:nvPr/>
        </p:nvSpPr>
        <p:spPr>
          <a:xfrm>
            <a:off x="8980231" y="5094275"/>
            <a:ext cx="290335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800" noProof="1"/>
              <a:t>Estado baseline: Pitch = 0°, Roll = 0° , o1ini=0° , do1ini=0rad/s 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B1B0D374-3DBB-A5EB-7445-8EAF72BAA233}"/>
              </a:ext>
            </a:extLst>
          </p:cNvPr>
          <p:cNvSpPr txBox="1"/>
          <p:nvPr/>
        </p:nvSpPr>
        <p:spPr>
          <a:xfrm>
            <a:off x="399244" y="2470120"/>
            <a:ext cx="172178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Symbol" pitchFamily="2" charset="2"/>
              <a:buChar char="-"/>
            </a:pPr>
            <a:r>
              <a:rPr lang="es-ES_tradnl" sz="1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El agente presenta un comportamiento concentrado en la zona central del dominio angular, donde alcanza su mayor precisión.</a:t>
            </a:r>
          </a:p>
          <a:p>
            <a:pPr marL="171450" indent="-171450">
              <a:buFont typeface="Symbol" pitchFamily="2" charset="2"/>
              <a:buChar char="-"/>
            </a:pPr>
            <a:r>
              <a:rPr lang="es-ES_tradnl" sz="1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El error aumenta de forma marcada hacia los extremos, evidenciando una pérdida de estabilidad y capacidad de generalización en esas regiones.</a:t>
            </a:r>
          </a:p>
          <a:p>
            <a:r>
              <a:rPr lang="es-ES_tradnl" sz="1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DAC0DD0F-1A5E-75AE-F21B-106EF44C02B2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/>
          <a:stretch>
            <a:fillRect/>
          </a:stretch>
        </p:blipFill>
        <p:spPr>
          <a:xfrm>
            <a:off x="3393352" y="2390775"/>
            <a:ext cx="4384534" cy="3021013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6421827F-28F3-CF4E-E672-BE70A5B3828E}"/>
              </a:ext>
            </a:extLst>
          </p:cNvPr>
          <p:cNvSpPr txBox="1">
            <a:spLocks/>
          </p:cNvSpPr>
          <p:nvPr/>
        </p:nvSpPr>
        <p:spPr>
          <a:xfrm>
            <a:off x="778476" y="6356350"/>
            <a:ext cx="11108724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1000" noProof="1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287780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775</Words>
  <Application>Microsoft Macintosh PowerPoint</Application>
  <PresentationFormat>Breitbild</PresentationFormat>
  <Paragraphs>270</Paragraphs>
  <Slides>6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Symbol</vt:lpstr>
      <vt:lpstr>Times New Roman</vt:lpstr>
      <vt:lpstr>Wingdings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sarabia</dc:creator>
  <cp:lastModifiedBy>ricardo sarabia</cp:lastModifiedBy>
  <cp:revision>1</cp:revision>
  <dcterms:created xsi:type="dcterms:W3CDTF">2026-04-12T08:32:35Z</dcterms:created>
  <dcterms:modified xsi:type="dcterms:W3CDTF">2026-04-12T08:33:30Z</dcterms:modified>
</cp:coreProperties>
</file>