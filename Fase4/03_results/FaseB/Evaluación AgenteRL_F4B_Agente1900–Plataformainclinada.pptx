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42" r:id="rId2"/>
    <p:sldId id="743" r:id="rId3"/>
    <p:sldId id="744" r:id="rId4"/>
    <p:sldId id="745" r:id="rId5"/>
    <p:sldId id="746" r:id="rId6"/>
    <p:sldId id="747" r:id="rId7"/>
    <p:sldId id="74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2"/>
    <p:restoredTop sz="94521"/>
  </p:normalViewPr>
  <p:slideViewPr>
    <p:cSldViewPr snapToGrid="0">
      <p:cViewPr varScale="1">
        <p:scale>
          <a:sx n="106" d="100"/>
          <a:sy n="106" d="100"/>
        </p:scale>
        <p:origin x="13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73BF7-46C5-99BC-09E3-39909E8B9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1C3B86-90D6-F4F2-CD5E-70C37E258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59D07F-49BC-6AEA-95E5-58BFFBB2A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A5E5D7-1DB8-C5C1-BA77-EF61B342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FBD9AC-A9DF-1600-4584-36F298C7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74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0C90F-89AF-E963-06C8-FC7C0E60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E0555E-02E0-2DE4-F378-777C51B85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2DC251-BDCF-9D34-F825-D356E65B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C06E7F-4E6F-39AF-BF74-307C12CB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F5AE90-1C2E-2D00-04A1-DE0FCFA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013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E836E-62C3-6B52-7292-BA969843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B405A-20DC-4EBB-C58B-428C17290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4CC38-4A96-57D7-B703-9774A9D2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5D1B-5AFD-8DAB-DF86-A22EE102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2028C4-ECA7-D5EA-714A-D4800739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799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6388B-BB7B-0362-CD09-B470159D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41C25-3CF4-DCFA-ADDC-000FC5897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60EC1C-3245-CA94-9FB2-ED1758660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6243A7-7A99-11E3-9D05-1B08DBAD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3F235D-1977-2DF2-42F3-D0C2D14B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8ACFD9-57F7-F919-88E0-A632340D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278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B7EDD-63F5-7C88-1A52-8D5B268F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AF06E2-1DEA-7C74-CF88-08C737ED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DA7E60-A962-5F75-0C03-DBD2191AA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7FD546-1944-8C4F-365C-4884B13AB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BFCC59-D117-C08D-7CEA-E1E08AB07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7D3199-F1AC-7B83-E3B9-7DEB7593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80B57A-4B19-4935-8839-B95F1749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ABA150C-641F-C8C8-D0C8-24582910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693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76258-137B-509F-5997-506FFEAD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38BA2F-886D-D75B-5F52-61F0438C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083F66-E582-32FD-126A-66319158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459FFE-1C59-E8CA-159A-EC480539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151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A1C374-2556-97BE-0FAE-0CA53C9B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1A3CD6-BF95-C4FD-3EDC-025C4020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A56585-3FEA-E005-40E3-1898D316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322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B8138-F789-75D6-3CDD-E590815A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110EE6-B000-C08B-0026-16603BA5D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454095-2454-EA7C-DEC7-7932722D0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B89788-32A7-09C2-5EBF-E1A67FF23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72FC6-60E8-8C20-EBD5-C791B741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64B37A-F60A-719F-7E02-43744B2C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741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40FF4-09F6-721D-A7D7-E77FF72F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D6A62B-A317-FF54-486C-2C76D8FC8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FFB12C-AE0B-833E-EC13-B41B0ACC4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F97DFF-7FF3-23D2-B6E5-C80F0CE9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46ABB9-AEA4-1CA6-56E4-40405759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997045-4AB7-98ED-19F5-3B1F5399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408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64EAA-9AFF-F48C-BAE2-8B5AA77A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06E6A8-78FC-8F13-2506-412311B1F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5E8EBF-70A5-E515-2D2F-7FCF4BDD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A64DAF-1D14-3985-EB8C-867FFAA42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4AA2C5-97B3-F3FF-90E5-67933D2C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5711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A1FAB4-E00F-9E0A-0BB2-8B6598A27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8303C9-C424-506E-DD51-20C940A51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F519F-E2AB-0356-86A0-FD7C65D6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BC4242-43ED-6073-F956-0356AC77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7EC8FC-4BBC-ED25-2B9A-18F5B988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179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9298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3549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E60BF9-B482-4018-209F-A439AE4E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38565C-1E5A-715A-CC7F-295D6813E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BF7A41-4710-0369-F558-85DA942A4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DC874-0B94-104B-AD4D-F0B4B25CCB1B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8DE5A6-5511-4002-F971-F98A70BA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F19DEE-15E5-50D2-C1AC-AF631CA39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700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7D8D4-F770-3F0C-8BAA-33180E30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A2B3B77-76E2-05CE-F231-2302207D50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s-ES_tradnl" sz="1400" noProof="1"/>
              <a:t>La inclinación amplifica la sensibilidad al estado inicial: RMSE ≈36.25° (0°) frente a ≈38.64° (90°) y ≈42.59° (−90°), con distorsiones no uniformes y picos superiores a 100°.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41209B-D7FE-2E9D-5C36-2661EAC799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48439340-EE6A-8C29-BA48-D87BB3BA0EE5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C77A62E7-7807-FD7D-4CF8-E6CDBF35BEB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889C086D-5410-B887-DC57-DCBFF40AF91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0856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13EA-8262-A7F5-4C3D-6A44C668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B23A7E-6EE7-AB4B-9217-54C7C4E7D4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6B9E1B4F-42B9-89AF-84E9-8844A5F4E344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435.59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46.92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15.45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37.70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646.14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22.88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81.43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36.77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81.71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36.43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670.34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74.23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28.56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CB402DD-E02C-4794-EE8A-62C6975674A2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condiciones nominales (RMSE ≈25.02°), pero presenta degradación severa en extremos: ≈37.70° (90°) y ≈55.48° (−90°), con mayor sobreimpulso y pérdida parcial de seguimiento.</a:t>
            </a:r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6F8D3516-9E6F-1B83-2E56-F0C0C04ACC9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02152" y="2078038"/>
            <a:ext cx="72257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624DF70-0BD2-B819-A646-FAE27BEF608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5553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463A-7AC9-26D6-85B2-08CF988E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FA03BA-EF87-AC57-C33B-12F8CE62DF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13E81C83-4D70-12E6-B998-AA37E46E4D3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F749C0A8-F2F6-7EFA-3BB3-9FFA7B5752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noProof="1"/>
              <a:t>El retardo mantiene la forma del RMSE prácticamente inalterada, con una penalización leve: ≈36.25° (0 ms) → ≈36.60° (10 ms) → ≈36.53° (20 ms, +0.8%), sin afectar la estabilidad.</a:t>
            </a:r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DD393FFF-546C-5051-A922-B8199880787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D6CBAD6-2F15-9C5C-9DB3-B7816D3844FB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02480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E134-2865-BBDF-9FA2-6CD5A8B3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84B4A1-5596-FF79-9F74-A607D2CC2C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2ACB018E-69AE-91E2-B63C-519A85EC8E11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435.59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46.92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15.45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69.09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25.98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57.73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24.09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25.07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435.76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47.44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15.54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16.39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26.65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25.13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434.80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16.58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2793A0-7E51-A0CF-876F-B48E18BBD64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conserva estabilidad y convergencia, con impacto marginal del retardo: RMSE ≈25.02° → ≈25.13° (+0.4%) y ligero aumento del sobreimpulso (≈25.4° → ≈26.7°).</a:t>
            </a:r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DE1125C4-3501-1913-59A8-FFE00439029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733440" y="2078038"/>
            <a:ext cx="6736440" cy="2768282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6D1F58A4-03C9-AEA1-5943-B79538D6216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0628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BE35-D0A7-6574-37A2-6F887D2A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AF6BBF-D7DA-D5E4-20D1-4715F5DEAE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147764D-C6AC-7FC2-4E94-2BF2AE91F3A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36F41562-6D1B-6787-D520-A82FB3455F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503764"/>
          </a:xfrm>
        </p:spPr>
        <p:txBody>
          <a:bodyPr>
            <a:noAutofit/>
          </a:bodyPr>
          <a:lstStyle/>
          <a:p>
            <a:pPr algn="l"/>
            <a:r>
              <a:rPr lang="es-ES_tradnl" sz="1400" noProof="1"/>
              <a:t>La velocidad angular inicial introduce asimetrías en el RMSE: ≈35.18° (−3.14 rad/s), ≈36.25° (0) y ≈37.41° (+3.14), con mayor degradación para velocidades positivas.</a:t>
            </a:r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9CAD7524-736D-8F7E-7832-1DD5C2F6D07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EB78AF3-093F-ECD2-8A79-A278937D32EE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70036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349E-1566-1709-6F23-7961DF89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9B283D-6DC4-4BD9-7FA6-E523F6882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F3C7CE58-27B2-B3B4-C8DF-3B6EEB59C7CD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25.72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57.16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24.60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436.69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15.86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435.59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46.92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15.45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69.21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25.45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56.56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24.21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26.69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437.34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50.28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63.71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641ECE9-4CDD-BCEC-DF51-AB64C3A2985A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todos los casos, pero el transitorio se degrada: RMSE ≈24.60° (+3.14 rad/s), ≈25.02° (0) y ≈26.69° (−3.14), con incremento en esfuerzo de control sin afectar el error estacionario.</a:t>
            </a:r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4CD272DA-2FF5-10F7-449D-81E4C59E7556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47943" y="2030862"/>
            <a:ext cx="6994505" cy="2650866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50E6509-22CC-90AB-FA2B-86DD271D448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08908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CE16-AC61-DF6C-841B-D4EA9386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EC87DA-E986-1317-805D-9BC7D94E48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A8E2F04-ACCF-2CC4-AB04-F1C3237ECBD6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0CD2D0F-25AB-0A5B-C872-BF2C20385310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0C9BA4E-4A12-5E83-FCE7-C676C922A4BB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2630FF9-FB52-C598-EEDF-499CCED2B3E4}"/>
              </a:ext>
            </a:extLst>
          </p:cNvPr>
          <p:cNvSpPr txBox="1"/>
          <p:nvPr/>
        </p:nvSpPr>
        <p:spPr>
          <a:xfrm>
            <a:off x="713232" y="5440095"/>
            <a:ext cx="9582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continuidad del RMSE, pero con degradación bajo inclinación. El retardo sigue siendo despreciable (≈36.25° → ≈36.53°), mientras que las condiciones iniciales dominan el desempeño: o1ini hasta ≈42.59° y d</a:t>
            </a:r>
            <a:r>
              <a:rPr lang="el-GR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ini hasta ≈37.41°, evidenciando pérdida de simetría y limitaciones de generalización.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64731E6-05C3-4EC7-25A2-208C93F82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2" y="2283301"/>
            <a:ext cx="3627233" cy="2775086"/>
          </a:xfrm>
          <a:prstGeom prst="rect">
            <a:avLst/>
          </a:prstGeom>
        </p:spPr>
      </p:pic>
      <p:pic>
        <p:nvPicPr>
          <p:cNvPr id="15" name="Onlinebild-Platzhalter 8">
            <a:extLst>
              <a:ext uri="{FF2B5EF4-FFF2-40B4-BE49-F238E27FC236}">
                <a16:creationId xmlns:a16="http://schemas.microsoft.com/office/drawing/2014/main" id="{6BE8DBDE-FE70-A6D6-664D-5A0227A39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847" y="2285441"/>
            <a:ext cx="3627233" cy="277508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7445E97-16CE-7226-FA61-2C644A26D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832" y="2283300"/>
            <a:ext cx="3627233" cy="277508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6BE556F-A457-DA6F-B519-82A1B137032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70533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Macintosh PowerPoint</Application>
  <PresentationFormat>Breitbild</PresentationFormat>
  <Paragraphs>222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2026-04-11T20:17:43Z</dcterms:created>
  <dcterms:modified xsi:type="dcterms:W3CDTF">2026-04-12T07:51:35Z</dcterms:modified>
</cp:coreProperties>
</file>