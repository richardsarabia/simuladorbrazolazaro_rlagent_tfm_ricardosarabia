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750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08796E-410B-73CF-5A4A-3161CC3E76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B11D051-D3FD-D628-A967-F8F4959340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F9E19EE-C84F-4823-52CF-CBC263725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9B27C-1159-964B-9583-9033F2404727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AE4FF29-D7D2-2237-8989-C345E88B6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783743F-74E9-E697-D457-AF0CB7F62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F1B60-4DD3-F441-B083-F744065F1A3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616891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DDC1D6-C4E1-AF00-E2A0-88F864A29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4D2F958-5C42-05F0-7245-A094C8B27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50BF1FB-D5DE-0D75-3B80-FD3BB90BD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9B27C-1159-964B-9583-9033F2404727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2E22607-C0CA-9E12-E1E8-66F0B723B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6FF7AE0-0CE8-0AD0-CB69-C5D4F217E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F1B60-4DD3-F441-B083-F744065F1A3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00390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6DF820-CE28-471A-64DD-F54B78EC7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0D99989-9F1A-94DE-A530-D5BFF56C94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B106064-B91B-C8D1-C9A2-8AE0DFC91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9B27C-1159-964B-9583-9033F2404727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E8F7395-C3C2-411A-6895-A0DD97FBA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2F8A3E6-AD47-935D-F341-22798BD65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F1B60-4DD3-F441-B083-F744065F1A3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017779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204A2A-88A3-1E7A-8455-8D5FB0910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E013C9B-121C-FF3B-0664-D0FC8219E2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8D409D3-E93E-98FD-E809-766A007876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21C9571-942F-E25B-0E73-070757484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9B27C-1159-964B-9583-9033F2404727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0EC6274-BEB7-8417-9AD3-77E0A1AC8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A865C5C-A1AE-C638-C4F8-6664FF345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F1B60-4DD3-F441-B083-F744065F1A3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31898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00112C-EB71-35DE-14E7-19D1DC4E7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A0FCACC-60E9-1A0D-7A56-F0A6830E11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CDA6B95-6B4D-44F5-3BD1-800BD3F759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CA15B27-2A11-B8D0-7646-758C7C3DCD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5718DC7-FC13-3A30-3B1D-63B750DE78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85DF348-D765-A696-E699-4122AFD4C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9B27C-1159-964B-9583-9033F2404727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AA40899-E489-C720-5301-74A0716DB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A10EAEC-F0D6-47C2-8B9F-5BD068FA9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F1B60-4DD3-F441-B083-F744065F1A3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01904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3BD4B1-0D3A-7D52-14B5-59759C9D8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D04A8FE-CB07-4BD4-10DF-BC315CE5E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9B27C-1159-964B-9583-9033F2404727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2DE5F5E-6F08-D0B6-FEC1-201545F2C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893BDEB-9A6C-06F2-490F-D1A72FB4D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F1B60-4DD3-F441-B083-F744065F1A3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919830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D100E9F-F54A-0779-4B96-D54E8C60B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9B27C-1159-964B-9583-9033F2404727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D6F0BD8-A600-EAEA-EE9C-0A653D559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A55D918-176F-BFFD-BC89-7FAA3C93D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F1B60-4DD3-F441-B083-F744065F1A3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68334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0F4640-5597-2223-A61C-C5AA8D7FE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6AD840F-A20A-7225-1A1B-B80CF6B69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0232BA1-91E4-96A5-E88B-8D72FDCC5E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6AD2AE6-19DD-8F6A-9CFE-B65A30384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9B27C-1159-964B-9583-9033F2404727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0B6F1A8-CCA1-C01A-2B7A-8447F8805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A677B87-4BBD-2EC1-B005-1164557BC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F1B60-4DD3-F441-B083-F744065F1A3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413895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54FB62-227C-1133-7A05-882C585FB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8ABD416-FAFF-C925-BE37-B5BF0AE93A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0B00A59-68B6-6426-2876-0BFFCFCDF8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9BEB928-2C84-C314-D94C-19566B71D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9B27C-1159-964B-9583-9033F2404727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E079572-B7F8-10F2-A54A-2375BFEA5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D4DAAA2-1211-A824-3842-765958CFD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F1B60-4DD3-F441-B083-F744065F1A3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846106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C0435F-5E20-19C6-5724-8BDF92776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701E7C7-F0DA-76BB-86C6-054F910A8D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3D2D5D3-F7C2-7CBB-A6C5-9470D1F6D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9B27C-1159-964B-9583-9033F2404727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E813198-9B18-BC25-4297-B613D337A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32B53EB-E009-B347-A32C-BFF9E5409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F1B60-4DD3-F441-B083-F744065F1A3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88145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BC2F11F6-6DAB-DD97-2D4A-741C9564DC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D1612EC-907B-D559-4A1D-08C0C26BCA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1098F92-9289-B759-67DD-E5A47DC6E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9B27C-1159-964B-9583-9033F2404727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12DBA28-CEFB-AB8A-2B6A-EC5E19C32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678D137-DAE4-5082-6E35-3D38F47E2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F1B60-4DD3-F441-B083-F744065F1A3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731520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valuacion_RL_Sig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3">
            <a:extLst>
              <a:ext uri="{FF2B5EF4-FFF2-40B4-BE49-F238E27FC236}">
                <a16:creationId xmlns:a16="http://schemas.microsoft.com/office/drawing/2014/main" id="{A2703B11-D662-0761-2C28-295674204D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9727159" y="198437"/>
            <a:ext cx="1732790" cy="86639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B04077B-F64E-73B0-DB6F-6D6069A174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640054" y="1307035"/>
            <a:ext cx="1465024" cy="1057511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5D959E84-1BDC-3415-5E5F-2481B8EF4336}"/>
              </a:ext>
            </a:extLst>
          </p:cNvPr>
          <p:cNvSpPr/>
          <p:nvPr userDrawn="1"/>
        </p:nvSpPr>
        <p:spPr>
          <a:xfrm>
            <a:off x="-3818" y="-7818"/>
            <a:ext cx="12195818" cy="976185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41B35AC-5FD2-0498-0C0B-3C9BC3F79BD3}"/>
              </a:ext>
            </a:extLst>
          </p:cNvPr>
          <p:cNvSpPr txBox="1"/>
          <p:nvPr userDrawn="1"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RL en la Simulación</a:t>
            </a:r>
          </a:p>
        </p:txBody>
      </p:sp>
      <p:sp>
        <p:nvSpPr>
          <p:cNvPr id="29" name="Inhaltsplatzhalter 28">
            <a:extLst>
              <a:ext uri="{FF2B5EF4-FFF2-40B4-BE49-F238E27FC236}">
                <a16:creationId xmlns:a16="http://schemas.microsoft.com/office/drawing/2014/main" id="{529551D1-5D3F-5303-A7C7-338F40CEA02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5928" y="4961947"/>
            <a:ext cx="11065209" cy="1007846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cxnSp>
        <p:nvCxnSpPr>
          <p:cNvPr id="2" name="Gerade Verbindung 1">
            <a:extLst>
              <a:ext uri="{FF2B5EF4-FFF2-40B4-BE49-F238E27FC236}">
                <a16:creationId xmlns:a16="http://schemas.microsoft.com/office/drawing/2014/main" id="{E823874B-BE42-6B9C-CBCF-8EFCB6AD8788}"/>
              </a:ext>
            </a:extLst>
          </p:cNvPr>
          <p:cNvCxnSpPr>
            <a:cxnSpLocks/>
          </p:cNvCxnSpPr>
          <p:nvPr userDrawn="1"/>
        </p:nvCxnSpPr>
        <p:spPr>
          <a:xfrm>
            <a:off x="520862" y="1850693"/>
            <a:ext cx="9945312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platzhalter 23">
            <a:extLst>
              <a:ext uri="{FF2B5EF4-FFF2-40B4-BE49-F238E27FC236}">
                <a16:creationId xmlns:a16="http://schemas.microsoft.com/office/drawing/2014/main" id="{90D1329D-A0BF-1FBB-6936-392FA8034A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2" y="1446792"/>
            <a:ext cx="6994505" cy="449263"/>
          </a:xfrm>
        </p:spPr>
        <p:txBody>
          <a:bodyPr/>
          <a:lstStyle>
            <a:lvl1pPr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nlinebild-Platzhalter 13">
            <a:extLst>
              <a:ext uri="{FF2B5EF4-FFF2-40B4-BE49-F238E27FC236}">
                <a16:creationId xmlns:a16="http://schemas.microsoft.com/office/drawing/2014/main" id="{3A0C70E0-48D5-A72C-4A82-0E880E0730C9}"/>
              </a:ext>
            </a:extLst>
          </p:cNvPr>
          <p:cNvSpPr>
            <a:spLocks noGrp="1"/>
          </p:cNvSpPr>
          <p:nvPr>
            <p:ph type="clipArt" sz="quarter" idx="15"/>
          </p:nvPr>
        </p:nvSpPr>
        <p:spPr>
          <a:xfrm>
            <a:off x="3583277" y="2077327"/>
            <a:ext cx="5271637" cy="2506018"/>
          </a:xfrm>
        </p:spPr>
        <p:txBody>
          <a:bodyPr/>
          <a:lstStyle/>
          <a:p>
            <a:endParaRPr lang="es-ES_tradnl"/>
          </a:p>
        </p:txBody>
      </p:sp>
      <p:sp>
        <p:nvSpPr>
          <p:cNvPr id="11" name="Inhaltsplatzhalter 28">
            <a:extLst>
              <a:ext uri="{FF2B5EF4-FFF2-40B4-BE49-F238E27FC236}">
                <a16:creationId xmlns:a16="http://schemas.microsoft.com/office/drawing/2014/main" id="{E03F487B-0478-3EA0-504F-340815C8A13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61487" y="2465822"/>
            <a:ext cx="2688490" cy="202763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88258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BD25BF4-11DC-EE3D-12E6-3A379AEA1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008C857-B143-3F19-745E-74F3B7241E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058FE34-32A7-DD92-310D-21DCAF25FF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F9B27C-1159-964B-9583-9033F2404727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0BC3D25-7703-87FB-13A2-D806EB9996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7EDEFFD-C28C-DA94-BAFF-AFD17FE3B7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3F1B60-4DD3-F441-B083-F744065F1A3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224368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D9A80-CBF1-9939-224D-FB6891AEF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DF5882C-6008-6317-93EA-7DF2D2F79CC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95462" y="1377414"/>
            <a:ext cx="9458516" cy="449263"/>
          </a:xfrm>
        </p:spPr>
        <p:txBody>
          <a:bodyPr>
            <a:normAutofit/>
          </a:bodyPr>
          <a:lstStyle/>
          <a:p>
            <a:r>
              <a:rPr lang="es-ES_tradnl" noProof="1"/>
              <a:t>Comparación en el domino Angular : PID vs Controlador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7FAF6CA3-D713-1FB8-F3C8-0F2F7E938FF5}"/>
              </a:ext>
            </a:extLst>
          </p:cNvPr>
          <p:cNvSpPr txBox="1"/>
          <p:nvPr/>
        </p:nvSpPr>
        <p:spPr>
          <a:xfrm>
            <a:off x="955202" y="5190269"/>
            <a:ext cx="999930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Symbol" pitchFamily="2" charset="2"/>
              <a:buChar char="-"/>
            </a:pPr>
            <a:r>
              <a:rPr lang="es-ES_tradnl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El controlador RL alcanza desempeño comparable al PID en plataforma plana (RMSE ≈31° en ambos casos).</a:t>
            </a:r>
          </a:p>
          <a:p>
            <a:pPr marL="171450" indent="-171450">
              <a:buFont typeface="Symbol" pitchFamily="2" charset="2"/>
              <a:buChar char="-"/>
            </a:pPr>
            <a:r>
              <a:rPr lang="es-ES_tradnl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Bajo inclinación, el RL reduce el error frente al PID (≈36.25° vs ≈40.55°, −10.6%), evidenciando mejor adaptación a perturbaciones gravitacionales.</a:t>
            </a:r>
          </a:p>
          <a:p>
            <a:pPr marL="171450" indent="-171450">
              <a:buFont typeface="Symbol" pitchFamily="2" charset="2"/>
              <a:buChar char="-"/>
            </a:pPr>
            <a:r>
              <a:rPr lang="es-ES_tradnl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El PID presenta una respuesta más suave, pero el RL muestra mayor robustez y capacidad de generalización en condiciones no nominales.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E30909B6-8889-EA13-22F1-0E9D3E33AF10}"/>
              </a:ext>
            </a:extLst>
          </p:cNvPr>
          <p:cNvSpPr txBox="1"/>
          <p:nvPr/>
        </p:nvSpPr>
        <p:spPr>
          <a:xfrm>
            <a:off x="9390719" y="4866321"/>
            <a:ext cx="12591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100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Pitch, Roll =-10°</a:t>
            </a:r>
            <a:endParaRPr lang="es-ES_tradnl" sz="11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30DA5A6F-B8B5-EB07-0F2F-67E047B210EC}"/>
              </a:ext>
            </a:extLst>
          </p:cNvPr>
          <p:cNvSpPr txBox="1"/>
          <p:nvPr/>
        </p:nvSpPr>
        <p:spPr>
          <a:xfrm>
            <a:off x="4172431" y="4835176"/>
            <a:ext cx="12591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100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Pitch, Roll =0°</a:t>
            </a:r>
            <a:endParaRPr lang="es-ES_tradnl" sz="11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Fußzeilenplatzhalter 2">
            <a:extLst>
              <a:ext uri="{FF2B5EF4-FFF2-40B4-BE49-F238E27FC236}">
                <a16:creationId xmlns:a16="http://schemas.microsoft.com/office/drawing/2014/main" id="{2711D83C-685D-F1BA-7385-71F37D1D3A45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noProof="1"/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4B1CBF8-33C3-93A9-9A4F-901804A1A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658" y="1952509"/>
            <a:ext cx="4785190" cy="2807527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69D7DD41-0785-0D39-12FE-2B6EFD835C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978" y="1939318"/>
            <a:ext cx="4829493" cy="283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6593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</Words>
  <Application>Microsoft Macintosh PowerPoint</Application>
  <PresentationFormat>Breitbild</PresentationFormat>
  <Paragraphs>7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Symbol</vt:lpstr>
      <vt:lpstr>Times New Roman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sarabia</dc:creator>
  <cp:lastModifiedBy>ricardo sarabia</cp:lastModifiedBy>
  <cp:revision>1</cp:revision>
  <dcterms:created xsi:type="dcterms:W3CDTF">2026-04-12T08:58:42Z</dcterms:created>
  <dcterms:modified xsi:type="dcterms:W3CDTF">2026-04-12T09:38:05Z</dcterms:modified>
</cp:coreProperties>
</file>