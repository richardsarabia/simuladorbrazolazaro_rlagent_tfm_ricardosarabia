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59" r:id="rId2"/>
    <p:sldId id="490" r:id="rId3"/>
    <p:sldId id="460" r:id="rId4"/>
    <p:sldId id="461" r:id="rId5"/>
    <p:sldId id="462" r:id="rId6"/>
    <p:sldId id="463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4A4A9-24BB-4F4E-846A-3C03888D72E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8BE83-702B-EE4B-A440-EA056D7D3B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73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9E7B4-68FF-8E95-FEF4-2B6ECAD9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1D3D88-DDC2-5B8E-0DAB-C5D89BB72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C59024-6833-5C1C-A709-091E4497C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0AC910-6F34-FAA2-D241-E4F66D87B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32645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5338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3D762-8317-546E-0ED4-D0FFDD01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303C7A-F138-66AB-9741-A8F41B4B7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3ADBD1-7F63-57F1-FD88-1A687035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903CA6-C9CB-F329-EF6A-57B24D62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B6233D-DA32-9DA1-9725-F8196C63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722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0792A-2D35-3F0B-BCB8-D4272633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8D7C53-6DE5-E963-376F-6E2D7BFBC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DDD408-3E73-882A-192E-D51B979B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DB86AC-9CD4-B263-D92E-96B4664B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2087BD-9341-B44F-1374-937550BF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5502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D2DBC-792A-D43C-A69E-26497A60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EF920-A69E-9624-FEA7-48E07CCEA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21AB7B-AABA-E4B8-AFE8-9198EF32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DE1A19-360F-9CC0-1585-1B3A9323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4D8C5-907D-B7EF-D47F-C8ECF334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638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D220-0D54-7D0F-900E-50FE330B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BE7462-68B1-1AF3-0FAB-D0D9A81F5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177CB3-333F-AC52-5FCF-089B2D967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64352F-3EA3-7850-9DCC-DE14157E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42C819-9A5E-A703-7D76-5747AA82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F5484D-4ACE-5F2A-9EFB-B7175711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3264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5BF56-4997-42B7-32E3-8EED9E7E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128933-CA13-2DCB-57DF-556B6458C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E4AE9E-85D7-79C0-1676-A7E7FEBB3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05710F-34D1-0C92-717B-BC0A10914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82CF21-E990-38D4-5F11-D219703D8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327FE9-19DF-B9D9-4BC7-0FAE1D1A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72F8B6-0F7D-D2EA-E0E8-6A248CDF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245F24-B7F8-630A-98A6-3BDEBAB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6833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DAC99-21E0-AE82-220E-9FBB451A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8B0C7E0-379F-021C-7FBF-D85E6AF43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5CE361-0510-148C-4405-5346F04F1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26F436-F43C-FFFD-D596-86F35D05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7278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A7E061-0CAE-6B68-6D78-124C3A31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811C55-A787-89EF-3E1B-DE635524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662C0B-F3DD-6F2D-81C1-FE3949EA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863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59FDE-5BB5-C8EE-B571-0BAC0DAC0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713E6C-D014-0E39-CB11-1B5FAD84E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1B6620-8AF8-5A00-0A79-5ED508776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EA9007-8D1D-1551-5BE1-19018B3B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054084-BE6F-C1C1-CD9F-A0DB1C4F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0B6803-079D-FB21-524D-B15D94A8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690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2C789-23EC-A507-69F0-A01829A6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E60C00-750A-E409-2A7C-8FCD7BBF7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0BA67B-FA2E-A1C9-BA2F-F88B13AC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7C63EE-CEC7-B889-87DE-6F12CF4C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D381AF-597D-E4D3-C4CB-3BCEB97E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E1B932-7333-BB1D-F173-53E9B4A9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609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72FD6-95CE-EC14-6584-D5FDF85AB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23959A-641A-F894-4163-72120627E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19F47A-42C7-ECCF-0C7B-A2750756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36C3F3-11E7-C3DF-E659-15CEEE11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5774DE-60D1-98C2-309F-66E4B0FD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381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4E14BA4-4264-3274-BCE3-7793440D6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D083CF-F024-CC04-60BE-365DDCABB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26021B-70DC-5C28-079A-78976236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662375-7B14-36CF-10E2-8F6BA923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4CEB1E-DD69-1C75-B37E-CB0FF7A1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2485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1437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MSE TO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24385" y="5510118"/>
            <a:ext cx="9503058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FAA78FF5-2A44-C038-8C33-581E4612C4B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2386065" y="2254597"/>
            <a:ext cx="7188609" cy="3098654"/>
          </a:xfrm>
        </p:spPr>
        <p:txBody>
          <a:bodyPr/>
          <a:lstStyle/>
          <a:p>
            <a:endParaRPr lang="es-ES_tradnl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DC88AFA-5823-4006-865A-291216A99A1D}"/>
              </a:ext>
            </a:extLst>
          </p:cNvPr>
          <p:cNvGrpSpPr/>
          <p:nvPr userDrawn="1"/>
        </p:nvGrpSpPr>
        <p:grpSpPr>
          <a:xfrm>
            <a:off x="606204" y="3429002"/>
            <a:ext cx="1039143" cy="1226891"/>
            <a:chOff x="2471323" y="3094239"/>
            <a:chExt cx="1039143" cy="1226891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7975EE-02C4-F175-795B-93A638306DE2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8D070CE1-EC82-7F15-BBFD-68082F249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AF5F29C-6703-E5DA-3E54-C687E6CC7606}"/>
                  </a:ext>
                </a:extLst>
              </p:cNvPr>
              <p:cNvSpPr txBox="1"/>
              <p:nvPr/>
            </p:nvSpPr>
            <p:spPr>
              <a:xfrm>
                <a:off x="8496320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dirty="0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0A244D5-E2F4-55A2-9535-F4C6F1162F3F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dirty="0"/>
                <a:t>Agentes RL</a:t>
              </a:r>
            </a:p>
          </p:txBody>
        </p: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</p:spTree>
    <p:extLst>
      <p:ext uri="{BB962C8B-B14F-4D97-AF65-F5344CB8AC3E}">
        <p14:creationId xmlns:p14="http://schemas.microsoft.com/office/powerpoint/2010/main" val="138338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 TABLA RM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01014" y="2449374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35826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MINIO_ANGULAR_DETERMIN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4498" y="2390798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en el Dominio Angular en Simulación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13020E74-8C7E-3BC9-5499-58771C9340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2383" y="4443286"/>
            <a:ext cx="2535870" cy="7400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F1F9970-4195-4991-774F-95C6F7EF62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93293" y="2736054"/>
            <a:ext cx="2152202" cy="17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4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A9CB7D-55D0-C87B-F71C-EFD659F4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B2ED86-3075-41A0-05E5-F02E310BC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35C27A-9D41-2112-079D-2AD2E72F0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F663D-E39E-FE44-8836-1F44A54EBC40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2A11E-237A-E3E9-832F-47870F6BE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09468C-0A10-E3D5-8FA3-D8DD5F46D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003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A1F1-1C08-5463-E3A3-031E70D6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BA71D187-DCAF-B29C-49F2-608A0C101443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56C337B-3899-4A5F-98ED-9AF63DAC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E5FFB77-6343-53D7-2792-85CB40187ADA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B7B22620-DA56-918B-C61C-41A7ABE08EEF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FAC7FCA3-D2A6-B4F2-5EF3-0556D1B27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79B1534-180C-FCFC-8399-DD325E100F73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47E94EE-DD22-7FEF-3F5C-69AE75749AD5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B78EDFA7-1A50-BDCA-E793-16CBCBDBB865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2625597" y="3217893"/>
            <a:ext cx="1294510" cy="687742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3932EC12-DFD7-734E-AEE1-D036123E70A6}"/>
              </a:ext>
            </a:extLst>
          </p:cNvPr>
          <p:cNvGrpSpPr/>
          <p:nvPr/>
        </p:nvGrpSpPr>
        <p:grpSpPr>
          <a:xfrm>
            <a:off x="7096167" y="4141845"/>
            <a:ext cx="3181554" cy="2169880"/>
            <a:chOff x="6169323" y="3647544"/>
            <a:chExt cx="3181554" cy="2169880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C3BDAB54-B005-1B49-D34D-F48F050AC078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40276D7D-40DA-8820-6B19-EBF3EB22E932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5A7D2F1D-CBD5-CA90-DB6F-3447E37B9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1D347FDB-FEDB-0247-C1F4-A62FBAB40028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E9CE8A2B-E454-14E4-502B-419EC4EB0437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600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2310FF1B-526E-3F4A-AA57-007FD551AA7F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Checkpoint600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3F00A8CE-76D8-6F2C-0B29-6BD6AE365FE0}"/>
                </a:ext>
              </a:extLst>
            </p:cNvPr>
            <p:cNvSpPr txBox="1"/>
            <p:nvPr/>
          </p:nvSpPr>
          <p:spPr>
            <a:xfrm>
              <a:off x="7015754" y="3647544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7FF76E38-0E69-7283-7D73-D12BADFB9388}"/>
              </a:ext>
            </a:extLst>
          </p:cNvPr>
          <p:cNvGrpSpPr/>
          <p:nvPr/>
        </p:nvGrpSpPr>
        <p:grpSpPr>
          <a:xfrm>
            <a:off x="3386111" y="3905637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69359408-0D1B-7C81-95D3-C3AD69B91027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A946AEA6-E049-1B48-A357-508B5A53C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9435F13D-F243-2F72-E338-8414A55236E9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8199B95F-A7B6-7195-5AFE-2E293494C5AA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1600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D20475E9-3CBD-5FE3-B459-B4C7761F7CAA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Run_x303, 2000eps</a:t>
              </a:r>
            </a:p>
            <a:p>
              <a:r>
                <a:rPr lang="es-ES_tradnl" sz="1100" noProof="1"/>
                <a:t>Checkpoint1600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1B31003-E13D-5906-56E3-8C36EF09CB07}"/>
              </a:ext>
            </a:extLst>
          </p:cNvPr>
          <p:cNvCxnSpPr>
            <a:cxnSpLocks/>
            <a:stCxn id="97" idx="3"/>
            <a:endCxn id="88" idx="1"/>
          </p:cNvCxnSpPr>
          <p:nvPr/>
        </p:nvCxnSpPr>
        <p:spPr>
          <a:xfrm flipV="1">
            <a:off x="6256330" y="4526568"/>
            <a:ext cx="1686268" cy="843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8777943-A7FB-888E-DF3E-0A8183B4685F}"/>
              </a:ext>
            </a:extLst>
          </p:cNvPr>
          <p:cNvGrpSpPr/>
          <p:nvPr/>
        </p:nvGrpSpPr>
        <p:grpSpPr>
          <a:xfrm>
            <a:off x="1370406" y="2031839"/>
            <a:ext cx="2870221" cy="1226891"/>
            <a:chOff x="1871007" y="4084191"/>
            <a:chExt cx="2870221" cy="1226891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FA3D348A-A0A7-E51E-A385-B84AB90351F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2D7262B8-9A59-1D29-E933-139FAD254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FE5D722-68B8-D611-69F4-097171C4DC69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D442FF8A-91C5-D223-D6DB-D2075C974646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CF55D5E-64BD-88F4-D3A7-7CC91D13ED83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Run_x569, 500eps</a:t>
              </a:r>
            </a:p>
            <a:p>
              <a:r>
                <a:rPr lang="es-ES_tradnl" sz="1100" noProof="1"/>
                <a:t>Checkpoint100</a:t>
              </a:r>
            </a:p>
          </p:txBody>
        </p:sp>
      </p:grp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8F8143FE-AFD8-38B2-7224-2E8E2134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9224" y="6356350"/>
            <a:ext cx="9170726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0873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3A017A8-3E18-C6BF-4252-90A8E83603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Agente600</a:t>
            </a:r>
          </a:p>
          <a:p>
            <a:endParaRPr lang="es-ES_tradnl" noProof="1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900D0D7-2552-9C8B-EE82-55CF95886124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B97632C3-4EF2-E97E-9BE3-6251C57942D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374650" y="2841739"/>
            <a:ext cx="5991225" cy="28683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Inhaltsplatzhalter 28">
                <a:extLst>
                  <a:ext uri="{FF2B5EF4-FFF2-40B4-BE49-F238E27FC236}">
                    <a16:creationId xmlns:a16="http://schemas.microsoft.com/office/drawing/2014/main" id="{752B672B-4CAF-9CF2-7052-5B84989495E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1620518313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-153.928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-151.869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1.8e+06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-140.123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3.8508e-07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Inhaltsplatzhalter 28">
                <a:extLst>
                  <a:ext uri="{FF2B5EF4-FFF2-40B4-BE49-F238E27FC236}">
                    <a16:creationId xmlns:a16="http://schemas.microsoft.com/office/drawing/2014/main" id="{752B672B-4CAF-9CF2-7052-5B84989495E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1620518313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-153.928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-151.869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1.8e+06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-140.123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3.8508e-07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768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1370-741C-D6F7-7B45-5D0AF946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6553DE2-192C-638A-1296-286D4B7100ED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xfrm>
            <a:off x="2730322" y="5510118"/>
            <a:ext cx="686444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Alta precisión local en la zona central, con pérdida de estabilidad al alejarse del objetivo.</a:t>
            </a:r>
          </a:p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Comportamiento no simétrico, con degradación significativa en los extremos del dominio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7252CB9-19FB-1516-E12D-4EDAB839467A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10012101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Top3 Curvas RMSE en el Dominio Angular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9B64BA55-7305-2EFB-6C0C-B1D45CB5A43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183375" y="2254250"/>
            <a:ext cx="5593476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4F1CD82-668A-70F8-A3A8-9FC09ABC3B49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58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6F77-E64F-5692-889F-C463CEC2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382BA7-3649-6B60-4DD0-E7CCAAEE95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71989" y="5510118"/>
            <a:ext cx="7315200" cy="677305"/>
          </a:xfrm>
        </p:spPr>
        <p:txBody>
          <a:bodyPr>
            <a:normAutofit fontScale="92500"/>
          </a:bodyPr>
          <a:lstStyle/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El RMSE presenta variaciones a lo largo del entrenamiento, sin una tendencia descendente sostenida.</a:t>
            </a:r>
          </a:p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El mejor desempeño se alcanza en el checkpoint 100, con posterior degradación parcial y recuperación en etapas final</a:t>
            </a:r>
          </a:p>
          <a:p>
            <a:endParaRPr lang="es-ES_tradnl" sz="1400" noProof="1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154E3D2C-1F58-B125-3B01-D86302CC34BC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950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Progresión del RMSE durante el entrenamiento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81D4DEEA-49CF-F8FF-C868-61BFD150361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2963049" y="2254250"/>
            <a:ext cx="6034131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434D7727-C811-3119-F5AA-37E94A6E8F5C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8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EF1F-16F8-8E41-E246-2907EC53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675B2DD-ACA1-98B7-1263-D02686B79D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1" y="1446790"/>
            <a:ext cx="9086126" cy="449263"/>
          </a:xfrm>
        </p:spPr>
        <p:txBody>
          <a:bodyPr>
            <a:normAutofit fontScale="92500"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Selección del Agente en base a su rendimiento. Evaluación Determinista en la simulación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noProof="1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92394A-D107-3046-F46E-632BACE8E67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21914" y="5835909"/>
            <a:ext cx="9174298" cy="677305"/>
          </a:xfrm>
        </p:spPr>
        <p:txBody>
          <a:bodyPr/>
          <a:lstStyle/>
          <a:p>
            <a:r>
              <a:rPr lang="es-ES_tradnl" noProof="1"/>
              <a:t>El Agente600 mantiene la mejor posición en el ranking, al presentar  los menores valores  en las métricas de error y mejor compromiso global de desempeño.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D711A791-5345-ACCF-3167-4CE68188D14D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_tradnl" sz="900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𝑅𝑎𝑡𝑖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29.4306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66.1160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20.7105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27.5001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29.7619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66.4583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20.7880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2.2330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27.8482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30.0520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63.7054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19.2808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28.2809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30.1761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63.9606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19.7550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28.4268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30.4479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62.8607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19.4954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2.0645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28.7420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Agent1400.mat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30.5116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68.3393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21.5078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28.5412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Agent1700.mat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30.5417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64.2228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19.4280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28.7690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30.5797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63.7484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19.5204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2.0847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28.8340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Agent1200.mat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31.0465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62.9055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18.2170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2.0262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29.3892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Agent1300.mat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31.3092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65.9519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21.0994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29.4860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D711A791-5345-ACCF-3167-4CE68188D14D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8966" t="-222222" r="-345977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2500" t="-222222" r="-27625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0137" t="-222222" r="-20274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6364" t="-222222" r="-124242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29.4306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66.1160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20.7105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27.5001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29.7619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66.4583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20.7880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2.2330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27.8482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30.0520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63.7054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19.2808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28.2809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30.1761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63.9606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19.7550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28.4268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30.4479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62.8607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19.4954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2.0645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28.7420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Agent1400.mat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30.5116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68.3393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21.5078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28.5412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Agent1700.mat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30.5417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64.2228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19.4280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28.7690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30.5797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63.7484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19.5204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2.0847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28.8340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Agent1200.mat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31.0465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62.9055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18.2170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2.0262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29.3892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Agent1300.mat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31.3092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65.9519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21.0994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29.4860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87BDEE5-FDEE-B042-5491-20EB2CBBD05B}"/>
              </a:ext>
            </a:extLst>
          </p:cNvPr>
          <p:cNvGrpSpPr/>
          <p:nvPr/>
        </p:nvGrpSpPr>
        <p:grpSpPr>
          <a:xfrm>
            <a:off x="431109" y="2568053"/>
            <a:ext cx="2335123" cy="2787389"/>
            <a:chOff x="7015754" y="3707990"/>
            <a:chExt cx="2335123" cy="278738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110B9C21-654D-2238-9505-F511FC1031AD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0C21EED7-F8C1-CF88-86D6-331927F21726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12" name="Grafik 11">
                  <a:extLst>
                    <a:ext uri="{FF2B5EF4-FFF2-40B4-BE49-F238E27FC236}">
                      <a16:creationId xmlns:a16="http://schemas.microsoft.com/office/drawing/2014/main" id="{9FEA37F9-B806-5390-88BB-5B4D7D89EE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6026ABF3-7B59-0692-43D7-11F42C5B7577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D9EF30D-F650-AD7A-8518-E493AE4C0E0B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600</a:t>
                </a:r>
              </a:p>
            </p:txBody>
          </p:sp>
        </p:grp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436C673-9420-1A9D-4B2B-98796311A690}"/>
                </a:ext>
              </a:extLst>
            </p:cNvPr>
            <p:cNvSpPr txBox="1"/>
            <p:nvPr/>
          </p:nvSpPr>
          <p:spPr>
            <a:xfrm>
              <a:off x="7441766" y="606449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Checkpoint600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BBFC28D-FB87-7751-D9A6-D48EDE910DA3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Run_x681, 600eps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1B5F09-716C-F4D8-1AB6-2F061F7579E8}"/>
              </a:ext>
            </a:extLst>
          </p:cNvPr>
          <p:cNvSpPr txBox="1">
            <a:spLocks/>
          </p:cNvSpPr>
          <p:nvPr/>
        </p:nvSpPr>
        <p:spPr>
          <a:xfrm>
            <a:off x="2141486" y="6492875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6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5460-D008-4ACC-D6C0-F9006500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BB1B07-5FB0-CA1A-6CC8-C2DA5EB3E32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735301"/>
            <a:ext cx="8032830" cy="677305"/>
          </a:xfrm>
        </p:spPr>
        <p:txBody>
          <a:bodyPr/>
          <a:lstStyle/>
          <a:p>
            <a:pPr marL="0" indent="0"/>
            <a:r>
              <a:rPr lang="es-ES_tradnl" noProof="1"/>
              <a:t>El agente ha aprendido una política con degradación significativa del rendimiento global fuera del entorno cercano al objetivo.</a:t>
            </a:r>
            <a:endParaRPr lang="es-ES_tradnl" sz="11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9924A0AA-9555-4A80-A99B-718194DB9446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i="1" noProof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𝑅𝑀𝑆𝐸</m:t>
                        </m:r>
                      </m:e>
                      <m:sub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noProof="1"/>
                  <a:t> en dominio angular del Agente600</a:t>
                </a:r>
              </a:p>
            </p:txBody>
          </p:sp>
        </mc:Choice>
        <mc:Fallback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9924A0AA-9555-4A80-A99B-718194DB9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t="-10811" b="-5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5D3541C9-D4BA-CFB9-9E82-38DE1C8AFCEF}"/>
              </a:ext>
            </a:extLst>
          </p:cNvPr>
          <p:cNvSpPr txBox="1"/>
          <p:nvPr/>
        </p:nvSpPr>
        <p:spPr>
          <a:xfrm>
            <a:off x="8980231" y="5094275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25DA273-0789-6B17-5B90-F28C046A2763}"/>
              </a:ext>
            </a:extLst>
          </p:cNvPr>
          <p:cNvSpPr txBox="1"/>
          <p:nvPr/>
        </p:nvSpPr>
        <p:spPr>
          <a:xfrm>
            <a:off x="399244" y="2470120"/>
            <a:ext cx="234395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un comportamiento concentrado en la zona central del dominio angular, donde alcanza su mayor precisión.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error aumenta de forma marcada hacia los extremos, evidenciando una pérdida de estabilidad y capacidad de generalización en esas regiones.</a:t>
            </a:r>
          </a:p>
          <a:p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2D74B3-F7AB-816B-1878-8334BCB59E6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2852157" y="2390777"/>
            <a:ext cx="5466924" cy="302101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E43F262-8FCF-C6B6-27D9-58E41D9EBBDE}"/>
              </a:ext>
            </a:extLst>
          </p:cNvPr>
          <p:cNvSpPr txBox="1">
            <a:spLocks/>
          </p:cNvSpPr>
          <p:nvPr/>
        </p:nvSpPr>
        <p:spPr>
          <a:xfrm>
            <a:off x="2265161" y="6492875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5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Macintosh PowerPoint</Application>
  <PresentationFormat>Breitbild</PresentationFormat>
  <Paragraphs>261</Paragraphs>
  <Slides>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2026-03-29T11:14:08Z</dcterms:created>
  <dcterms:modified xsi:type="dcterms:W3CDTF">2026-03-29T11:28:23Z</dcterms:modified>
</cp:coreProperties>
</file>