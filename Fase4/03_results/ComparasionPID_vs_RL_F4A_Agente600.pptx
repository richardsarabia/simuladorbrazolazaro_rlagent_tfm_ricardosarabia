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64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1" d="100"/>
          <a:sy n="101" d="100"/>
        </p:scale>
        <p:origin x="1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BFC263-1BBE-576A-BEC8-F60376EC0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00FA914-7810-85CD-4FDE-C4BD22A218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52FA8-D7D7-2A47-8282-27080FCA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1D0DCD-491E-3531-83D2-FF4EB7A12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10E28C-0E06-EECC-9FCE-4CD4F1F97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1741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08B087-CD74-FBC0-8202-670D80FB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525F9A-F0F8-4D06-4AB4-31EC3B88C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7A42BA-0C15-A45C-ACA3-89621B020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790EAE-09E3-0B94-9D25-38D055FE6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8C483-F5FD-B473-1362-C9C8032C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01200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295EA-F2FF-081E-A698-AE936C3CD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C3C262-2E61-CC0C-4C44-E1155D85A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3083B1-9F83-EE1E-CCF0-652DF146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627E046-3661-6C39-1A4B-0FA9711A4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B020D0-C103-CBDC-01C3-1A49C602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8132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422EA-DE2A-D83C-BBFC-E8E5BF3F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F92FC5-2E36-EC30-151B-29E6F20D4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A97E565-C213-3B52-37C8-10108C0D8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21E90-6BD5-2D60-958E-DA299E70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3CF40B-63EF-9567-03D7-947207156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0501B31-2C16-E5F8-E592-A9F9F8B0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10531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130712-19E2-01E8-3D05-EEC8401CE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B048C4-D9BA-6A4A-8555-23B378D85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1A32F8-38F3-7525-94EB-42FC0587C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F6F6BC-7E05-4773-963B-698BB80B1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9F9BA43-3A9F-726C-D854-D497ACA41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A9AA040-9C58-ADA4-F246-E7D0FDA7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1306D7-E72A-FC82-FFAD-87FC58DF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45303EE-9FB2-D2A9-8BA6-701A1438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065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05685-440B-A78E-B2EA-27F79CE75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14690F-329A-C123-0F27-3A6EDB3B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D6B8E9-1858-9547-3D22-5ED15468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C9DB3A-1C05-9387-C98B-0D1BCE25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315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0758FF1-EF54-79FA-E230-0498F00A4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CF473E9-307E-47C1-0C40-6CFD3BF4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BB4C8D-0595-C39F-430A-7682782F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44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D6C7A6-B5FC-8141-FB3C-4D0A38F6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4EC3C7-3086-0F3E-C74F-DB3D6518C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2CFE5C-7F15-B8BF-521A-6AF9CE678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C76B0D7-68B0-35E1-456E-57628032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3D60F7-BE9F-3B54-477C-B0713B79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877DD3-F367-1B83-B858-F9A5ECDD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11892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8D5063-F72C-0F65-F7A2-D0EC5F00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B2393E-29FA-19D4-D9BC-B39B306AA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2005F9E-96DB-C5A4-9F21-BD17DC19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E2B9FF-2312-4740-FFA6-D0D220487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4577A6-AF49-B587-1DA7-1B7B6E21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630428-BDC7-2D86-F674-FD77926E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5119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51D9F-9FFB-B4AF-163E-BFDBF9CF7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39DE81-F1D2-91C1-110B-27D82A700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EBB36-6D11-5A2B-A978-5006130B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B54D36-2BBC-98EE-83C1-C43A133F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82F7B-A558-C6E2-238D-5C9198EE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035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B98F75-EB23-F6B7-BD58-D7506B006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F6F3B8B-9725-D062-5245-DA5E5D7B5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6FAF26-5337-C791-86BC-8B4E0DC2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0D1BCB-4DB9-13B1-DA8A-6368EC9D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F4AF8D-E5E5-41B0-09BE-9989A4E4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58591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valuacion_RL_Sig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RL en la Simulación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5928" y="4961947"/>
            <a:ext cx="11065209" cy="1007846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E823874B-BE42-6B9C-CBCF-8EFCB6AD8788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90D1329D-A0BF-1FBB-6936-392FA8034A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nlinebild-Platzhalter 13">
            <a:extLst>
              <a:ext uri="{FF2B5EF4-FFF2-40B4-BE49-F238E27FC236}">
                <a16:creationId xmlns:a16="http://schemas.microsoft.com/office/drawing/2014/main" id="{3A0C70E0-48D5-A72C-4A82-0E880E0730C9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583277" y="2077327"/>
            <a:ext cx="5271637" cy="2506018"/>
          </a:xfrm>
        </p:spPr>
        <p:txBody>
          <a:bodyPr/>
          <a:lstStyle/>
          <a:p>
            <a:endParaRPr lang="es-ES_tradnl"/>
          </a:p>
        </p:txBody>
      </p:sp>
      <p:sp>
        <p:nvSpPr>
          <p:cNvPr id="11" name="Inhaltsplatzhalter 28">
            <a:extLst>
              <a:ext uri="{FF2B5EF4-FFF2-40B4-BE49-F238E27FC236}">
                <a16:creationId xmlns:a16="http://schemas.microsoft.com/office/drawing/2014/main" id="{E03F487B-0478-3EA0-504F-340815C8A1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61487" y="2465822"/>
            <a:ext cx="2688490" cy="202763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68898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70A587-030B-9F57-2127-205CD0B4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73966FD-DF28-4558-C7D1-480277CDB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E2D684-5587-A5F1-3DD1-ADCBAB7C1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8E727-4CDD-BC4A-A693-9AEF738E0BF2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CC70A4-046A-FFC5-04CB-2FA7F7A830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300C18-A415-4159-A03E-518DBC3DD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9A417-FE9B-E84E-8156-DACD2CB4D877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29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72EE8-61FF-7CBC-E316-DF732451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2F4912-FECD-B7FC-EBC1-C8ABF69CCB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5462" y="1377414"/>
            <a:ext cx="9458516" cy="449263"/>
          </a:xfrm>
        </p:spPr>
        <p:txBody>
          <a:bodyPr>
            <a:normAutofit/>
          </a:bodyPr>
          <a:lstStyle/>
          <a:p>
            <a:r>
              <a:rPr lang="es-ES_tradnl" dirty="0"/>
              <a:t>Comparación en el domino Angular : PID vs Controlador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A5364CE-9ECA-6D6E-5E16-E686F2F3C970}"/>
              </a:ext>
            </a:extLst>
          </p:cNvPr>
          <p:cNvSpPr txBox="1"/>
          <p:nvPr/>
        </p:nvSpPr>
        <p:spPr>
          <a:xfrm>
            <a:off x="1092363" y="5180292"/>
            <a:ext cx="95231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controlador RL (Agente 600) alcanza un desempeño comparable al PID en condiciones nominales y lo supera bajo perturbaciones, mostrando menor RMSE y mejor adaptación a efectos gravitacionales. Aunque el PID mantiene mayor suavidad, el RL presenta mejor capacidad de generalización</a:t>
            </a:r>
          </a:p>
          <a:p>
            <a:endParaRPr lang="es-ES_tradnl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9E57921-100E-7020-8B6C-04C32D2235F2}"/>
              </a:ext>
            </a:extLst>
          </p:cNvPr>
          <p:cNvSpPr txBox="1"/>
          <p:nvPr/>
        </p:nvSpPr>
        <p:spPr>
          <a:xfrm>
            <a:off x="9418150" y="4918682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=-10°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25CCC33-03BE-D3FB-CF5C-FCD74A847115}"/>
              </a:ext>
            </a:extLst>
          </p:cNvPr>
          <p:cNvSpPr txBox="1"/>
          <p:nvPr/>
        </p:nvSpPr>
        <p:spPr>
          <a:xfrm>
            <a:off x="4732014" y="4862769"/>
            <a:ext cx="16814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1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Pitch, Roll =0°</a:t>
            </a:r>
            <a:endParaRPr lang="es-ES_tradnl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Fußzeilenplatzhalter 2">
            <a:extLst>
              <a:ext uri="{FF2B5EF4-FFF2-40B4-BE49-F238E27FC236}">
                <a16:creationId xmlns:a16="http://schemas.microsoft.com/office/drawing/2014/main" id="{EF378088-673C-3558-46A2-C1381432F3B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244E06-7A91-A2EC-221F-FA48C2A9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51" y="1939319"/>
            <a:ext cx="4848137" cy="2916672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23EEF55-370F-975C-6650-4C720F90B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154" y="1969659"/>
            <a:ext cx="4603270" cy="290640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4B4CE603-C8A9-AA72-1F1A-5327FB79FAC7}"/>
              </a:ext>
            </a:extLst>
          </p:cNvPr>
          <p:cNvSpPr txBox="1"/>
          <p:nvPr/>
        </p:nvSpPr>
        <p:spPr>
          <a:xfrm>
            <a:off x="2329807" y="2088287"/>
            <a:ext cx="1906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dirty="0"/>
              <a:t>Plataforma plana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1655089-60D6-F227-D89F-FB87507BFB8F}"/>
              </a:ext>
            </a:extLst>
          </p:cNvPr>
          <p:cNvSpPr txBox="1"/>
          <p:nvPr/>
        </p:nvSpPr>
        <p:spPr>
          <a:xfrm>
            <a:off x="7177944" y="2130909"/>
            <a:ext cx="1906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00" dirty="0"/>
              <a:t>Plataforma inclinada</a:t>
            </a:r>
          </a:p>
        </p:txBody>
      </p:sp>
    </p:spTree>
    <p:extLst>
      <p:ext uri="{BB962C8B-B14F-4D97-AF65-F5344CB8AC3E}">
        <p14:creationId xmlns:p14="http://schemas.microsoft.com/office/powerpoint/2010/main" val="2700723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Macintosh PowerPoint</Application>
  <PresentationFormat>Breitbild</PresentationFormat>
  <Paragraphs>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1</cp:revision>
  <dcterms:created xsi:type="dcterms:W3CDTF">2026-03-29T12:47:03Z</dcterms:created>
  <dcterms:modified xsi:type="dcterms:W3CDTF">2026-03-29T12:48:10Z</dcterms:modified>
</cp:coreProperties>
</file>