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54" r:id="rId2"/>
    <p:sldId id="755" r:id="rId3"/>
    <p:sldId id="756" r:id="rId4"/>
    <p:sldId id="757" r:id="rId5"/>
    <p:sldId id="758" r:id="rId6"/>
    <p:sldId id="759" r:id="rId7"/>
    <p:sldId id="7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564"/>
  </p:normalViewPr>
  <p:slideViewPr>
    <p:cSldViewPr snapToGrid="0">
      <p:cViewPr>
        <p:scale>
          <a:sx n="95" d="100"/>
          <a:sy n="95" d="100"/>
        </p:scale>
        <p:origin x="14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73BF7-46C5-99BC-09E3-39909E8B9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1C3B86-90D6-F4F2-CD5E-70C37E258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59D07F-49BC-6AEA-95E5-58BFFBB2A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A5E5D7-1DB8-C5C1-BA77-EF61B342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BD9AC-A9DF-1600-4584-36F298C7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74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0C90F-89AF-E963-06C8-FC7C0E60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E0555E-02E0-2DE4-F378-777C51B85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2DC251-BDCF-9D34-F825-D356E65B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C06E7F-4E6F-39AF-BF74-307C12CB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5AE90-1C2E-2D00-04A1-DE0FCFA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01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E836E-62C3-6B52-7292-BA969843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B405A-20DC-4EBB-C58B-428C17290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4CC38-4A96-57D7-B703-9774A9D2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5D1B-5AFD-8DAB-DF86-A22EE102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2028C4-ECA7-D5EA-714A-D4800739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799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6388B-BB7B-0362-CD09-B470159D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41C25-3CF4-DCFA-ADDC-000FC5897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60EC1C-3245-CA94-9FB2-ED1758660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6243A7-7A99-11E3-9D05-1B08DBAD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3F235D-1977-2DF2-42F3-D0C2D14B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8ACFD9-57F7-F919-88E0-A632340D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27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B7EDD-63F5-7C88-1A52-8D5B268F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AF06E2-1DEA-7C74-CF88-08C737ED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DA7E60-A962-5F75-0C03-DBD2191AA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7FD546-1944-8C4F-365C-4884B13AB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BFCC59-D117-C08D-7CEA-E1E08AB07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7D3199-F1AC-7B83-E3B9-7DEB7593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80B57A-4B19-4935-8839-B95F1749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BA150C-641F-C8C8-D0C8-24582910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693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76258-137B-509F-5997-506FFEAD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38BA2F-886D-D75B-5F52-61F0438C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083F66-E582-32FD-126A-66319158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459FFE-1C59-E8CA-159A-EC480539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151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A1C374-2556-97BE-0FAE-0CA53C9B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1A3CD6-BF95-C4FD-3EDC-025C4020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A56585-3FEA-E005-40E3-1898D316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322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B8138-F789-75D6-3CDD-E590815A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110EE6-B000-C08B-0026-16603BA5D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454095-2454-EA7C-DEC7-7932722D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B89788-32A7-09C2-5EBF-E1A67FF23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72FC6-60E8-8C20-EBD5-C791B741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64B37A-F60A-719F-7E02-43744B2C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741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40FF4-09F6-721D-A7D7-E77FF72F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D6A62B-A317-FF54-486C-2C76D8FC8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FFB12C-AE0B-833E-EC13-B41B0ACC4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F97DFF-7FF3-23D2-B6E5-C80F0CE9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46ABB9-AEA4-1CA6-56E4-40405759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997045-4AB7-98ED-19F5-3B1F5399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408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64EAA-9AFF-F48C-BAE2-8B5AA77A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06E6A8-78FC-8F13-2506-412311B1F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E8EBF-70A5-E515-2D2F-7FCF4BDD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A64DAF-1D14-3985-EB8C-867FFAA4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AA2C5-97B3-F3FF-90E5-67933D2C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711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A1FAB4-E00F-9E0A-0BB2-8B6598A27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8303C9-C424-506E-DD51-20C940A51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F519F-E2AB-0356-86A0-FD7C65D6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BC4242-43ED-6073-F956-0356AC77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7EC8FC-4BBC-ED25-2B9A-18F5B988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179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9298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3549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E60BF9-B482-4018-209F-A439AE4E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38565C-1E5A-715A-CC7F-295D6813E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BF7A41-4710-0369-F558-85DA942A4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DC874-0B94-104B-AD4D-F0B4B25CCB1B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DE5A6-5511-4002-F971-F98A70BA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19DEE-15E5-50D2-C1AC-AF631CA39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E4616-B467-094D-9F8B-ED177CBA973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00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9841-67BD-1BB7-C768-80905EDA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A0E84E9-EFC6-868C-A0A5-6F28DB34DD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3093" y="5059777"/>
            <a:ext cx="5064755" cy="121751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_tradnl" sz="1400" noProof="1"/>
              <a:t>La posición inicial introduce distorsiones en el RMSE, con valores medios entre ≈ 28.67° - 33.01°. Aunque el incremento global es moderado, se observan deformaciones locales en la curva, evidenciando una fuerte dependencia del estado inicial.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7B016C-F16A-D023-2FD7-4E79D01277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6FF41D35-6239-4D63-D0D2-3076E0C5709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DFA2FDA6-B117-4C41-95B1-DC51AAC0D21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15854"/>
            <a:ext cx="5365750" cy="3878855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24C7899F-4E09-920D-21C4-2B693CC0A05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42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494A-1CA8-7033-2D06-B85E155E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B34584-A2E5-1945-6173-7C27114684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A6FA5847-269B-987C-5D2E-8FB2F1B9E8F3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46.42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31.09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45.16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11.50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222.00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51.92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34.08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45.10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4.80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50.65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92.87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84.33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19.96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30.25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437240F-7267-A615-C2EC-F8E44035EB8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casos, con RMSE ≈ 9.94°–11.50° en condiciones nominales. No obstante, para o1ini = −90° el RMSE aumenta hasta ≈ 50.65°, evidenciando una fuerte dependencia del estado inicial.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BC3F8A52-0CA4-4C58-8EBB-3BCFC1010FC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4383028" y="2078038"/>
            <a:ext cx="6549431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A6258D8-4AC4-F9BE-2A0A-C6B8F9AB818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7750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BEB4-20EB-CFDC-DC59-6A5B8BC3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BEECD5-D3AF-BACF-9D1D-D65FF1B64A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E9CA760C-EED4-F03A-0151-55502A4D4E6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7EC73163-9DAA-E9EB-0C23-C833A9F3DE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El retardo no modifica la forma del RMSE y solo introduce una penalización leve (≈ 28.67° → ≈ 29.08°, +1.4%).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9B7D8136-EDEE-6C43-0791-3F5951C55D3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15854"/>
            <a:ext cx="5365750" cy="387885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D962E33-3870-39E6-E755-B4BF9F6603E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1853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6EBD-01CF-F200-E83D-EF8A1808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8364EB-F93F-5AC8-70B4-F289E27192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D5D02FE-FB04-F714-D865-1443D46460BB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46.42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31.09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5.78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12.85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194.00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48.47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32.38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44.71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33.57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54EA472-0BAB-BA91-07DD-4CF2933C396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casos. El retardo introduce una degradación leve en el transitorio (RMSE ≈ 9.94° → ≈ 10.31°, +3.7%) y aumenta el sobreimpulso, sin afectar el error estacionario.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A348E75-75D6-B195-4C66-AA3485B48C1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41594" y="2078038"/>
            <a:ext cx="643710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FB4A830-17C2-5006-41B2-96CDB5B84B1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5474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7C4F-4DCA-66EA-228A-C093F939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476E33-1A54-66C1-3FAF-F2DE3988A4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3F382F3-9F7D-C11E-394E-76CBB9B7C46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8EAA25C9-94FC-9481-973E-6CEC918154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71644" y="5086906"/>
            <a:ext cx="4534893" cy="1503764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La velocidad inicial introduce una leve asimetría en el RMSE (≈ 28.67° → ≈ 29.67°), sin modificar la forma global de la curva.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66CCDD3F-03E7-1B07-A80E-87FB5AF83BC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15854"/>
            <a:ext cx="5365750" cy="387885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3A08369-7E42-3878-8B78-69A3E9874C8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35553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0439-158A-8075-E701-86C27498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276795-51CA-21B5-248E-821D55CA31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7161438-6FE1-A321-EA50-F14A78D88435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5.21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11.58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31.38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46.42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31.09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4.74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50.72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15.88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58.91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DFAE34A-8153-370E-04AA-99B8B87E668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casos. La velocidad inicial introduce una respuesta asimétrica (RMSE ≈ 7.72° → ≈ 14.02°), sin afectar el error estacionario.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7AFB2CB9-C3F7-5769-9C7B-1FB9359D34A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8358" y="2078038"/>
            <a:ext cx="662671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3CB0BB3-E1D9-F6FA-E8A1-947DAC486CD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70505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0243-2BAF-A37A-BA36-8EA04494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112538-B871-6281-6546-BBEC2216B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9BA5AC-6189-5C3B-9A37-C27EA0F94D71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EC939CF-9153-6E28-902C-740B9DE6BBEB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DEC30FB-B5BC-5A93-9D1D-75E68EB1AD2B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D224ADD-70F7-73D9-8256-EBEACD8A0D2F}"/>
              </a:ext>
            </a:extLst>
          </p:cNvPr>
          <p:cNvSpPr txBox="1"/>
          <p:nvPr/>
        </p:nvSpPr>
        <p:spPr>
          <a:xfrm>
            <a:off x="376884" y="5440095"/>
            <a:ext cx="1160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la continuidad del RMSE, pero pierde simetría bajo inclinación. El retardo tiene impacto mínimo (≈ +1–4%), mientras que las condiciones iniciales —especialmente la velocidad— introducen asimetrías y degradaciones, con RMSE de hasta ≈ 14° en el transitorio.</a:t>
            </a:r>
          </a:p>
        </p:txBody>
      </p:sp>
      <p:pic>
        <p:nvPicPr>
          <p:cNvPr id="2" name="Onlinebild-Platzhalter 5">
            <a:extLst>
              <a:ext uri="{FF2B5EF4-FFF2-40B4-BE49-F238E27FC236}">
                <a16:creationId xmlns:a16="http://schemas.microsoft.com/office/drawing/2014/main" id="{ADA38DEE-46C4-F4BF-4F55-3027E29D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98" y="2299628"/>
            <a:ext cx="3452196" cy="2702599"/>
          </a:xfrm>
          <a:prstGeom prst="rect">
            <a:avLst/>
          </a:prstGeom>
        </p:spPr>
      </p:pic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E5B3887A-75B8-70DF-2BF6-FE8AB858879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099508" y="2283300"/>
            <a:ext cx="3653273" cy="2702600"/>
          </a:xfrm>
          <a:prstGeom prst="rect">
            <a:avLst/>
          </a:prstGeom>
        </p:spPr>
      </p:pic>
      <p:pic>
        <p:nvPicPr>
          <p:cNvPr id="7" name="Onlinebild-Platzhalter 5">
            <a:extLst>
              <a:ext uri="{FF2B5EF4-FFF2-40B4-BE49-F238E27FC236}">
                <a16:creationId xmlns:a16="http://schemas.microsoft.com/office/drawing/2014/main" id="{54D21C0C-7AC2-0921-7FA8-C0B08189C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49" y="2283301"/>
            <a:ext cx="3631159" cy="2678646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04DC6560-C6F2-0F28-EDE5-823901CD4F3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6051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Macintosh PowerPoint</Application>
  <PresentationFormat>Breitbild</PresentationFormat>
  <Paragraphs>222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2026-04-11T20:17:43Z</dcterms:created>
  <dcterms:modified xsi:type="dcterms:W3CDTF">2026-04-12T06:30:27Z</dcterms:modified>
</cp:coreProperties>
</file>