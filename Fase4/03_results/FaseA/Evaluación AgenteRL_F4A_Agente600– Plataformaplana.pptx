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38" r:id="rId2"/>
    <p:sldId id="639" r:id="rId3"/>
    <p:sldId id="640" r:id="rId4"/>
    <p:sldId id="641" r:id="rId5"/>
    <p:sldId id="642" r:id="rId6"/>
    <p:sldId id="643" r:id="rId7"/>
    <p:sldId id="644" r:id="rId8"/>
    <p:sldId id="645" r:id="rId9"/>
    <p:sldId id="646" r:id="rId10"/>
    <p:sldId id="647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89"/>
    <p:restoredTop sz="94658"/>
  </p:normalViewPr>
  <p:slideViewPr>
    <p:cSldViewPr snapToGrid="0">
      <p:cViewPr varScale="1">
        <p:scale>
          <a:sx n="120" d="100"/>
          <a:sy n="120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92FB4E-D277-DAAB-7973-6D29AF7CB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483B47-14D3-A6E1-EBF8-1E7550DBC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294CC8-6583-43C7-1EA3-AAA312305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F9B7AF-80A5-9C01-385F-896E64F1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CE30F4-A160-8203-2C89-F539487E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6082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1CF3C5-B0FA-C2BF-A945-657B1C0B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90B40E-6BBC-4BA6-803C-8DED18B8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C7D455-8D0D-6BCB-9BBD-4178E413C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8ED7BD-B5DA-872B-6E18-B0C558BC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7FFA09-B009-731E-0211-93728884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1796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75D52-FAED-4A43-4A97-F9B64BA0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347CC6-12BF-71C5-66D1-9E9946B87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74921A-54A7-BFCD-8B16-E8EB2743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6740C1-ACD0-4E12-62F7-B76E241B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17F562-AF0A-932C-5C93-E88B511B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806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A700BB-7FFC-B78A-0366-7786B9A1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0C51EC-D335-CF28-DBD6-1821158D2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082170-D872-EC18-1222-DFB1B230B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7B3AA8-2AFD-A0D5-B251-723616863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5B30B7-7059-540A-EF5C-30EF1786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FA0D20-0D97-8E59-540A-7F8462CFA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92947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83E0F1-7709-EA46-1CD8-F7DB2751C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4D9722-5905-6C09-D4E1-9F173D26E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5C5935-C55A-F2E4-1F9A-A4E50E615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5757B2-D6E1-16E9-8A5D-0C2875428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3722246-82C0-E3D7-D9C1-ACA995215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2CA36FC-A20A-3DF0-738E-533C01EC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CAAD1D-6121-AF3E-149E-6AE2DD76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42C42-2579-8DE8-0638-247F7510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1546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FEA0A8-FCD0-01A9-6F9D-2550C9E9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7E1571-C4C6-B4D1-741D-BBB237BB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85B70D-ECE3-FFCA-24EA-1190A9DC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97ADA2-BADF-C002-4DCB-9AAA5CA4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1323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BEE4EC-465A-384C-1EA6-876762FE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1BC9643-A273-258B-47C1-A178F8B6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C1AC05-39AC-65D9-D862-48FB3787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557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8C6E4B-210E-FF82-E938-58ECE2F4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278CDC-239E-75E0-A8DF-026668A11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14289F-892A-D26E-8991-22B955E52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DA771F-35F3-B532-09B8-DCCD65B6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624F18-C81E-6333-43F1-266F1501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E945C9-5873-AF47-C3EE-24B3AB75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279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87774-A47F-56BC-AC93-F9EA6E431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6DE837-FA3C-DD0F-8236-B244E95E9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C1152E-4A5B-785C-C2B2-0D8EA4663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C2AAFB-65B8-D67D-9A5C-7470F109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2B2AB7-8333-18C0-69AB-C9D3E96E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D29517-CD7A-3F36-0E76-19CB7B39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4753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FE0E8C-3B85-672F-75C6-A1D131E1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4D1162-428A-0067-2F83-2FC152899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D40286-4A8B-0E6F-C0A1-CC84CF5E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DCCCB3-F5A0-17EC-4D25-23313E0B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ABF1A1-796B-4270-88EC-560E3224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81556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BD6ECB3-56D9-4C9F-FF14-E1906B22ED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09C915E-C259-42B3-8B8D-CCF3FDD95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C82A30-C463-4731-15D9-682CBB84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829D3D-2AE4-CC3F-7463-D051026C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2217FC-B692-DA65-09C7-7BB231B5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83389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7497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4429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DE9F47-DC62-4CD7-F6F2-6428E904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C447C0-CA82-39D2-F4B0-B48A100BA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3C6F86-EB1B-C46B-C601-272FA55BD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E49E1-B6AC-7545-825E-B0154656A4CF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81384E-E5E5-327F-13BA-25D110212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87AFE1-4783-627C-8583-E5F91682A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599A5-38AD-7F4C-8668-DB8A18AE1C8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391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F6CD-FE1F-C9D7-796E-5A085C62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50F80B8-18BF-B0E7-F564-6C80B18DAB9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s-ES_tradnl" dirty="0"/>
              <a:t>La posición inicial introduce variaciones significativas en el RMSE, generando distorsiones en la curva y evidenciando una alta dependencia del agente respecto al estado inicial.</a:t>
            </a:r>
          </a:p>
          <a:p>
            <a:pPr algn="l"/>
            <a:endParaRPr lang="es-ES_tradnl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B785FA-0CF5-89E1-B90A-36112BAF33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dirty="0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B3553895-13BC-43A0-3D49-9402D34C0408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do1ini= 0°, Retardo=0ms </a:t>
            </a:r>
            <a:endParaRPr lang="es-ES_tradnl" sz="1400" dirty="0"/>
          </a:p>
          <a:p>
            <a:pPr algn="l"/>
            <a:endParaRPr lang="es-ES_tradnl" sz="1400" b="1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C48AEC81-2ACB-57F6-5877-997D553C0E93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9" name="Onlinebild-Platzhalter 8">
            <a:extLst>
              <a:ext uri="{FF2B5EF4-FFF2-40B4-BE49-F238E27FC236}">
                <a16:creationId xmlns:a16="http://schemas.microsoft.com/office/drawing/2014/main" id="{9CA23819-1477-CF0D-6DB3-C536B9C50DEA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815491" y="2151063"/>
            <a:ext cx="4776167" cy="40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65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893D-9F8F-FF3A-D69C-5A93B70A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CDBA5F-E7EE-D36A-8B4D-AD317F253F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E3F4EE0F-AF96-909C-9458-E3707FD6220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148130779"/>
              </p:ext>
            </p:extLst>
          </p:nvPr>
        </p:nvGraphicFramePr>
        <p:xfrm>
          <a:off x="561487" y="4637083"/>
          <a:ext cx="10532960" cy="12998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7.76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10.29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251.00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20.71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4.27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40.11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52.66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7.66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12.55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139.41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307.00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18.86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3.90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27.31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-307.34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-134.93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-299.84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7.66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77.62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339.44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59.33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10.78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25.74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2DC1CBF-06EA-DD66-2FD8-8FEAD3B60F28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El agente converge en todos los valores de o1ini (−90°, 0°, 90°).</a:t>
            </a:r>
          </a:p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Bajo condiciones nominales, el RMSE se mantiene bajo (≈ 10–12°).</a:t>
            </a:r>
          </a:p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Se observa estabilidad temporal y buen seguimiento de referencia.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E7931CD9-0784-5116-292F-04180923009F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02152" y="2078038"/>
            <a:ext cx="6748272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7AD6C14-3B10-E5CD-E3CD-D2726AEB2B4D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843998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6365B-66B1-4AE7-0123-526C798C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56F0ED-DE6D-686D-0B60-3A6FC724EE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358631BE-CAB1-62DE-4056-4342B76BE15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397336306"/>
              </p:ext>
            </p:extLst>
          </p:nvPr>
        </p:nvGraphicFramePr>
        <p:xfrm>
          <a:off x="673660" y="4771204"/>
          <a:ext cx="10532960" cy="1590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112.28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-22.20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-16.45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22.72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24.34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409.06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168.00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1.75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15.60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3.63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44.75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119.10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-14.83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-10.99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44.87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315.68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9.40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2.76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43.20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8.13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20.37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-248.09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-224.95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-166.63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47.33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436.94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207.00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2.90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47.34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8.86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32.30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de-DE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2C7F18E-1207-AB78-6E0D-BFB25790E7E1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Se evidencia degradación significativa en condiciones extremas.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El RMSE aumenta (≈ 24–47°) dependiendo del estado inicial.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La política comienza a mostrar comportamiento local y pérdida de generalización.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C64F964D-BC62-AB7F-5580-960A5899F40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74136" y="2078038"/>
            <a:ext cx="7397496" cy="259454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F0E996F-F943-8870-331E-52602634A6CE}"/>
              </a:ext>
            </a:extLst>
          </p:cNvPr>
          <p:cNvSpPr txBox="1"/>
          <p:nvPr/>
        </p:nvSpPr>
        <p:spPr>
          <a:xfrm>
            <a:off x="5742432" y="3907588"/>
            <a:ext cx="3776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800" dirty="0"/>
              <a:t>Agente no sigue el espacio geodésico, -248°, -248° ≡ 112° en el espacio angular</a:t>
            </a:r>
          </a:p>
          <a:p>
            <a:pPr algn="ctr"/>
            <a:r>
              <a:rPr lang="es-ES_tradnl" sz="800" dirty="0"/>
              <a:t>error =  23°</a:t>
            </a:r>
          </a:p>
          <a:p>
            <a:pPr algn="ctr"/>
            <a:r>
              <a:rPr lang="es-ES_tradnl" sz="800" dirty="0"/>
              <a:t>   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0B8F2B7-4B36-6AE0-A875-DF328D96BD4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26386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38F3-6D15-49A3-B081-7D19E0E4E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54BFDD-5A74-C42A-AC74-4EA40D2FA7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D9A20022-18E8-A5FB-287D-02451DF53FD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953565300"/>
              </p:ext>
            </p:extLst>
          </p:nvPr>
        </p:nvGraphicFramePr>
        <p:xfrm>
          <a:off x="606425" y="4962525"/>
          <a:ext cx="10532960" cy="12414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567112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25303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589540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-192.37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33.37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57.37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53.65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1016.39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231.00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2.03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21.15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4.36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33.43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-175.36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53.93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704.21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2.81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44.64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8.54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8.27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-192.55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166.67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57.55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84.30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1049.43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2.72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41.98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7.64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45.17</a:t>
                      </a:r>
                      <a:endParaRPr lang="de-DE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D5B10D6-D132-0D2E-F0D6-6BB4590C2959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Se presentan los mayores errores del dominio (RMSE ≈ 53–84°).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Alta sensibilidad al estado inicial y aumento del esfuerzo de control.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es-ES_tradnl" sz="1200" dirty="0"/>
              <a:t>Se confirma una degradación estructural de la política global.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9B96B5A3-25BF-3028-D129-A0D17714C7C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249977" y="2078038"/>
            <a:ext cx="7375351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AF4E909-1B73-D1F0-664A-3B57CE640B6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386302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C35F-B456-B5F8-0238-AF8AA483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57AD02-F986-E17E-4D6B-5E2D074B27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807C3546-C69C-CDE8-046E-C6A372B0F74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022576785"/>
              </p:ext>
            </p:extLst>
          </p:nvPr>
        </p:nvGraphicFramePr>
        <p:xfrm>
          <a:off x="561486" y="4765096"/>
          <a:ext cx="10974839" cy="12414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9360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60916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901669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5810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59301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71389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88863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84194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81702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64250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61710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566970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43383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55768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48050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613819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-48.63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10.84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68.30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115.00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1.83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17.59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12.53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-42.77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4.97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11.08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1.93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19.58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4.29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28.75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-42.77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42.64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80.05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44.41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7.97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34.79</a:t>
                      </a:r>
                      <a:endParaRPr lang="de-DE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7C7766F-FF61-A8E3-5B7F-7AD5645C7A62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El agente recupera parcialmente el desempeño en condiciones nominales.</a:t>
            </a:r>
          </a:p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RMSE bajo para o1ini = 0° (≈ 10–11°), pero alto en extremos (≈ 42°).</a:t>
            </a:r>
          </a:p>
          <a:p>
            <a:pPr marL="171450" indent="-171450" algn="l">
              <a:buFont typeface="Symbol" pitchFamily="2" charset="2"/>
              <a:buChar char="-"/>
            </a:pPr>
            <a:r>
              <a:rPr lang="es-ES_tradnl" sz="1200" dirty="0"/>
              <a:t>Persisten efectos de </a:t>
            </a:r>
            <a:r>
              <a:rPr lang="es-ES_tradnl" sz="1200" dirty="0" err="1"/>
              <a:t>sobreentrenamiento</a:t>
            </a:r>
            <a:r>
              <a:rPr lang="es-ES_tradnl" sz="1200" dirty="0"/>
              <a:t> con dependencia del estado inicial.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36A37A06-F2AC-D778-5F0D-55F6ABF19D5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3592" y="2078038"/>
            <a:ext cx="7086600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41E5419-809E-9242-0E6D-AF5BC69CB9F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56892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2D668-875F-004D-4235-DC33D9CD0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201C67-5103-3105-BD43-88576AF378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dirty="0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7A6FC854-7899-67C0-DC1A-DEC5499C30FF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do1ini= 0° </a:t>
            </a:r>
            <a:endParaRPr lang="es-ES_tradnl" dirty="0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67A49382-921B-DD92-1E88-22173DC802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858024" cy="977315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El sistema mantiene estabilidad y seguimiento de referencia; el incremento del retardo produce un aumento moderado del sobreimpulso y del esfuerzo de control, sin afectar la convergencia.</a:t>
            </a:r>
          </a:p>
          <a:p>
            <a:pPr algn="l">
              <a:lnSpc>
                <a:spcPct val="120000"/>
              </a:lnSpc>
            </a:pPr>
            <a:endParaRPr lang="es-ES_tradnl" sz="1400" dirty="0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6644D64D-73F6-6E8D-2785-5362CF797433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96842486-D4A7-AB59-8A93-CB5F654A3D9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815491" y="2151063"/>
            <a:ext cx="4776167" cy="40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9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3A1A-92C9-FA71-DD86-80C13333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A5958C-942A-C773-9362-90E88C3CA1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7B99A110-2D4F-7E25-E9C5-8F890BBF749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82505700"/>
              </p:ext>
            </p:extLst>
          </p:nvPr>
        </p:nvGraphicFramePr>
        <p:xfrm>
          <a:off x="561486" y="4726469"/>
          <a:ext cx="10900410" cy="12414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5567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5711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95554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5228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54151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66836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83513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78876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43656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9452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675408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500633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39020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49964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43656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609656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10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7.76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10.29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17.12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251.00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18.86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3.90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27.31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9.68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10.46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18.16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104.00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1.93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19.74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4.13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28.99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5.47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12.16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5.94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10.63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179.00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1.98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20.84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4.21</a:t>
                      </a:r>
                      <a:endParaRPr lang="de-DE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32.20</a:t>
                      </a:r>
                      <a:endParaRPr lang="de-DE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E324EAF-76B1-61ED-0FBA-A6FE5B9776A9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dirty="0"/>
              <a:t>El sistema mantiene estabilidad y convergencia, con ligeros incrementos en sobreimpulso y esfuerzo de control a medida que aumenta el retardo.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125CD632-4FCC-C56E-96E9-F2CE2A0BED1E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45243" y="2078038"/>
            <a:ext cx="6734433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4EDE0A1E-48BA-B1E6-3FCF-31BFF03085D6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081661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97C7A-4249-3B87-D792-7958A155C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CC73A-9249-767C-508D-EC2583A900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37634F7-3910-C79C-6C88-0BF5ACA627A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Retardo=0ms </a:t>
            </a:r>
            <a:endParaRPr lang="es-ES_tradnl" dirty="0"/>
          </a:p>
          <a:p>
            <a:endParaRPr lang="es-ES_tradnl" b="1" dirty="0"/>
          </a:p>
          <a:p>
            <a:endParaRPr lang="es-ES_tradnl" dirty="0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28A9C9CB-726D-0DE2-00DE-6BC6A313A0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1066521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La velocidad angular inicial afecta el transitorio, generando variaciones en sobreimpulso, tiempo de establecimiento y esfuerzo de control, manteniendo la estabilidad.</a:t>
            </a:r>
          </a:p>
          <a:p>
            <a:pPr algn="l">
              <a:lnSpc>
                <a:spcPct val="120000"/>
              </a:lnSpc>
            </a:pPr>
            <a:endParaRPr lang="es-ES_tradnl" sz="1400" dirty="0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6B9A51F-2114-70AF-0879-676C37EF347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E87A3430-2C72-5014-6F4C-D7C974A8724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815491" y="2151063"/>
            <a:ext cx="4776167" cy="400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21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3EF2-1259-F750-ABF7-78DE1720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4B0F8E-4E63-2124-6D2D-51CB1696E7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47CF37E4-F0C6-43A3-2272-F62D06437D0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674842345"/>
              </p:ext>
            </p:extLst>
          </p:nvPr>
        </p:nvGraphicFramePr>
        <p:xfrm>
          <a:off x="610072" y="4750853"/>
          <a:ext cx="10971856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9208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60764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901424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57869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59094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7120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88649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83981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47874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97767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72878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710871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4320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55535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47874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613652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7.55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16.14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121.00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1.56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12.05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28.29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7.76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10.29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251.00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18.86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3.90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27.31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45.77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3.59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7.98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22.64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24.95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55.35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E067583-1633-309C-AE8A-8D6ED8E97F74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6" y="2465822"/>
            <a:ext cx="2867513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La velocidad angular inicial introduce variabilidad en el desempeño transitorio, incrementando el sobreimpulso y el esfuerzo de control, sin comprometer la estabilidad del sistema.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1030A0BC-BE90-2216-440F-4D20020A9E0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905944" y="2096326"/>
            <a:ext cx="6271328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46EBADE-7CF7-2193-B7CB-EEA02E339D82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862196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22AC-4F0A-6CD2-79F1-79CD9DF19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D070C8-360D-A779-BA84-CC45491C7C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FAF1095-9600-F4F5-5CBB-598F6156A3E0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C96E02A-F044-F945-B2DC-11CAB4B6C12D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B13E813-2B9D-352C-7AC3-B28DF64F8589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0C1D0F7-58B6-0832-AFB1-E0550E6BD1E4}"/>
              </a:ext>
            </a:extLst>
          </p:cNvPr>
          <p:cNvSpPr txBox="1"/>
          <p:nvPr/>
        </p:nvSpPr>
        <p:spPr>
          <a:xfrm>
            <a:off x="327464" y="5574375"/>
            <a:ext cx="1160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agente presenta estabilidad y continuidad global. El retardo tiene impacto mínimo, mientras que las condiciones iniciales, especialmente la velocidad, introducen distorsiones y evidencian limitaciones de generalización.</a:t>
            </a:r>
          </a:p>
          <a:p>
            <a:pPr algn="ctr"/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3FE753DE-4249-412F-CCA4-5C6B4A22CF2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4" name="Onlinebild-Platzhalter 7">
            <a:extLst>
              <a:ext uri="{FF2B5EF4-FFF2-40B4-BE49-F238E27FC236}">
                <a16:creationId xmlns:a16="http://schemas.microsoft.com/office/drawing/2014/main" id="{D082C108-5415-255E-E67B-0F69B2562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653" y="2354089"/>
            <a:ext cx="3608193" cy="2544135"/>
          </a:xfrm>
          <a:prstGeom prst="rect">
            <a:avLst/>
          </a:prstGeom>
        </p:spPr>
      </p:pic>
      <p:pic>
        <p:nvPicPr>
          <p:cNvPr id="8" name="Onlinebild-Platzhalter 6">
            <a:extLst>
              <a:ext uri="{FF2B5EF4-FFF2-40B4-BE49-F238E27FC236}">
                <a16:creationId xmlns:a16="http://schemas.microsoft.com/office/drawing/2014/main" id="{2ACECDB0-DB68-ADA1-77BC-167DE7F4A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348" y="2325741"/>
            <a:ext cx="3803305" cy="2592622"/>
          </a:xfrm>
          <a:prstGeom prst="rect">
            <a:avLst/>
          </a:prstGeom>
        </p:spPr>
      </p:pic>
      <p:pic>
        <p:nvPicPr>
          <p:cNvPr id="11" name="Onlinebild-Platzhalter 8">
            <a:extLst>
              <a:ext uri="{FF2B5EF4-FFF2-40B4-BE49-F238E27FC236}">
                <a16:creationId xmlns:a16="http://schemas.microsoft.com/office/drawing/2014/main" id="{F5CEC1BA-A216-4C8A-59E8-7E279215607D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4"/>
          <a:stretch>
            <a:fillRect/>
          </a:stretch>
        </p:blipFill>
        <p:spPr>
          <a:xfrm>
            <a:off x="426999" y="2325741"/>
            <a:ext cx="3591115" cy="257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7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Microsoft Macintosh PowerPoint</Application>
  <PresentationFormat>Breitbild</PresentationFormat>
  <Paragraphs>434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6</cp:revision>
  <dcterms:created xsi:type="dcterms:W3CDTF">2026-03-29T13:01:21Z</dcterms:created>
  <dcterms:modified xsi:type="dcterms:W3CDTF">2026-04-11T18:57:01Z</dcterms:modified>
</cp:coreProperties>
</file>