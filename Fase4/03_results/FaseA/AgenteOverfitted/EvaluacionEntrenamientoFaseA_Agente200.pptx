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496" r:id="rId2"/>
    <p:sldId id="504" r:id="rId3"/>
    <p:sldId id="485" r:id="rId4"/>
    <p:sldId id="486" r:id="rId5"/>
    <p:sldId id="497" r:id="rId6"/>
    <p:sldId id="48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E8F7BF-1E22-5F45-9390-CF529058D7D7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C720D-9EE4-2743-9E0A-EFCEBB68B789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86689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65832-5555-CC00-6337-47B82D922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EA945A5-68A8-42A1-F1C4-96F0F626B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C18E8EF-926E-FE41-A4F4-62E0FE905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05685BB-1005-E4E8-2097-14BE51CB5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74611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7B39CD-8B24-76E2-4C7D-2CF38D173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905E2E-F6B4-CACB-9C38-2361617C5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BC9DC5-6403-D377-8563-9312039D3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6DB9-343F-2845-A581-C87222B27FB5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1ED201-949F-F206-6F9E-74DACEDB9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21F24E-B498-E3C7-5EC9-C48ECF655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A1EE9-78C8-5844-A28D-742F38193F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95133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AABDCE-B56E-FBEB-8003-431003EB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C02A81-AB8F-1896-A3A4-6EDC8B023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3B599A-B0E2-D553-5A39-655543B9E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6DB9-343F-2845-A581-C87222B27FB5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52D309-1655-CAB6-69FC-1B2E5B195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46E99C-3B95-0AFD-7A56-C5A4A384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A1EE9-78C8-5844-A28D-742F38193F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9018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106F59-6A43-7AD3-E736-FC63135DE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CDB214-75D5-2AC7-44DE-7F5320027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B15441-C99E-F705-8FCD-9B5D903B4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6DB9-343F-2845-A581-C87222B27FB5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35DA5D-1EF8-FBFF-1F11-0E28F3850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A8181C-1651-7EBE-C568-76E56783B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A1EE9-78C8-5844-A28D-742F38193F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4996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8EDD34-899C-6BA7-1FEE-C0D12DC6C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796173-8152-F5FC-8CD5-34458C422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256D73-9383-1217-1862-0538B304E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0FAF61-CF15-879B-1B22-8B1C4639F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6DB9-343F-2845-A581-C87222B27FB5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D26552-845F-7550-1E98-E5B893073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7AD888-E515-6C79-DEA1-94A2DEEE3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A1EE9-78C8-5844-A28D-742F38193F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1253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5C7B11-0673-6212-FC88-7AEF1F4C1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568D3BD-5E0B-263F-960C-B7DE8EFFF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70D78B-4F71-0F9C-97B7-D55016FFA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AB84F5D-4ADD-1769-1648-C88EC6E076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76513AF-5D7F-635D-736B-CB0F83879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F558CCE-FCCB-C362-5696-DF23406A9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6DB9-343F-2845-A581-C87222B27FB5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C13C3D6-B0AE-65CC-6423-2717AF77B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867072A-4C42-0F86-9B00-D5BECF1E0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A1EE9-78C8-5844-A28D-742F38193F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6866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2E3429-FAEC-CBDD-272D-F85BFFA3B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F2F7992-D29C-A6A7-169E-0CEFD3678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6DB9-343F-2845-A581-C87222B27FB5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D7CEDA6-B35E-44AE-3FF5-DB68BF495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A2B67D-B981-5F84-ED32-D6ADF7E9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A1EE9-78C8-5844-A28D-742F38193F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5862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82821CC-F237-B000-D203-E7ED6447D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6DB9-343F-2845-A581-C87222B27FB5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A48A968-0E5A-2C2F-31DE-30CE06F19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B917D6-C930-65CD-BC49-65969E775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A1EE9-78C8-5844-A28D-742F38193F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06722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30A63-D3A7-BD1F-3A9B-CB8C33B4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45486C-74F3-1EA6-14F9-766BDB938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9A33498-2F69-1C0B-17A3-7BF498F3A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10CD28-794E-F1A2-6847-8726D938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6DB9-343F-2845-A581-C87222B27FB5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979803-B5B7-8D2F-1C29-5A056B201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AC96C5-351A-1A9C-7880-AED3532F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A1EE9-78C8-5844-A28D-742F38193F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7745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3D88B4-961D-9A9D-38EB-4C621AC01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60FACEF-F5BB-D299-1732-50E85CA84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E77E20-5A1B-C456-B56E-CA7C00C49E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41B2916-91BF-605B-E58E-35F7BF4D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6DB9-343F-2845-A581-C87222B27FB5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FFDBEB-2DDC-5F4F-CA61-71242C263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804891-178C-8514-8AD2-B3120D17F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A1EE9-78C8-5844-A28D-742F38193F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7103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1BED03-9ED5-FF9C-F2EA-BED84469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B9E4056-5323-7364-0DB1-AB6EF209A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4836D4-9B2A-F658-DAE4-F98B98B7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6DB9-343F-2845-A581-C87222B27FB5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73EA2F-B950-A8F3-346E-8047F9697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67886-7970-AC8E-1061-35E190579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A1EE9-78C8-5844-A28D-742F38193F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02446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DA0B315-9B77-E182-112F-2D4A31C506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97C858F-BFB6-4300-A300-1C4EE6B83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3CB50E-C953-E126-73DD-DE2B0DC26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6DB9-343F-2845-A581-C87222B27FB5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38664A-F6CD-F9B4-5734-5E322D7B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6A4F51-5CCA-1FD3-511B-095DC009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A1EE9-78C8-5844-A28D-742F38193F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56581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AVAPRENDIZA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6235" y="2636555"/>
            <a:ext cx="5260975" cy="3454400"/>
          </a:xfrm>
        </p:spPr>
        <p:txBody>
          <a:bodyPr/>
          <a:lstStyle>
            <a:lvl1pPr algn="l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l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s-ES_tradnl" dirty="0"/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C9FA80AC-474F-A8AF-0BBA-9AB82BAAA43A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06C3DDAC-8DFE-9B03-74E8-A4BE68B393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nlinebild-Platzhalter 4">
            <a:extLst>
              <a:ext uri="{FF2B5EF4-FFF2-40B4-BE49-F238E27FC236}">
                <a16:creationId xmlns:a16="http://schemas.microsoft.com/office/drawing/2014/main" id="{C1E1E36D-5A9D-D8DD-682D-7CF8D7D21B6C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74650" y="2636838"/>
            <a:ext cx="5991426" cy="3278187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9326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MSE TOP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015AB68-02CA-6B80-D8DC-4FA20BDB74DD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3EF8E9B-C7D0-2592-12B9-6291B02A5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24385" y="5510118"/>
            <a:ext cx="9503058" cy="677305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Onlinebild-Platzhalter 7">
            <a:extLst>
              <a:ext uri="{FF2B5EF4-FFF2-40B4-BE49-F238E27FC236}">
                <a16:creationId xmlns:a16="http://schemas.microsoft.com/office/drawing/2014/main" id="{FAA78FF5-2A44-C038-8C33-581E4612C4B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2386065" y="2254597"/>
            <a:ext cx="7188609" cy="3098654"/>
          </a:xfrm>
        </p:spPr>
        <p:txBody>
          <a:bodyPr/>
          <a:lstStyle/>
          <a:p>
            <a:endParaRPr lang="es-ES_tradnl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3DC88AFA-5823-4006-865A-291216A99A1D}"/>
              </a:ext>
            </a:extLst>
          </p:cNvPr>
          <p:cNvGrpSpPr/>
          <p:nvPr userDrawn="1"/>
        </p:nvGrpSpPr>
        <p:grpSpPr>
          <a:xfrm>
            <a:off x="606204" y="3429002"/>
            <a:ext cx="1039143" cy="1226891"/>
            <a:chOff x="2471323" y="3094239"/>
            <a:chExt cx="1039143" cy="1226891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67975EE-02C4-F175-795B-93A638306DE2}"/>
                </a:ext>
              </a:extLst>
            </p:cNvPr>
            <p:cNvGrpSpPr/>
            <p:nvPr/>
          </p:nvGrpSpPr>
          <p:grpSpPr>
            <a:xfrm>
              <a:off x="2471323" y="3278090"/>
              <a:ext cx="1039143" cy="1043040"/>
              <a:chOff x="7954338" y="203337"/>
              <a:chExt cx="1275466" cy="1149452"/>
            </a:xfrm>
          </p:grpSpPr>
          <p:pic>
            <p:nvPicPr>
              <p:cNvPr id="14" name="Grafik 13">
                <a:extLst>
                  <a:ext uri="{FF2B5EF4-FFF2-40B4-BE49-F238E27FC236}">
                    <a16:creationId xmlns:a16="http://schemas.microsoft.com/office/drawing/2014/main" id="{8D070CE1-EC82-7F15-BBFD-68082F249B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</p:spPr>
          </p:pic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4AF5F29C-6703-E5DA-3E54-C687E6CC7606}"/>
                  </a:ext>
                </a:extLst>
              </p:cNvPr>
              <p:cNvSpPr txBox="1"/>
              <p:nvPr/>
            </p:nvSpPr>
            <p:spPr>
              <a:xfrm>
                <a:off x="8496320" y="1024996"/>
                <a:ext cx="622143" cy="28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dirty="0"/>
                  <a:t>(TD3)</a:t>
                </a:r>
              </a:p>
            </p:txBody>
          </p:sp>
        </p:grp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C0A244D5-E2F4-55A2-9535-F4C6F1162F3F}"/>
                </a:ext>
              </a:extLst>
            </p:cNvPr>
            <p:cNvSpPr txBox="1"/>
            <p:nvPr/>
          </p:nvSpPr>
          <p:spPr>
            <a:xfrm>
              <a:off x="2536282" y="3094239"/>
              <a:ext cx="8611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dirty="0"/>
                <a:t>Agentes RL</a:t>
              </a:r>
            </a:p>
          </p:txBody>
        </p:sp>
      </p:grpSp>
      <p:sp>
        <p:nvSpPr>
          <p:cNvPr id="35" name="Textfeld 34">
            <a:extLst>
              <a:ext uri="{FF2B5EF4-FFF2-40B4-BE49-F238E27FC236}">
                <a16:creationId xmlns:a16="http://schemas.microsoft.com/office/drawing/2014/main" id="{308D64B1-247C-C0A8-0B78-5ABD6A7629E1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</p:spTree>
    <p:extLst>
      <p:ext uri="{BB962C8B-B14F-4D97-AF65-F5344CB8AC3E}">
        <p14:creationId xmlns:p14="http://schemas.microsoft.com/office/powerpoint/2010/main" val="3189608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 TABLA RM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015AB68-02CA-6B80-D8DC-4FA20BDB74DD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11169569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3EF8E9B-C7D0-2592-12B9-6291B02A5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01014" y="2449374"/>
            <a:ext cx="6862686" cy="3020412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08D64B1-247C-C0A8-0B78-5ABD6A7629E1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068B4D2-1A49-F63B-10AE-75995C064D95}"/>
              </a:ext>
            </a:extLst>
          </p:cNvPr>
          <p:cNvSpPr txBox="1"/>
          <p:nvPr userDrawn="1"/>
        </p:nvSpPr>
        <p:spPr>
          <a:xfrm>
            <a:off x="-543695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1800" dirty="0"/>
          </a:p>
        </p:txBody>
      </p:sp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AFD1239B-68D5-E93B-312D-B6D4E061E4F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694330" y="5653005"/>
            <a:ext cx="8032830" cy="677305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52511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OMINIO_ANGULAR_DETERMINS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015AB68-02CA-6B80-D8DC-4FA20BDB74DD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11169569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3EF8E9B-C7D0-2592-12B9-6291B02A5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54498" y="2390798"/>
            <a:ext cx="6862686" cy="3020412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08D64B1-247C-C0A8-0B78-5ABD6A7629E1}"/>
              </a:ext>
            </a:extLst>
          </p:cNvPr>
          <p:cNvSpPr txBox="1"/>
          <p:nvPr userDrawn="1"/>
        </p:nvSpPr>
        <p:spPr>
          <a:xfrm>
            <a:off x="374790" y="25634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en el Dominio Angular en Simulación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068B4D2-1A49-F63B-10AE-75995C064D95}"/>
              </a:ext>
            </a:extLst>
          </p:cNvPr>
          <p:cNvSpPr txBox="1"/>
          <p:nvPr userDrawn="1"/>
        </p:nvSpPr>
        <p:spPr>
          <a:xfrm>
            <a:off x="-543695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1800" dirty="0"/>
          </a:p>
        </p:txBody>
      </p:sp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AFD1239B-68D5-E93B-312D-B6D4E061E4F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694330" y="5653005"/>
            <a:ext cx="8032830" cy="677305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13020E74-8C7E-3BC9-5499-58771C9340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2383" y="4443286"/>
            <a:ext cx="2535870" cy="740082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9F1F9970-4195-4991-774F-95C6F7EF62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93293" y="2736054"/>
            <a:ext cx="2152202" cy="170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7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94E6552-686C-F2D5-4233-3A65728E2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694DE2-D032-5853-599B-E8AF44575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2DE632-9529-A36E-83C2-A1215BBC95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66DB9-343F-2845-A581-C87222B27FB5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86A085-D7F5-2E66-19F0-B170DEF89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71D04A-C317-D8DE-63CE-E9E6C73E1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A1EE9-78C8-5844-A28D-742F38193F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0650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1C5FD-CA6A-A307-3203-BE5B422D5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A3788895-958E-38CC-8E35-5153AC4AF549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chemeClr val="accent4">
              <a:alpha val="239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C16FEEC5-C879-D5E0-58F7-B05FC078C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F7D9DB75-680D-27FA-9E8F-982919EBA874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29A47CA8-AB24-0FD9-34A2-CF3792419B1A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D699C3D7-754C-6979-D6D7-A3F2CC4527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5C507FAE-3FAC-0BDA-B72A-681836AA8058}"/>
              </a:ext>
            </a:extLst>
          </p:cNvPr>
          <p:cNvSpPr txBox="1"/>
          <p:nvPr/>
        </p:nvSpPr>
        <p:spPr>
          <a:xfrm>
            <a:off x="340469" y="1382633"/>
            <a:ext cx="1016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Seguimiento y Curriculum</a:t>
            </a:r>
            <a:endParaRPr lang="es-ES_tradnl" sz="2000" b="1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91BC7D28-BC48-D8B0-4BB7-6384452400D1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</a:t>
            </a:r>
          </a:p>
        </p:txBody>
      </p:sp>
      <p:cxnSp>
        <p:nvCxnSpPr>
          <p:cNvPr id="58" name="Gewinkelte Verbindung 57">
            <a:extLst>
              <a:ext uri="{FF2B5EF4-FFF2-40B4-BE49-F238E27FC236}">
                <a16:creationId xmlns:a16="http://schemas.microsoft.com/office/drawing/2014/main" id="{9B026D86-0455-869F-C7AF-6C38F3EA301C}"/>
              </a:ext>
            </a:extLst>
          </p:cNvPr>
          <p:cNvCxnSpPr>
            <a:cxnSpLocks/>
            <a:stCxn id="34" idx="2"/>
            <a:endCxn id="96" idx="0"/>
          </p:cNvCxnSpPr>
          <p:nvPr/>
        </p:nvCxnSpPr>
        <p:spPr>
          <a:xfrm rot="16200000" flipH="1">
            <a:off x="1951012" y="3087800"/>
            <a:ext cx="427098" cy="764990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77F8160-8FB3-5ADC-803F-D2F945EF2A47}"/>
              </a:ext>
            </a:extLst>
          </p:cNvPr>
          <p:cNvGrpSpPr/>
          <p:nvPr/>
        </p:nvGrpSpPr>
        <p:grpSpPr>
          <a:xfrm>
            <a:off x="8554115" y="4039867"/>
            <a:ext cx="3181554" cy="2245296"/>
            <a:chOff x="6169323" y="3572128"/>
            <a:chExt cx="3181554" cy="2245296"/>
          </a:xfrm>
        </p:grpSpPr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31569360-83AD-AB8E-5315-9D73889D96C6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89" name="Gruppieren 88">
                <a:extLst>
                  <a:ext uri="{FF2B5EF4-FFF2-40B4-BE49-F238E27FC236}">
                    <a16:creationId xmlns:a16="http://schemas.microsoft.com/office/drawing/2014/main" id="{B881D4EA-3557-4AD5-77CF-305DA6A65EA7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91" name="Grafik 90">
                  <a:extLst>
                    <a:ext uri="{FF2B5EF4-FFF2-40B4-BE49-F238E27FC236}">
                      <a16:creationId xmlns:a16="http://schemas.microsoft.com/office/drawing/2014/main" id="{613A1735-CEC0-43AF-C383-F720FD0812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0A31BF81-85F8-86F0-1DB8-43635175E427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DF6FFD50-2952-E852-6F2C-67DC90889C0D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93807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1000</a:t>
                </a:r>
              </a:p>
            </p:txBody>
          </p:sp>
        </p:grp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2F2A0B0F-024F-2569-9109-DD487D79ACBB}"/>
                </a:ext>
              </a:extLst>
            </p:cNvPr>
            <p:cNvSpPr txBox="1"/>
            <p:nvPr/>
          </p:nvSpPr>
          <p:spPr>
            <a:xfrm>
              <a:off x="6169323" y="5103715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Checkpoint200</a:t>
              </a:r>
            </a:p>
          </p:txBody>
        </p: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2BF30076-BDC7-7616-51BD-5CF2A51DC757}"/>
                </a:ext>
              </a:extLst>
            </p:cNvPr>
            <p:cNvSpPr txBox="1"/>
            <p:nvPr/>
          </p:nvSpPr>
          <p:spPr>
            <a:xfrm>
              <a:off x="7015754" y="3572128"/>
              <a:ext cx="2335123" cy="11079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Run_x427, 1000eps</a:t>
              </a:r>
            </a:p>
            <a:p>
              <a:r>
                <a:rPr lang="es-ES_tradnl" sz="1100" dirty="0"/>
                <a:t>01ini:  (-180,180) [° ]</a:t>
              </a:r>
              <a:r>
                <a:rPr lang="es-ES_tradnl" sz="1100" dirty="0">
                  <a:sym typeface="Wingdings" pitchFamily="2" charset="2"/>
                </a:rPr>
                <a:t> </a:t>
              </a:r>
              <a:endParaRPr lang="es-ES_tradnl" sz="1100" noProof="1"/>
            </a:p>
            <a:p>
              <a:r>
                <a:rPr lang="es-ES_tradnl" sz="1100" noProof="1"/>
                <a:t>Exploration,Smoothing</a:t>
              </a:r>
            </a:p>
            <a:p>
              <a:endParaRPr lang="es-ES_tradnl" sz="1100" noProof="1"/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98592CFD-E492-D20A-9F1B-980DEF3BDDED}"/>
              </a:ext>
            </a:extLst>
          </p:cNvPr>
          <p:cNvGrpSpPr/>
          <p:nvPr/>
        </p:nvGrpSpPr>
        <p:grpSpPr>
          <a:xfrm>
            <a:off x="2050730" y="3683846"/>
            <a:ext cx="2870221" cy="1226891"/>
            <a:chOff x="1871007" y="4084191"/>
            <a:chExt cx="2870221" cy="1226891"/>
          </a:xfrm>
        </p:grpSpPr>
        <p:grpSp>
          <p:nvGrpSpPr>
            <p:cNvPr id="95" name="Gruppieren 94">
              <a:extLst>
                <a:ext uri="{FF2B5EF4-FFF2-40B4-BE49-F238E27FC236}">
                  <a16:creationId xmlns:a16="http://schemas.microsoft.com/office/drawing/2014/main" id="{909E37EF-6C4D-D474-71B9-DC45464AA693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98" name="Grafik 97">
                <a:extLst>
                  <a:ext uri="{FF2B5EF4-FFF2-40B4-BE49-F238E27FC236}">
                    <a16:creationId xmlns:a16="http://schemas.microsoft.com/office/drawing/2014/main" id="{6F90C111-13D7-DD6F-6D7D-13657B221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989AEAD4-B61E-6A63-8352-AF3DFB140423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10022DF2-D3BD-3BB2-00C0-78ECB35E8EB1}"/>
                </a:ext>
              </a:extLst>
            </p:cNvPr>
            <p:cNvSpPr txBox="1"/>
            <p:nvPr/>
          </p:nvSpPr>
          <p:spPr>
            <a:xfrm>
              <a:off x="1935966" y="4084191"/>
              <a:ext cx="8627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300</a:t>
              </a:r>
            </a:p>
          </p:txBody>
        </p:sp>
        <p:sp>
          <p:nvSpPr>
            <p:cNvPr id="97" name="Textfeld 96">
              <a:extLst>
                <a:ext uri="{FF2B5EF4-FFF2-40B4-BE49-F238E27FC236}">
                  <a16:creationId xmlns:a16="http://schemas.microsoft.com/office/drawing/2014/main" id="{80657262-0566-3059-1471-7A10F44B29B0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Run_x863, 300eps</a:t>
              </a:r>
            </a:p>
            <a:p>
              <a:r>
                <a:rPr lang="es-ES_tradnl" sz="1100" noProof="1"/>
                <a:t>Checkpoint300</a:t>
              </a:r>
            </a:p>
          </p:txBody>
        </p:sp>
      </p:grp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3E39C415-EA1B-630D-99BF-5A09EB992A26}"/>
              </a:ext>
            </a:extLst>
          </p:cNvPr>
          <p:cNvCxnSpPr>
            <a:cxnSpLocks/>
          </p:cNvCxnSpPr>
          <p:nvPr/>
        </p:nvCxnSpPr>
        <p:spPr>
          <a:xfrm>
            <a:off x="8554115" y="4542779"/>
            <a:ext cx="680752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752C5628-6927-0C38-58C1-DD3F72F5CBE8}"/>
              </a:ext>
            </a:extLst>
          </p:cNvPr>
          <p:cNvSpPr txBox="1"/>
          <p:nvPr/>
        </p:nvSpPr>
        <p:spPr>
          <a:xfrm>
            <a:off x="594704" y="6392293"/>
            <a:ext cx="133790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8F20EC69-314E-60C6-22C9-8F811D66055C}"/>
              </a:ext>
            </a:extLst>
          </p:cNvPr>
          <p:cNvGrpSpPr/>
          <p:nvPr/>
        </p:nvGrpSpPr>
        <p:grpSpPr>
          <a:xfrm>
            <a:off x="615618" y="5034899"/>
            <a:ext cx="2870221" cy="1226891"/>
            <a:chOff x="1871007" y="4084191"/>
            <a:chExt cx="2870221" cy="1226891"/>
          </a:xfrm>
        </p:grpSpPr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6D3ABC68-A45D-8F83-F7EE-5B75D80DAC1A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23" name="Grafik 22">
                <a:extLst>
                  <a:ext uri="{FF2B5EF4-FFF2-40B4-BE49-F238E27FC236}">
                    <a16:creationId xmlns:a16="http://schemas.microsoft.com/office/drawing/2014/main" id="{7E461A59-16A5-89D6-A283-F5E4CCECC1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027CCB81-6849-538E-7A85-B85C5E2BEC16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F14D2D1D-E4A9-27A5-F120-1E666A178DBD}"/>
                </a:ext>
              </a:extLst>
            </p:cNvPr>
            <p:cNvSpPr txBox="1"/>
            <p:nvPr/>
          </p:nvSpPr>
          <p:spPr>
            <a:xfrm>
              <a:off x="1935966" y="4084191"/>
              <a:ext cx="8627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100</a:t>
              </a: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35EF725B-0D55-7AFF-9E5F-67F52CA4362E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Run_x177, 1000eps</a:t>
              </a:r>
            </a:p>
            <a:p>
              <a:r>
                <a:rPr lang="es-ES_tradnl" sz="1100" noProof="1"/>
                <a:t>Checkpoint100</a:t>
              </a:r>
            </a:p>
          </p:txBody>
        </p:sp>
      </p:grpSp>
      <p:cxnSp>
        <p:nvCxnSpPr>
          <p:cNvPr id="25" name="Gewinkelte Verbindung 24">
            <a:extLst>
              <a:ext uri="{FF2B5EF4-FFF2-40B4-BE49-F238E27FC236}">
                <a16:creationId xmlns:a16="http://schemas.microsoft.com/office/drawing/2014/main" id="{2B3A6A3B-15FC-CA6D-A743-9D3A01A91119}"/>
              </a:ext>
            </a:extLst>
          </p:cNvPr>
          <p:cNvCxnSpPr>
            <a:cxnSpLocks/>
            <a:stCxn id="34" idx="1"/>
            <a:endCxn id="20" idx="0"/>
          </p:cNvCxnSpPr>
          <p:nvPr/>
        </p:nvCxnSpPr>
        <p:spPr>
          <a:xfrm rot="10800000" flipV="1">
            <a:off x="1111946" y="2735225"/>
            <a:ext cx="150548" cy="2299673"/>
          </a:xfrm>
          <a:prstGeom prst="bentConnector2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9429B1CB-987D-D403-FF02-093D742E47B8}"/>
              </a:ext>
            </a:extLst>
          </p:cNvPr>
          <p:cNvGrpSpPr/>
          <p:nvPr/>
        </p:nvGrpSpPr>
        <p:grpSpPr>
          <a:xfrm>
            <a:off x="1262496" y="2029857"/>
            <a:ext cx="2870221" cy="1226891"/>
            <a:chOff x="1871007" y="4084191"/>
            <a:chExt cx="2870221" cy="1226891"/>
          </a:xfrm>
        </p:grpSpPr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CD66D520-F02B-27F5-E2DB-212179BE3A28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34" name="Grafik 33">
                <a:extLst>
                  <a:ext uri="{FF2B5EF4-FFF2-40B4-BE49-F238E27FC236}">
                    <a16:creationId xmlns:a16="http://schemas.microsoft.com/office/drawing/2014/main" id="{9D5385E8-9953-FEDC-478B-4240752B68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0C93C1E2-39A2-51A3-22D2-D5A80FC3C78B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B1881022-7849-ADB4-8553-007B0A697F87}"/>
                </a:ext>
              </a:extLst>
            </p:cNvPr>
            <p:cNvSpPr txBox="1"/>
            <p:nvPr/>
          </p:nvSpPr>
          <p:spPr>
            <a:xfrm>
              <a:off x="1935966" y="4084191"/>
              <a:ext cx="8627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600</a:t>
              </a: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020DB691-5771-024F-075E-BFD8D7D46A00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Run_x681, 3000eps</a:t>
              </a:r>
            </a:p>
            <a:p>
              <a:r>
                <a:rPr lang="es-ES_tradnl" sz="1100" noProof="1"/>
                <a:t>Checkpoint600</a:t>
              </a:r>
            </a:p>
          </p:txBody>
        </p: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DCE8803A-9DD8-FAF0-DB52-6A6401C39555}"/>
              </a:ext>
            </a:extLst>
          </p:cNvPr>
          <p:cNvGrpSpPr/>
          <p:nvPr/>
        </p:nvGrpSpPr>
        <p:grpSpPr>
          <a:xfrm>
            <a:off x="5847559" y="3795091"/>
            <a:ext cx="2870221" cy="1226891"/>
            <a:chOff x="1871007" y="4084191"/>
            <a:chExt cx="2870221" cy="1226891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2C264141-46BD-9BFD-DB6B-D7D2F0BBE5B6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42" name="Grafik 41">
                <a:extLst>
                  <a:ext uri="{FF2B5EF4-FFF2-40B4-BE49-F238E27FC236}">
                    <a16:creationId xmlns:a16="http://schemas.microsoft.com/office/drawing/2014/main" id="{9CB9FA05-941E-022B-7461-EC8E8F4124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15C2775C-3215-D3B9-DF48-26E980A9506D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9569B14B-8522-B811-3B99-DA2804E30C26}"/>
                </a:ext>
              </a:extLst>
            </p:cNvPr>
            <p:cNvSpPr txBox="1"/>
            <p:nvPr/>
          </p:nvSpPr>
          <p:spPr>
            <a:xfrm>
              <a:off x="1935966" y="4084191"/>
              <a:ext cx="93807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1000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52CF31E2-A8AB-F3E1-BFB9-86249598A5BE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Run_x841, 1000eps</a:t>
              </a:r>
            </a:p>
            <a:p>
              <a:r>
                <a:rPr lang="es-ES_tradnl" sz="1100" noProof="1"/>
                <a:t>Checkpoint1000</a:t>
              </a:r>
            </a:p>
          </p:txBody>
        </p:sp>
      </p:grp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974E9A7A-B796-3FF6-94D5-031326B396D0}"/>
              </a:ext>
            </a:extLst>
          </p:cNvPr>
          <p:cNvCxnSpPr>
            <a:cxnSpLocks/>
          </p:cNvCxnSpPr>
          <p:nvPr/>
        </p:nvCxnSpPr>
        <p:spPr>
          <a:xfrm>
            <a:off x="4920949" y="4457066"/>
            <a:ext cx="682768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16261E0A-4831-84F5-D5C5-F42D1BAA135C}"/>
              </a:ext>
            </a:extLst>
          </p:cNvPr>
          <p:cNvSpPr txBox="1"/>
          <p:nvPr/>
        </p:nvSpPr>
        <p:spPr>
          <a:xfrm>
            <a:off x="3263020" y="4701589"/>
            <a:ext cx="1337904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re-train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9860F897-04F1-883F-2FFE-F4EB2F9798E2}"/>
              </a:ext>
            </a:extLst>
          </p:cNvPr>
          <p:cNvSpPr txBox="1"/>
          <p:nvPr/>
        </p:nvSpPr>
        <p:spPr>
          <a:xfrm>
            <a:off x="6969467" y="4684927"/>
            <a:ext cx="1337904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re-train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0D5E501-1736-0F9B-DF93-75A0CDE05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9224" y="6356350"/>
            <a:ext cx="9170726" cy="365125"/>
          </a:xfrm>
        </p:spPr>
        <p:txBody>
          <a:bodyPr/>
          <a:lstStyle/>
          <a:p>
            <a:r>
              <a:rPr lang="es-ES_tradnl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570768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6F1FB-1C87-AE40-9E91-9156ED244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>
            <a:extLst>
              <a:ext uri="{FF2B5EF4-FFF2-40B4-BE49-F238E27FC236}">
                <a16:creationId xmlns:a16="http://schemas.microsoft.com/office/drawing/2014/main" id="{E89CD978-A881-A0FB-7B1A-79679048D2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Curva de Aprendizaje y Métricas. Agente1100</a:t>
            </a:r>
          </a:p>
          <a:p>
            <a:endParaRPr lang="es-ES_tradnl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Inhaltsplatzhalter 28">
                <a:extLst>
                  <a:ext uri="{FF2B5EF4-FFF2-40B4-BE49-F238E27FC236}">
                    <a16:creationId xmlns:a16="http://schemas.microsoft.com/office/drawing/2014/main" id="{48DBE067-7070-578F-AF5F-9A236027D2B9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-196.757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-196.694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400000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𝑠𝑡𝑒𝑝𝑠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-148.661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3.3582e-06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8.9413e-07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Inhaltsplatzhalter 28">
                <a:extLst>
                  <a:ext uri="{FF2B5EF4-FFF2-40B4-BE49-F238E27FC236}">
                    <a16:creationId xmlns:a16="http://schemas.microsoft.com/office/drawing/2014/main" id="{48DBE067-7070-578F-AF5F-9A236027D2B9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6383" t="-227273" r="-57021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227273" r="-11395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6383" t="-163636" r="-57021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-196.757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163636" r="-11395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6383" t="-527273" r="-57021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-196.694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527273" r="-11395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400000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6383" t="-727273" r="-570213" b="-17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413636" r="-113953" b="-76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6383" t="-1027273" r="-570213" b="-14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-148.661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1127273" r="-113953" b="-13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695238" r="-113953" b="-5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6383" t="-1818182" r="-570213" b="-6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1818182" r="-113953" b="-6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6383" t="-1918182" r="-57021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1918182" r="-11395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6383" t="-1104545" r="-570213" b="-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3.3582e-06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1104545" r="-113953" b="-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8.9413e-07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6383" t="-2409091" r="-57021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44186" t="-2409091" r="-11395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Onlinebild-Platzhalter 7">
            <a:extLst>
              <a:ext uri="{FF2B5EF4-FFF2-40B4-BE49-F238E27FC236}">
                <a16:creationId xmlns:a16="http://schemas.microsoft.com/office/drawing/2014/main" id="{A1823E83-C77D-E415-E69E-DEB9E33C68C1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3"/>
          <a:stretch>
            <a:fillRect/>
          </a:stretch>
        </p:blipFill>
        <p:spPr>
          <a:xfrm>
            <a:off x="412058" y="2636838"/>
            <a:ext cx="5916409" cy="3278187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DAA40305-9397-F363-5C7F-5C20151829A7}"/>
              </a:ext>
            </a:extLst>
          </p:cNvPr>
          <p:cNvSpPr txBox="1">
            <a:spLocks/>
          </p:cNvSpPr>
          <p:nvPr/>
        </p:nvSpPr>
        <p:spPr>
          <a:xfrm>
            <a:off x="2289224" y="6356350"/>
            <a:ext cx="917072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  <a:endParaRPr lang="es-ES_tradnl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831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04F14-1BED-8B05-F46D-EEC4A6788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549A899-0A1C-7FA1-60AD-5CC4FEB960E7}"/>
              </a:ext>
            </a:extLst>
          </p:cNvPr>
          <p:cNvSpPr txBox="1">
            <a:spLocks noGrp="1"/>
          </p:cNvSpPr>
          <p:nvPr>
            <p:ph sz="quarter" idx="14"/>
          </p:nvPr>
        </p:nvSpPr>
        <p:spPr>
          <a:xfrm>
            <a:off x="2730322" y="5510118"/>
            <a:ext cx="686444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spcBef>
                <a:spcPts val="0"/>
              </a:spcBef>
              <a:buFont typeface="Symbol" pitchFamily="2" charset="2"/>
              <a:buChar char="-"/>
            </a:pPr>
            <a:r>
              <a:rPr lang="es-ES_tradnl" sz="1400" noProof="1"/>
              <a:t>Alta precisión local en la zona central, con pérdida de estabilidad al alejarse del objetivo.</a:t>
            </a:r>
          </a:p>
          <a:p>
            <a:pPr marL="285750" indent="-285750" algn="l">
              <a:spcBef>
                <a:spcPts val="0"/>
              </a:spcBef>
              <a:buFont typeface="Symbol" pitchFamily="2" charset="2"/>
              <a:buChar char="-"/>
            </a:pPr>
            <a:r>
              <a:rPr lang="es-ES_tradnl" sz="1400" noProof="1"/>
              <a:t>Comportamiento no simétrico, con degradación significativa en los extremos del dominio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0687693-6D5B-068E-8A0E-2150920A40A0}"/>
              </a:ext>
            </a:extLst>
          </p:cNvPr>
          <p:cNvSpPr txBox="1">
            <a:spLocks noGrp="1"/>
          </p:cNvSpPr>
          <p:nvPr>
            <p:ph type="body" sz="quarter" idx="12"/>
          </p:nvPr>
        </p:nvSpPr>
        <p:spPr>
          <a:xfrm>
            <a:off x="520861" y="1446790"/>
            <a:ext cx="10012101" cy="77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Top3 Curvas RMSE en el Dominio Angular</a:t>
            </a:r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Onlinebild-Platzhalter 3">
            <a:extLst>
              <a:ext uri="{FF2B5EF4-FFF2-40B4-BE49-F238E27FC236}">
                <a16:creationId xmlns:a16="http://schemas.microsoft.com/office/drawing/2014/main" id="{A9CC49C9-0C3A-454C-EFB7-3849A950ECDA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2695823" y="2254250"/>
            <a:ext cx="6568583" cy="3098800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BFB1FC05-7575-923D-0A9B-ECB39C28E3CB}"/>
              </a:ext>
            </a:extLst>
          </p:cNvPr>
          <p:cNvSpPr txBox="1">
            <a:spLocks/>
          </p:cNvSpPr>
          <p:nvPr/>
        </p:nvSpPr>
        <p:spPr>
          <a:xfrm>
            <a:off x="2289224" y="6356350"/>
            <a:ext cx="917072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  <a:endParaRPr lang="es-ES_tradnl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05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2CA92-7814-9EEB-CF88-789E2B86A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31DB27-80A4-B5A6-A3C1-23F6D1FEA1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71989" y="5510118"/>
            <a:ext cx="7315200" cy="677305"/>
          </a:xfrm>
        </p:spPr>
        <p:txBody>
          <a:bodyPr>
            <a:normAutofit fontScale="92500"/>
          </a:bodyPr>
          <a:lstStyle/>
          <a:p>
            <a:pPr marL="285750" indent="-285750" algn="l">
              <a:spcBef>
                <a:spcPts val="0"/>
              </a:spcBef>
              <a:buFont typeface="Symbol" pitchFamily="2" charset="2"/>
              <a:buChar char="-"/>
            </a:pPr>
            <a:r>
              <a:rPr lang="es-ES_tradnl" sz="1400" noProof="1"/>
              <a:t>El RMSE presenta variaciones a lo largo del entrenamiento, sin una tendencia descendente sostenida.</a:t>
            </a:r>
          </a:p>
          <a:p>
            <a:pPr marL="285750" indent="-285750" algn="l">
              <a:spcBef>
                <a:spcPts val="0"/>
              </a:spcBef>
              <a:buFont typeface="Symbol" pitchFamily="2" charset="2"/>
              <a:buChar char="-"/>
            </a:pPr>
            <a:r>
              <a:rPr lang="es-ES_tradnl" sz="1400" noProof="1"/>
              <a:t>El mejor desempeño se alcanza en el checkpoint 300, con posterior degradación parcial y recuperación en etapas final</a:t>
            </a:r>
          </a:p>
          <a:p>
            <a:endParaRPr lang="es-ES_tradnl" sz="1400" noProof="1"/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D32B9AA5-2752-C3D6-A2E4-E4E405831AF6}"/>
              </a:ext>
            </a:extLst>
          </p:cNvPr>
          <p:cNvSpPr txBox="1">
            <a:spLocks noGrp="1"/>
          </p:cNvSpPr>
          <p:nvPr>
            <p:ph type="body" sz="quarter" idx="12"/>
          </p:nvPr>
        </p:nvSpPr>
        <p:spPr>
          <a:xfrm>
            <a:off x="520861" y="1446790"/>
            <a:ext cx="9503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Progresión del RMSE durante el entrenamiento</a:t>
            </a:r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Onlinebild-Platzhalter 6">
            <a:extLst>
              <a:ext uri="{FF2B5EF4-FFF2-40B4-BE49-F238E27FC236}">
                <a16:creationId xmlns:a16="http://schemas.microsoft.com/office/drawing/2014/main" id="{23BFDAB8-95BD-7C7E-1BD7-73DD546309A4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2695823" y="2254250"/>
            <a:ext cx="6568583" cy="3098800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675A5E5B-F8D8-CF6B-C257-E44F2AE2A1E2}"/>
              </a:ext>
            </a:extLst>
          </p:cNvPr>
          <p:cNvSpPr txBox="1">
            <a:spLocks/>
          </p:cNvSpPr>
          <p:nvPr/>
        </p:nvSpPr>
        <p:spPr>
          <a:xfrm>
            <a:off x="2289224" y="6356350"/>
            <a:ext cx="917072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  <a:endParaRPr lang="es-ES_tradnl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06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22960-76B9-51E0-2AC9-8DE573B5A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74DD56E-A2AA-EDA1-FB5E-DDCD10934F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1" y="1446790"/>
            <a:ext cx="9086126" cy="449263"/>
          </a:xfrm>
        </p:spPr>
        <p:txBody>
          <a:bodyPr>
            <a:normAutofit fontScale="92500"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Selección del Agente en base a su rendimiento. Evaluación Determinista en la simulación</a:t>
            </a:r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s-ES_tradnl" noProof="1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23F3015-0E6D-1CF8-437C-E1663F53498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694330" y="5653005"/>
            <a:ext cx="9174298" cy="677305"/>
          </a:xfrm>
        </p:spPr>
        <p:txBody>
          <a:bodyPr/>
          <a:lstStyle/>
          <a:p>
            <a:r>
              <a:rPr lang="es-ES_tradnl" noProof="1"/>
              <a:t>El Agente200 mantiene la mejor posición en el ranking, al presentar  los menores valores  en las métricas de error y mejor compromiso global de desempeño.</a:t>
            </a:r>
          </a:p>
          <a:p>
            <a:endParaRPr lang="es-ES_tradnl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Inhaltsplatzhalter 4">
                <a:extLst>
                  <a:ext uri="{FF2B5EF4-FFF2-40B4-BE49-F238E27FC236}">
                    <a16:creationId xmlns:a16="http://schemas.microsoft.com/office/drawing/2014/main" id="{21246EC0-4BEB-9FD3-8A9A-F352011CDB36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</p:nvPr>
            </p:nvGraphicFramePr>
            <p:xfrm>
              <a:off x="3900490" y="2449515"/>
              <a:ext cx="6748805" cy="296933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820">
                      <a:extLst>
                        <a:ext uri="{9D8B030D-6E8A-4147-A177-3AD203B41FA5}">
                          <a16:colId xmlns:a16="http://schemas.microsoft.com/office/drawing/2014/main" val="2827808625"/>
                        </a:ext>
                      </a:extLst>
                    </a:gridCol>
                    <a:gridCol w="1109204">
                      <a:extLst>
                        <a:ext uri="{9D8B030D-6E8A-4147-A177-3AD203B41FA5}">
                          <a16:colId xmlns:a16="http://schemas.microsoft.com/office/drawing/2014/main" val="2804800256"/>
                        </a:ext>
                      </a:extLst>
                    </a:gridCol>
                    <a:gridCol w="1098476">
                      <a:extLst>
                        <a:ext uri="{9D8B030D-6E8A-4147-A177-3AD203B41FA5}">
                          <a16:colId xmlns:a16="http://schemas.microsoft.com/office/drawing/2014/main" val="3404630540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2864191071"/>
                        </a:ext>
                      </a:extLst>
                    </a:gridCol>
                    <a:gridCol w="929205">
                      <a:extLst>
                        <a:ext uri="{9D8B030D-6E8A-4147-A177-3AD203B41FA5}">
                          <a16:colId xmlns:a16="http://schemas.microsoft.com/office/drawing/2014/main" val="878613398"/>
                        </a:ext>
                      </a:extLst>
                    </a:gridCol>
                    <a:gridCol w="844570">
                      <a:extLst>
                        <a:ext uri="{9D8B030D-6E8A-4147-A177-3AD203B41FA5}">
                          <a16:colId xmlns:a16="http://schemas.microsoft.com/office/drawing/2014/main" val="372759601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3930562926"/>
                        </a:ext>
                      </a:extLst>
                    </a:gridCol>
                  </a:tblGrid>
                  <a:tr h="483117">
                    <a:tc gridSpan="7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Tabla con posición de los agentes según sus métricas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4343187"/>
                      </a:ext>
                    </a:extLst>
                  </a:tr>
                  <a:tr h="22711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Position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Agente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𝑅𝑀𝑆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𝑔𝑙𝑜𝑏𝑎𝑙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𝑅𝑀𝑆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ES_tradnl" sz="900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𝑎𝑛𝑔𝑢𝑙𝑎𝑟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𝑅𝑎𝑡𝑖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𝑒𝑥𝑡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i="1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AUC</a:t>
                          </a:r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26381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Agent200.mat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31.9991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72.2143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23.9292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2.2568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30.0411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0458715"/>
                      </a:ext>
                    </a:extLst>
                  </a:tr>
                  <a:tr h="2268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Agent300.mat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33.2759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70.4784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20.0444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2.1180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31.5420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72348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38.2815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79.7785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29.7345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2.0840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36.0975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478979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40.2068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83.7694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21.1449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2.0835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38.8240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0691002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Agent400.mat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40.2482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82.5340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24.5449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2.0506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38.0235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270855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Agent800.mat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42.3537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88.8721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28.5086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2.0983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40.1416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25082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Agent900.mat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43.4204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100.1504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28.2446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2.3065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41.6614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2749595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Agent1100.mat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44.6514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116.2812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30.5685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2.6042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42.5009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7179832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Agent700.mat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49.4658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101.4740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30.7703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2.0514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47.4857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2674504"/>
                      </a:ext>
                    </a:extLst>
                  </a:tr>
                  <a:tr h="31769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Agent500.mat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56.5014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126.9727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42.0246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2.2472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54.1304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704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Inhaltsplatzhalter 4">
                <a:extLst>
                  <a:ext uri="{FF2B5EF4-FFF2-40B4-BE49-F238E27FC236}">
                    <a16:creationId xmlns:a16="http://schemas.microsoft.com/office/drawing/2014/main" id="{21246EC0-4BEB-9FD3-8A9A-F352011CDB36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</p:nvPr>
            </p:nvGraphicFramePr>
            <p:xfrm>
              <a:off x="3900490" y="2449515"/>
              <a:ext cx="6748805" cy="296933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820">
                      <a:extLst>
                        <a:ext uri="{9D8B030D-6E8A-4147-A177-3AD203B41FA5}">
                          <a16:colId xmlns:a16="http://schemas.microsoft.com/office/drawing/2014/main" val="2827808625"/>
                        </a:ext>
                      </a:extLst>
                    </a:gridCol>
                    <a:gridCol w="1109204">
                      <a:extLst>
                        <a:ext uri="{9D8B030D-6E8A-4147-A177-3AD203B41FA5}">
                          <a16:colId xmlns:a16="http://schemas.microsoft.com/office/drawing/2014/main" val="2804800256"/>
                        </a:ext>
                      </a:extLst>
                    </a:gridCol>
                    <a:gridCol w="1098476">
                      <a:extLst>
                        <a:ext uri="{9D8B030D-6E8A-4147-A177-3AD203B41FA5}">
                          <a16:colId xmlns:a16="http://schemas.microsoft.com/office/drawing/2014/main" val="3404630540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2864191071"/>
                        </a:ext>
                      </a:extLst>
                    </a:gridCol>
                    <a:gridCol w="929205">
                      <a:extLst>
                        <a:ext uri="{9D8B030D-6E8A-4147-A177-3AD203B41FA5}">
                          <a16:colId xmlns:a16="http://schemas.microsoft.com/office/drawing/2014/main" val="878613398"/>
                        </a:ext>
                      </a:extLst>
                    </a:gridCol>
                    <a:gridCol w="844570">
                      <a:extLst>
                        <a:ext uri="{9D8B030D-6E8A-4147-A177-3AD203B41FA5}">
                          <a16:colId xmlns:a16="http://schemas.microsoft.com/office/drawing/2014/main" val="372759601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3930562926"/>
                        </a:ext>
                      </a:extLst>
                    </a:gridCol>
                  </a:tblGrid>
                  <a:tr h="483117">
                    <a:tc gridSpan="7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Tabla con posición de los agentes según sus métricas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4343187"/>
                      </a:ext>
                    </a:extLst>
                  </a:tr>
                  <a:tr h="22711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Position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Agente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8966" t="-222222" r="-345977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2500" t="-222222" r="-276250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0137" t="-222222" r="-202740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6364" t="-222222" r="-124242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i="1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AUC</a:t>
                          </a:r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26381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Agent200.mat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31.9991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72.2143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23.9292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2.2568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30.0411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0458715"/>
                      </a:ext>
                    </a:extLst>
                  </a:tr>
                  <a:tr h="2268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Agent300.mat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33.2759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70.4784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20.0444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2.1180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31.5420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72348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38.2815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79.7785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29.7345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2.0840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36.0975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478979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40.2068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83.7694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21.1449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2.0835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38.8240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0691002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Agent400.mat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40.2482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82.5340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24.5449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2.0506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38.0235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270855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Agent800.mat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42.3537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88.8721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28.5086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2.0983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40.1416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25082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Agent900.mat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43.4204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100.1504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28.2446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2.3065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41.6614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2749595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Agent1100.mat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44.6514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116.2812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30.5685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2.6042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42.5009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7179832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Agent700.mat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49.4658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101.4740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30.7703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2.0514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47.4857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2674504"/>
                      </a:ext>
                    </a:extLst>
                  </a:tr>
                  <a:tr h="31769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Agent500.mat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56.5014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126.9727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42.0246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2.2472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54.1304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70418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D0D67C2A-7383-B224-C0A3-945577CB383E}"/>
              </a:ext>
            </a:extLst>
          </p:cNvPr>
          <p:cNvGrpSpPr/>
          <p:nvPr/>
        </p:nvGrpSpPr>
        <p:grpSpPr>
          <a:xfrm>
            <a:off x="431109" y="2568053"/>
            <a:ext cx="2335123" cy="2787389"/>
            <a:chOff x="7015754" y="3707990"/>
            <a:chExt cx="2335123" cy="2787389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5F67327E-0CE5-C734-ED4F-49C4839A23E4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10" name="Gruppieren 9">
                <a:extLst>
                  <a:ext uri="{FF2B5EF4-FFF2-40B4-BE49-F238E27FC236}">
                    <a16:creationId xmlns:a16="http://schemas.microsoft.com/office/drawing/2014/main" id="{8DF4AEF7-468E-3B59-EBA3-D2CE50A1E162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12" name="Grafik 11">
                  <a:extLst>
                    <a:ext uri="{FF2B5EF4-FFF2-40B4-BE49-F238E27FC236}">
                      <a16:creationId xmlns:a16="http://schemas.microsoft.com/office/drawing/2014/main" id="{F087A0A6-4D9D-C01E-0ED6-1693CB72E1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806B9617-C1C1-823D-95E8-19D2BF6DEBA2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69B33D03-AC09-C040-4BB9-3A9F53B0D44B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86273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200</a:t>
                </a:r>
              </a:p>
            </p:txBody>
          </p:sp>
        </p:grp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C9EE866B-B13D-C6A6-141B-1D4D4C21E2B5}"/>
                </a:ext>
              </a:extLst>
            </p:cNvPr>
            <p:cNvSpPr txBox="1"/>
            <p:nvPr/>
          </p:nvSpPr>
          <p:spPr>
            <a:xfrm>
              <a:off x="7441766" y="6064492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Checkpoint200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0FD0DECC-83A8-6E8E-3925-B457428F73C2}"/>
                </a:ext>
              </a:extLst>
            </p:cNvPr>
            <p:cNvSpPr txBox="1"/>
            <p:nvPr/>
          </p:nvSpPr>
          <p:spPr>
            <a:xfrm>
              <a:off x="7015754" y="3707990"/>
              <a:ext cx="2335123" cy="60016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Reward_SystemF</a:t>
              </a:r>
            </a:p>
            <a:p>
              <a:r>
                <a:rPr lang="es-ES_tradnl" sz="1100" noProof="1"/>
                <a:t>Run_x427, 200eps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B4121B5-7C93-9DB6-C7E1-F7E811CC4FCD}"/>
              </a:ext>
            </a:extLst>
          </p:cNvPr>
          <p:cNvSpPr txBox="1">
            <a:spLocks/>
          </p:cNvSpPr>
          <p:nvPr/>
        </p:nvSpPr>
        <p:spPr>
          <a:xfrm>
            <a:off x="2289224" y="6356350"/>
            <a:ext cx="917072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  <a:endParaRPr lang="es-ES_tradnl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912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10923-0B56-8069-F9FD-1EA919A43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2EF529-6578-3C75-D13E-CD6C2267EBFB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0" indent="0"/>
            <a:r>
              <a:rPr lang="es-ES_tradnl" noProof="1"/>
              <a:t>El agente ha aprendido una política con degradación significativa del rendimiento global fuera del entorno cercano al objetivo.</a:t>
            </a:r>
            <a:endParaRPr lang="es-ES_tradnl" sz="11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platzhalter 1">
                <a:extLst>
                  <a:ext uri="{FF2B5EF4-FFF2-40B4-BE49-F238E27FC236}">
                    <a16:creationId xmlns:a16="http://schemas.microsoft.com/office/drawing/2014/main" id="{07F92C45-9681-8F81-6606-CBD760330826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i="1" noProof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noProof="1" dirty="0">
                            <a:latin typeface="Cambria Math" panose="02040503050406030204" pitchFamily="18" charset="0"/>
                          </a:rPr>
                          <m:t>𝑅𝑀𝑆𝐸</m:t>
                        </m:r>
                      </m:e>
                      <m:sub>
                        <m:r>
                          <a:rPr lang="es-ES_tradnl" i="1" noProof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noProof="1"/>
                  <a:t> en dominio angular del Agente200</a:t>
                </a:r>
              </a:p>
            </p:txBody>
          </p:sp>
        </mc:Choice>
        <mc:Fallback>
          <p:sp>
            <p:nvSpPr>
              <p:cNvPr id="6" name="Textplatzhalter 1">
                <a:extLst>
                  <a:ext uri="{FF2B5EF4-FFF2-40B4-BE49-F238E27FC236}">
                    <a16:creationId xmlns:a16="http://schemas.microsoft.com/office/drawing/2014/main" id="{07F92C45-9681-8F81-6606-CBD7603308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>
                <a:blip r:embed="rId2"/>
                <a:stretch>
                  <a:fillRect t="-10811" b="-54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4CE07979-A860-7825-BC57-30B81472E040}"/>
              </a:ext>
            </a:extLst>
          </p:cNvPr>
          <p:cNvSpPr txBox="1"/>
          <p:nvPr/>
        </p:nvSpPr>
        <p:spPr>
          <a:xfrm>
            <a:off x="8980231" y="5094275"/>
            <a:ext cx="2903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800" noProof="1"/>
              <a:t>Estado baseline: Pitch = 0°, Roll = 0° , o1ini=0° , do1ini=0rad/s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9C3AFBA-4152-7E27-BE7E-D1327F16EDC0}"/>
              </a:ext>
            </a:extLst>
          </p:cNvPr>
          <p:cNvSpPr txBox="1"/>
          <p:nvPr/>
        </p:nvSpPr>
        <p:spPr>
          <a:xfrm>
            <a:off x="399244" y="2470120"/>
            <a:ext cx="172178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Symbol" pitchFamily="2" charset="2"/>
              <a:buChar char="-"/>
            </a:pP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agente presenta un comportamiento concentrado en la zona central del dominio angular, donde alcanza su mayor precisión.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error aumenta de forma marcada hacia los extremos, evidenciando una pérdida de estabilidad y capacidad de generalización en esas regiones.</a:t>
            </a:r>
          </a:p>
          <a:p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C3D849A8-67AB-2DD1-F4ED-07E11A94817A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2383771" y="2390777"/>
            <a:ext cx="6403696" cy="3021013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0C151D8F-555C-C4FA-6CD9-5F6B69434A98}"/>
              </a:ext>
            </a:extLst>
          </p:cNvPr>
          <p:cNvSpPr txBox="1">
            <a:spLocks/>
          </p:cNvSpPr>
          <p:nvPr/>
        </p:nvSpPr>
        <p:spPr>
          <a:xfrm>
            <a:off x="2289224" y="6356350"/>
            <a:ext cx="917072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  <a:endParaRPr lang="es-ES_tradnl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14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</Words>
  <Application>Microsoft Macintosh PowerPoint</Application>
  <PresentationFormat>Breitbild</PresentationFormat>
  <Paragraphs>277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Symbol</vt:lpstr>
      <vt:lpstr>Times New Roman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2026-03-29T08:20:26Z</dcterms:created>
  <dcterms:modified xsi:type="dcterms:W3CDTF">2026-03-29T08:25:26Z</dcterms:modified>
</cp:coreProperties>
</file>