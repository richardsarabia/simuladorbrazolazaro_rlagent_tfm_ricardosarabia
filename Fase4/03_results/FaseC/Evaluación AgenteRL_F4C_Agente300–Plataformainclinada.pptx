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88" r:id="rId2"/>
    <p:sldId id="789" r:id="rId3"/>
    <p:sldId id="790" r:id="rId4"/>
    <p:sldId id="791" r:id="rId5"/>
    <p:sldId id="792" r:id="rId6"/>
    <p:sldId id="793" r:id="rId7"/>
    <p:sldId id="794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382B6-ECFA-64CA-7CC0-DD1216133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4ABB33-9C15-6CFE-7894-034775CE6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12C376-EB1E-9228-35E7-98886453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F9A190-F5D9-BD69-8CD0-A3D7A89B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6E5AA5-AA19-AAE1-CC87-7B3B9308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4086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D8463-99C6-E77F-AA9F-3C85402F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CB27AE-07A8-2003-E732-FBA563283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D74819-6172-6FE7-298C-49669667C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CFCB65-6093-9AFF-8E2A-A72267F09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581F01-7BA4-43E9-FBB0-F673CEDA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645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899140-DC3C-864B-6AFB-3E72E84D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73E8A9-49D0-DB9C-8A45-E48D7DB5E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2F18BD-0A2C-8EFE-39D3-89501656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2E7745-714F-D170-226A-8332E4E15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D7F93A-FD7F-3E10-7C60-70034E43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6273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80875F-1885-8714-66A3-60AD5107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575171-CFD2-BAD9-3BD3-CF5B421C9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0EA38B-4405-5033-31A1-4AA644D1B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742320-5847-4A58-3645-C12EEB07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D5DD5B-C4D0-6E69-1663-DBD5627C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CD083B-3753-C4A7-F123-3914E1FF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53339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1D577-A15B-DDD9-63AE-883960A6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2FF7FD-EC31-A55C-28C2-06A01E99B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E8BA64-9F47-4EA2-1F4B-A995915A4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4F4492-8F04-29EE-7C19-1EEAC1D04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D01817E-99E2-A624-09F1-DBCF41A73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61AAF54-6594-C771-FA4D-B73B49F4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340E653-B8BC-C9A8-281C-05C97E71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80ECD2-9D23-AF79-E7AA-40E82734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067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8924C1-B48A-A277-5252-85B666A9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0B8DE9-92AB-15FD-D780-7C291F51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A47FD9-502B-F45F-B902-DDD2CE95B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8BD503-F105-846A-E2FF-66CB76FE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6861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FA666D5-BB71-8A72-15B7-490741A7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A7635E0-E554-C222-A5F1-B1556F79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C5E692-EB83-679A-2FA2-AAE5F8B1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0609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B5920-7330-5922-5740-71352AB9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E9EBF0-DB60-CDD8-C25B-FE658519C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8B7E3F-8653-3FCB-2954-1BB19A779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DFD342-7B2C-5EF6-1655-BE3C1FBD4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E8053C-EF4B-9761-5F73-95A2310F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DD3705-5419-8F1B-C77E-C432A909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475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AC7BD3-D3AE-0F17-A7FE-183AF079F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D69EB6A-5A32-63CA-AE64-8088B011B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99C0A9D-3266-1AEF-4260-0E90C5557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DFF3B8-F849-269D-515C-0A67339A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B3FF1B-C20F-8744-B43A-410A0585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B3CE7F-9A9F-1B2C-442B-917CE3813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304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3AD701-DECF-C77B-6135-3A69D633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7979D54-CCE3-8C5F-C188-80AC9084B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6ED17-C15D-8A9D-E5E6-E08C39F2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91A6E3-57D2-413B-17BF-B921781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DC71BC-C521-1062-9972-FA1BBA77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4683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B4E8692-229F-CB5B-A3E6-59BF9548C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4441847-C0B8-C4F3-3788-5C4D1CE84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7443C1-C322-6012-08D1-B61DA261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413524-2248-A34B-8B07-E69D24CD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090FA6-3482-C4E7-6F93-2A276502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79665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27862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1995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DA9363-39A6-9050-1423-F4826FE0E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EC36BE-7496-A214-720D-50595D8D0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E4745E-9BA5-7C6E-DCED-FAD93DE38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D7DCE-A058-1B4A-9CEC-2FF2996965B2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B17837-4466-A49F-A3F0-6C8252085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6669BB-01D4-FDC4-7BAB-F67DF1CF6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24716-2CFE-2E47-AC61-092EFD8B00A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5586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F8923-276A-36AD-C2DE-8E7559780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DD891F7-6464-952F-2A7A-69B1F425FE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064755" cy="1217510"/>
          </a:xfrm>
        </p:spPr>
        <p:txBody>
          <a:bodyPr>
            <a:normAutofit/>
          </a:bodyPr>
          <a:lstStyle/>
          <a:p>
            <a:r>
              <a:rPr lang="es-ES_tradnl" sz="1400" dirty="0"/>
              <a:t>La inclinación introduce fuerte asimetría:</a:t>
            </a:r>
          </a:p>
          <a:p>
            <a:r>
              <a:rPr lang="es-ES_tradnl" sz="1400" dirty="0"/>
              <a:t>−90° degrada significativamente el RMSE (~57°), mientras que 0° y 90° se mantienen cercanos (~35°).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409A06-8FBF-D2BC-D3AA-6ABE62C7F5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noProof="1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9E7B2B2B-B2D1-CC4B-F74E-013FFAA7555C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6353093" y="4424206"/>
            <a:ext cx="45719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do1ini= 0°, Retardo=0ms </a:t>
            </a:r>
            <a:endParaRPr lang="es-ES_tradnl" sz="1400" noProof="1"/>
          </a:p>
          <a:p>
            <a:pPr algn="l"/>
            <a:endParaRPr lang="es-ES_tradnl" sz="1400" b="1" noProof="1"/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550BF71B-37F5-7AD1-1BFC-7DF0678D014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48502" y="2151063"/>
            <a:ext cx="5310145" cy="40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75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10E99-F5FD-7CB1-7B07-7445DF76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B0E531-E972-5031-D6A0-EBE65FDDDA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32E4921D-E606-6F16-BD68-284FAECE6DE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854672808"/>
              </p:ext>
            </p:extLst>
          </p:nvPr>
        </p:nvGraphicFramePr>
        <p:xfrm>
          <a:off x="606425" y="4962525"/>
          <a:ext cx="10532960" cy="1379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-14.10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28.80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292.02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23.22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-14.48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-32.17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16.13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86.15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347.34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72.25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34.95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857C4FF-E7D7-2782-AC9E-6636B2908BBF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condiciones nominales (≈17°).</a:t>
            </a:r>
          </a:p>
          <a:p>
            <a:r>
              <a:rPr lang="es-ES_tradnl" sz="1400" dirty="0"/>
              <a:t>En condiciones extremas, el error aumenta (≈19° y ≈86°), con mayor sobreimpulso y pérdida parcial de seguimiento.</a:t>
            </a:r>
          </a:p>
        </p:txBody>
      </p:sp>
      <p:pic>
        <p:nvPicPr>
          <p:cNvPr id="11" name="Onlinebild-Platzhalter 10">
            <a:extLst>
              <a:ext uri="{FF2B5EF4-FFF2-40B4-BE49-F238E27FC236}">
                <a16:creationId xmlns:a16="http://schemas.microsoft.com/office/drawing/2014/main" id="{05A3FBD7-1BF8-D591-A066-3E8DB7854956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02152" y="2078038"/>
            <a:ext cx="7225792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5A1D5B32-DDA3-AE0F-568F-AB7A0D5365E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15983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AC157-27D3-A207-A297-6F3BDC5B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8421AF-B8EA-C2D6-73E0-0FC215EAA9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noProof="1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37E25136-9F76-3C22-04C1-81727E7B4E0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do1ini= 0° </a:t>
            </a:r>
            <a:endParaRPr lang="es-ES_tradnl" noProof="1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AA592480-6F82-E6EB-4729-033D5C5B85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460426" cy="977315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El retardo no altera la forma del RMSE.</a:t>
            </a:r>
          </a:p>
          <a:p>
            <a:pPr algn="l"/>
            <a:r>
              <a:rPr lang="es-ES_tradnl" sz="1400" dirty="0"/>
              <a:t>Su impacto es leve: incremento marginal del error (≈35.1° → ≈35.6°, &lt;1%) sin pérdida de estabilidad.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B5EB7D0B-FA43-E94B-ABB1-A1DF578573F0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48502" y="2151063"/>
            <a:ext cx="5310145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34310A5F-D592-6DE0-C1E7-A64A95C0F276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892074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A1D6-D5EE-1F02-5DAE-97C75D229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23C9B8-99BF-A06D-25A3-B1DC196CF1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8012848F-45DB-FECB-1F04-60D266ED505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735891618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-14.10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-13.58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-30.18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17.22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-28.29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17.30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22.05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59334EB-012E-055C-3DE8-07BF4B9A80D4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estabilidad y convergencia en todos los casos.</a:t>
            </a:r>
          </a:p>
          <a:p>
            <a:r>
              <a:rPr lang="es-ES_tradnl" sz="1400" dirty="0"/>
              <a:t>El retardo tiene impacto marginal, con ligeros aumentos en RMSE y sobreimpulso.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742E09F9-33E5-3978-2201-D5751ABCE86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83865" y="2078038"/>
            <a:ext cx="6793992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44FFFA0-2B3D-31D9-EA1A-AD809EA7641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504149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DB79-4C4F-48C5-9E61-D45B50AA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E91709-CBD7-8C8C-9C0B-C7DC532A02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924B0E8-EFAC-4FFA-13BC-7E5198FBEE1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Retardo=0ms </a:t>
            </a:r>
            <a:endParaRPr lang="es-ES_tradnl" noProof="1"/>
          </a:p>
          <a:p>
            <a:endParaRPr lang="es-ES_tradnl" b="1" noProof="1"/>
          </a:p>
          <a:p>
            <a:endParaRPr lang="es-ES_tradnl" noProof="1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52EC9F15-B427-5ACD-3A2A-ADD267EE6C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9886" y="5083835"/>
            <a:ext cx="5310145" cy="914629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La velocidad angular inicial introduce asimetrías en el RMSE.</a:t>
            </a:r>
          </a:p>
          <a:p>
            <a:pPr algn="l"/>
            <a:r>
              <a:rPr lang="es-ES_tradnl" sz="1400" dirty="0"/>
              <a:t>El mejor caso es do1ini= −3.14 rad/s (≈32.9°) y el peor +3.14 rad/s (≈36.9°), con mayor degradación para velocidades positivas.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EF171D02-9100-7073-7E9E-35F9BF851C2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48502" y="2160588"/>
            <a:ext cx="5310145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B2577C49-FFD7-CA2B-3BAE-9D809796B1EB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657674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E5DF2-88B5-8E17-28BC-658F4B26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4B5292-C2D1-CBD2-EB67-0EDFC49A9B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A19BC140-C5B2-9CF8-AD88-EDA3901E425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806405203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-13.65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-30.34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35.22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-14.10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-31.09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19.50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266.50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15.11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4A06C7F-1625-1E97-3637-3D7A5FD2897B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El sistema converge en todos los casos.</a:t>
            </a:r>
          </a:p>
          <a:p>
            <a:pPr algn="l"/>
            <a:r>
              <a:rPr lang="es-ES_tradnl" sz="1400" dirty="0"/>
              <a:t>El mejor desempeño se obtiene en do1ini = +3.14 rad/s (≈16.3°) y el peor en −3.14 rad/s (≈19.5°), con variaciones en el transitorio pero sin afectar el error estacionario.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A22507F6-0083-6373-3B8C-46EBCA81BA2A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55848" y="2078038"/>
            <a:ext cx="7287767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23656AF6-2266-E9D2-05A2-C4618F16A9CB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278535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EF16-A24E-4FC4-7129-8AB98263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3A1655-2AC2-F948-1BE0-796C6DAED6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noProof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2615E06-D0B8-A395-3B73-621B6B81898F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E4574A4-AE5E-994A-4A9D-093A9239AA3D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1658342-630A-5C59-499C-79B07BC4DC5F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6BEB43D-FD29-E6CA-C19E-A501C0375C92}"/>
              </a:ext>
            </a:extLst>
          </p:cNvPr>
          <p:cNvSpPr txBox="1"/>
          <p:nvPr/>
        </p:nvSpPr>
        <p:spPr>
          <a:xfrm>
            <a:off x="713232" y="5440095"/>
            <a:ext cx="9582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agente mantiene estabilidad, pero la inclinación degrada el desempeño.</a:t>
            </a:r>
          </a:p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retardo es despreciable (~35→36°), mientras que las condiciones iniciales dominan:</a:t>
            </a:r>
          </a:p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o1ini ≈32.6–57° y do1ini ≈32.9–36.9°, evidenciando asimetrías.</a:t>
            </a:r>
          </a:p>
        </p:txBody>
      </p:sp>
      <p:pic>
        <p:nvPicPr>
          <p:cNvPr id="2" name="Onlinebild-Platzhalter 4">
            <a:extLst>
              <a:ext uri="{FF2B5EF4-FFF2-40B4-BE49-F238E27FC236}">
                <a16:creationId xmlns:a16="http://schemas.microsoft.com/office/drawing/2014/main" id="{19B3A897-91E7-66FD-D128-75C04B8823F3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4269879" y="2283300"/>
            <a:ext cx="3627233" cy="2738067"/>
          </a:xfrm>
          <a:prstGeom prst="rect">
            <a:avLst/>
          </a:prstGeom>
        </p:spPr>
      </p:pic>
      <p:pic>
        <p:nvPicPr>
          <p:cNvPr id="4" name="Onlinebild-Platzhalter 5">
            <a:extLst>
              <a:ext uri="{FF2B5EF4-FFF2-40B4-BE49-F238E27FC236}">
                <a16:creationId xmlns:a16="http://schemas.microsoft.com/office/drawing/2014/main" id="{B0AF87B0-F836-D8CE-67C0-739E1AFD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1" y="2283300"/>
            <a:ext cx="3601877" cy="2718927"/>
          </a:xfrm>
          <a:prstGeom prst="rect">
            <a:avLst/>
          </a:prstGeom>
        </p:spPr>
      </p:pic>
      <p:pic>
        <p:nvPicPr>
          <p:cNvPr id="5" name="Onlinebild-Platzhalter 7">
            <a:extLst>
              <a:ext uri="{FF2B5EF4-FFF2-40B4-BE49-F238E27FC236}">
                <a16:creationId xmlns:a16="http://schemas.microsoft.com/office/drawing/2014/main" id="{231EA9F2-225C-7299-CCA2-1734D7873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67" y="2297347"/>
            <a:ext cx="3529907" cy="2664599"/>
          </a:xfrm>
          <a:prstGeom prst="rect">
            <a:avLst/>
          </a:prstGeom>
        </p:spPr>
      </p:pic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ED6078C5-9DB4-E5B4-D610-6C4C452A542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309983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860</Words>
  <Application>Microsoft Macintosh PowerPoint</Application>
  <PresentationFormat>Breitbild</PresentationFormat>
  <Paragraphs>229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5</cp:revision>
  <dcterms:created xsi:type="dcterms:W3CDTF">2026-04-12T11:51:24Z</dcterms:created>
  <dcterms:modified xsi:type="dcterms:W3CDTF">2026-04-12T12:51:48Z</dcterms:modified>
</cp:coreProperties>
</file>