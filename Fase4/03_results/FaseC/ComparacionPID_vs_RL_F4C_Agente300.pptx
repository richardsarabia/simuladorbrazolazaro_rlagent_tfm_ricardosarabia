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787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35"/>
  </p:normalViewPr>
  <p:slideViewPr>
    <p:cSldViewPr snapToGrid="0">
      <p:cViewPr>
        <p:scale>
          <a:sx n="137" d="100"/>
          <a:sy n="137" d="100"/>
        </p:scale>
        <p:origin x="152" y="-7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840571-88AC-6929-C6AD-8ED74CD6E2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FB47CE9-5AD0-349B-A830-F624D0AB10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6DBD1CD-76F5-D606-D4B9-E15287531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64B3-7B08-5147-BF22-49C6C9D7529C}" type="datetimeFigureOut">
              <a:rPr lang="es-ES_tradnl" smtClean="0"/>
              <a:t>13/4/26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8C28113-611E-A871-8358-1DA2881F2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1564A0B-BB16-791D-77E8-F8C0F8317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5C5FD-932D-0045-AA93-9E2049A3993A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1249044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513D1D-92C7-A8F8-CFBF-6622A52DA4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7304F64-DF9F-C356-1040-23C7EC8FDE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15831A8-F1E4-435F-653E-0E72535A9D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64B3-7B08-5147-BF22-49C6C9D7529C}" type="datetimeFigureOut">
              <a:rPr lang="es-ES_tradnl" smtClean="0"/>
              <a:t>13/4/26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0538111-2643-BE53-6A3A-2642F8805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83678FA-3341-8B88-9A21-7892765B6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5C5FD-932D-0045-AA93-9E2049A3993A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2622859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8AB791-2840-1B22-0054-D3E9DB5209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0DCACA0-F4A4-1178-4776-14BA580E53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D8F11D3-55C6-DE86-6F2A-62F5EB27D6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64B3-7B08-5147-BF22-49C6C9D7529C}" type="datetimeFigureOut">
              <a:rPr lang="es-ES_tradnl" smtClean="0"/>
              <a:t>13/4/26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2AD7F65-FC8C-227D-B976-F0313970B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439FFC7-E227-0869-7DA5-5C8E04947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5C5FD-932D-0045-AA93-9E2049A3993A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1691983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C9CF62-C2B0-866A-2E8A-5A426AC473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3450133-2141-8117-7D39-0B0C50694C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57871A0-B756-A428-F110-F76C5ED632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ACEE2A6-FD3B-8CF1-97B6-CEDAB5E6F4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64B3-7B08-5147-BF22-49C6C9D7529C}" type="datetimeFigureOut">
              <a:rPr lang="es-ES_tradnl" smtClean="0"/>
              <a:t>13/4/26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68C9952-18AC-7FED-B3AD-E26E387AD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3FAD34A-EF7E-0F7F-FDBF-75303F8B7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5C5FD-932D-0045-AA93-9E2049A3993A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2531289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3F3256-5E6B-46CF-50CF-E0C6123C5E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84CD3AB-0788-1565-162A-B4BB566ADB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EAF19B9-00E0-E3D8-AC10-0D004B0B87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41CDC62-6320-61C2-552B-37E8A6A97D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6B31E1D0-866F-0BC8-B2B5-7E47D92E2C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2B71A99B-A73A-3D64-A115-CE3FF6E2B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64B3-7B08-5147-BF22-49C6C9D7529C}" type="datetimeFigureOut">
              <a:rPr lang="es-ES_tradnl" smtClean="0"/>
              <a:t>13/4/26</a:t>
            </a:fld>
            <a:endParaRPr lang="es-ES_tradnl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B204101-7D85-EF05-7B76-51F091511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D0D5032B-EB7E-7D15-3D34-648CD9EC4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5C5FD-932D-0045-AA93-9E2049A3993A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2138468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B4F053-C669-F62F-131F-4427CC1C5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60A3277-D659-6CEA-8C89-1700775C77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64B3-7B08-5147-BF22-49C6C9D7529C}" type="datetimeFigureOut">
              <a:rPr lang="es-ES_tradnl" smtClean="0"/>
              <a:t>13/4/26</a:t>
            </a:fld>
            <a:endParaRPr lang="es-ES_tradnl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393936D-D4D0-B233-9637-4B0D7EB81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7357307-85E9-1A69-B951-162C1F2063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5C5FD-932D-0045-AA93-9E2049A3993A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4375774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37DDCAC-0829-801A-4685-EB4D0B87D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64B3-7B08-5147-BF22-49C6C9D7529C}" type="datetimeFigureOut">
              <a:rPr lang="es-ES_tradnl" smtClean="0"/>
              <a:t>13/4/26</a:t>
            </a:fld>
            <a:endParaRPr lang="es-ES_tradnl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D682FFD-73EE-B52D-0B44-74A8A88AD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EB84495-AF86-0A89-E163-396569B212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5C5FD-932D-0045-AA93-9E2049A3993A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1555085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D4B4C9-BA28-85DE-0954-42B23D961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BB038BF-1AE8-3E53-E071-548C4A1755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2362B34-1114-E6CB-472E-3059DA7A19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7C2823D-0D27-9AB3-BB52-1BC20CD049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64B3-7B08-5147-BF22-49C6C9D7529C}" type="datetimeFigureOut">
              <a:rPr lang="es-ES_tradnl" smtClean="0"/>
              <a:t>13/4/26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62B7A57-07C3-44F9-5067-4046BF85CD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5D7354E-A859-8CBC-2837-568ED096B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5C5FD-932D-0045-AA93-9E2049A3993A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0739893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6621053-36FF-684A-1FE2-220349BAD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8FD39F81-A4F6-7D12-9F1C-7BE0CF49AC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_tradnl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611BDF8-DB48-DF44-E7D0-5022806A0A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A4C8AFA-74C5-1E8C-0F8E-7C038B042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64B3-7B08-5147-BF22-49C6C9D7529C}" type="datetimeFigureOut">
              <a:rPr lang="es-ES_tradnl" smtClean="0"/>
              <a:t>13/4/26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1EA352F-689E-7DF4-9D34-EAB2013453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7B5E840-1F7B-37DE-4B13-8AB467AB9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5C5FD-932D-0045-AA93-9E2049A3993A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2809116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6EBE09-6538-C7D2-9810-852E16F4A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C24B43D-A19E-5501-B894-053394EF72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DF5EA11-46AB-BC1A-6557-3BE1D50429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64B3-7B08-5147-BF22-49C6C9D7529C}" type="datetimeFigureOut">
              <a:rPr lang="es-ES_tradnl" smtClean="0"/>
              <a:t>13/4/26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1C7BF8B-B081-5843-E2F5-B9868F8951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69C1774-8780-8AB7-A60C-21A2FC3B8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5C5FD-932D-0045-AA93-9E2049A3993A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2986785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35C921D-1078-A79D-E55D-E1004512D44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1A9EBFA-97F1-9191-0C49-70B86C0D15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E2D5FB0-D5EA-A561-B45A-855C6FF02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64B3-7B08-5147-BF22-49C6C9D7529C}" type="datetimeFigureOut">
              <a:rPr lang="es-ES_tradnl" smtClean="0"/>
              <a:t>13/4/26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C1F4754-CBC2-EB0B-3A2E-D4E388E3D5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F412BB9-0AB0-BCBB-7F93-087614864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5C5FD-932D-0045-AA93-9E2049A3993A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8001770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valuacion_RL_Sig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3">
            <a:extLst>
              <a:ext uri="{FF2B5EF4-FFF2-40B4-BE49-F238E27FC236}">
                <a16:creationId xmlns:a16="http://schemas.microsoft.com/office/drawing/2014/main" id="{A2703B11-D662-0761-2C28-295674204D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auto">
          <a:xfrm>
            <a:off x="9727159" y="198437"/>
            <a:ext cx="1732790" cy="866395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B04077B-F64E-73B0-DB6F-6D6069A174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15429" t="14728" r="25176" b="10832"/>
          <a:stretch>
            <a:fillRect/>
          </a:stretch>
        </p:blipFill>
        <p:spPr>
          <a:xfrm>
            <a:off x="10640054" y="1307035"/>
            <a:ext cx="1465024" cy="1057511"/>
          </a:xfrm>
          <a:prstGeom prst="rect">
            <a:avLst/>
          </a:prstGeom>
        </p:spPr>
      </p:pic>
      <p:sp>
        <p:nvSpPr>
          <p:cNvPr id="12" name="Rechteck 11">
            <a:extLst>
              <a:ext uri="{FF2B5EF4-FFF2-40B4-BE49-F238E27FC236}">
                <a16:creationId xmlns:a16="http://schemas.microsoft.com/office/drawing/2014/main" id="{5D959E84-1BDC-3415-5E5F-2481B8EF4336}"/>
              </a:ext>
            </a:extLst>
          </p:cNvPr>
          <p:cNvSpPr/>
          <p:nvPr userDrawn="1"/>
        </p:nvSpPr>
        <p:spPr>
          <a:xfrm>
            <a:off x="-3818" y="-7818"/>
            <a:ext cx="12195818" cy="976185"/>
          </a:xfrm>
          <a:prstGeom prst="rect">
            <a:avLst/>
          </a:prstGeom>
          <a:solidFill>
            <a:srgbClr val="7F7F7F">
              <a:alpha val="2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A41B35AC-5FD2-0498-0C0B-3C9BC3F79BD3}"/>
              </a:ext>
            </a:extLst>
          </p:cNvPr>
          <p:cNvSpPr txBox="1"/>
          <p:nvPr userDrawn="1"/>
        </p:nvSpPr>
        <p:spPr>
          <a:xfrm>
            <a:off x="374790" y="256347"/>
            <a:ext cx="8271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800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Evaluación RL en la Simulación</a:t>
            </a:r>
          </a:p>
        </p:txBody>
      </p:sp>
      <p:sp>
        <p:nvSpPr>
          <p:cNvPr id="29" name="Inhaltsplatzhalter 28">
            <a:extLst>
              <a:ext uri="{FF2B5EF4-FFF2-40B4-BE49-F238E27FC236}">
                <a16:creationId xmlns:a16="http://schemas.microsoft.com/office/drawing/2014/main" id="{529551D1-5D3F-5303-A7C7-338F40CEA02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5928" y="4961947"/>
            <a:ext cx="11065209" cy="1007846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cxnSp>
        <p:nvCxnSpPr>
          <p:cNvPr id="2" name="Gerade Verbindung 1">
            <a:extLst>
              <a:ext uri="{FF2B5EF4-FFF2-40B4-BE49-F238E27FC236}">
                <a16:creationId xmlns:a16="http://schemas.microsoft.com/office/drawing/2014/main" id="{E823874B-BE42-6B9C-CBCF-8EFCB6AD8788}"/>
              </a:ext>
            </a:extLst>
          </p:cNvPr>
          <p:cNvCxnSpPr>
            <a:cxnSpLocks/>
          </p:cNvCxnSpPr>
          <p:nvPr userDrawn="1"/>
        </p:nvCxnSpPr>
        <p:spPr>
          <a:xfrm>
            <a:off x="520862" y="1850693"/>
            <a:ext cx="9945312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platzhalter 23">
            <a:extLst>
              <a:ext uri="{FF2B5EF4-FFF2-40B4-BE49-F238E27FC236}">
                <a16:creationId xmlns:a16="http://schemas.microsoft.com/office/drawing/2014/main" id="{90D1329D-A0BF-1FBB-6936-392FA8034A0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0862" y="1446792"/>
            <a:ext cx="6994505" cy="449263"/>
          </a:xfrm>
        </p:spPr>
        <p:txBody>
          <a:bodyPr/>
          <a:lstStyle>
            <a:lvl1pPr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s-ES_tradnl" sz="2000" dirty="0">
              <a:solidFill>
                <a:schemeClr val="tx1">
                  <a:lumMod val="75000"/>
                  <a:lumOff val="2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nlinebild-Platzhalter 13">
            <a:extLst>
              <a:ext uri="{FF2B5EF4-FFF2-40B4-BE49-F238E27FC236}">
                <a16:creationId xmlns:a16="http://schemas.microsoft.com/office/drawing/2014/main" id="{3A0C70E0-48D5-A72C-4A82-0E880E0730C9}"/>
              </a:ext>
            </a:extLst>
          </p:cNvPr>
          <p:cNvSpPr>
            <a:spLocks noGrp="1"/>
          </p:cNvSpPr>
          <p:nvPr>
            <p:ph type="clipArt" sz="quarter" idx="15"/>
          </p:nvPr>
        </p:nvSpPr>
        <p:spPr>
          <a:xfrm>
            <a:off x="3583277" y="2077327"/>
            <a:ext cx="5271637" cy="2506018"/>
          </a:xfrm>
        </p:spPr>
        <p:txBody>
          <a:bodyPr/>
          <a:lstStyle/>
          <a:p>
            <a:endParaRPr lang="es-ES_tradnl"/>
          </a:p>
        </p:txBody>
      </p:sp>
      <p:sp>
        <p:nvSpPr>
          <p:cNvPr id="11" name="Inhaltsplatzhalter 28">
            <a:extLst>
              <a:ext uri="{FF2B5EF4-FFF2-40B4-BE49-F238E27FC236}">
                <a16:creationId xmlns:a16="http://schemas.microsoft.com/office/drawing/2014/main" id="{E03F487B-0478-3EA0-504F-340815C8A13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61487" y="2465822"/>
            <a:ext cx="2688490" cy="202763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6543657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0D07C839-2825-05B9-9E46-1AA91B145C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56B30DF-5E66-FAFB-BE3B-62D0427B78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CCAD127-3F74-58A4-7D33-9A0766966F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0864B3-7B08-5147-BF22-49C6C9D7529C}" type="datetimeFigureOut">
              <a:rPr lang="es-ES_tradnl" smtClean="0"/>
              <a:t>13/4/26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F59476D-B172-7084-5A08-E3263A6C3E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299A3B4-8A0D-B3D4-9673-5F3D81F055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05C5FD-932D-0045-AA93-9E2049A3993A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926027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3439D-28F5-1F17-E85A-F6DFD3A6E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B07113E-C156-0F0E-CB0C-928AA1A452C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95462" y="1377414"/>
            <a:ext cx="9458516" cy="449263"/>
          </a:xfrm>
        </p:spPr>
        <p:txBody>
          <a:bodyPr>
            <a:normAutofit/>
          </a:bodyPr>
          <a:lstStyle/>
          <a:p>
            <a:r>
              <a:rPr lang="es-ES_tradnl" noProof="1"/>
              <a:t>Comparación en el domino Angular : PID vs Controlador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684874A7-9A49-8172-EC80-BC2D0846E5E6}"/>
              </a:ext>
            </a:extLst>
          </p:cNvPr>
          <p:cNvSpPr txBox="1"/>
          <p:nvPr/>
        </p:nvSpPr>
        <p:spPr>
          <a:xfrm>
            <a:off x="9390719" y="4866321"/>
            <a:ext cx="12591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sz="1100" noProof="1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Pitch, Roll =-10°</a:t>
            </a:r>
            <a:endParaRPr lang="es-ES_tradnl" sz="1100" noProof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9CFAC43B-2449-4E31-525D-193EFEB329D5}"/>
              </a:ext>
            </a:extLst>
          </p:cNvPr>
          <p:cNvSpPr txBox="1"/>
          <p:nvPr/>
        </p:nvSpPr>
        <p:spPr>
          <a:xfrm>
            <a:off x="4172431" y="4835176"/>
            <a:ext cx="12591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sz="1100" noProof="1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Pitch, Roll =0°</a:t>
            </a:r>
            <a:endParaRPr lang="es-ES_tradnl" sz="1100" noProof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Fußzeilenplatzhalter 2">
            <a:extLst>
              <a:ext uri="{FF2B5EF4-FFF2-40B4-BE49-F238E27FC236}">
                <a16:creationId xmlns:a16="http://schemas.microsoft.com/office/drawing/2014/main" id="{FDBFE08C-D51C-79B0-A1B5-D6F1D5CB0CC9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noProof="1"/>
              <a:t>TFM – Master Inteligencia Artificial – Control Monoarticular aplicado en manipuladores móviles utilizando aprendizaje por refuerzo  –  Ricardo Enrique  Sarabia Palacio</a:t>
            </a: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71C7336F-9302-46F9-F86C-B7643A5BD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3832" y="1991679"/>
            <a:ext cx="5226214" cy="2807527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E6288099-997D-9BFE-EEF4-CCFCDA7F15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624" y="1967922"/>
            <a:ext cx="4547616" cy="2817232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B7AD0F18-E31C-8FD1-2EA8-20FC5C49C7BF}"/>
              </a:ext>
            </a:extLst>
          </p:cNvPr>
          <p:cNvSpPr txBox="1"/>
          <p:nvPr/>
        </p:nvSpPr>
        <p:spPr>
          <a:xfrm>
            <a:off x="677495" y="5254921"/>
            <a:ext cx="1062711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Symbol" pitchFamily="2" charset="2"/>
              <a:buChar char="-"/>
            </a:pPr>
            <a:r>
              <a:rPr lang="es-ES_tradnl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política neuronal presenta un desempeño inferior al PID en plataforma plana (RMSE ≈ 35.13° frente a ≈ 31.39°), evidenciando menor precisión en condiciones nominales.</a:t>
            </a:r>
          </a:p>
          <a:p>
            <a:pPr marL="285750" indent="-285750">
              <a:buFont typeface="Symbol" pitchFamily="2" charset="2"/>
              <a:buChar char="-"/>
            </a:pPr>
            <a:r>
              <a:rPr lang="es-ES_tradnl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Bajo inclinación, la política neuronal reduce el error frente al PID (≈35.13° vs ≈40.55°, −13.4%), mostrando mejor adaptación a perturbaciones gravitacionales.</a:t>
            </a:r>
          </a:p>
          <a:p>
            <a:pPr marL="285750" indent="-285750">
              <a:buFont typeface="Symbol" pitchFamily="2" charset="2"/>
              <a:buChar char="-"/>
            </a:pPr>
            <a:r>
              <a:rPr lang="es-ES_tradnl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 PID presenta una respuesta más suave, mientras que la política neuronal destaca por su mayor robustez y capacidad de generalización en condiciones no nominales.</a:t>
            </a:r>
          </a:p>
        </p:txBody>
      </p:sp>
    </p:spTree>
    <p:extLst>
      <p:ext uri="{BB962C8B-B14F-4D97-AF65-F5344CB8AC3E}">
        <p14:creationId xmlns:p14="http://schemas.microsoft.com/office/powerpoint/2010/main" val="31593097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128</Words>
  <Application>Microsoft Macintosh PowerPoint</Application>
  <PresentationFormat>Breitbild</PresentationFormat>
  <Paragraphs>7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Symbol</vt:lpstr>
      <vt:lpstr>Times New Roman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ricardo sarabia</dc:creator>
  <cp:lastModifiedBy>ricardo sarabia</cp:lastModifiedBy>
  <cp:revision>3</cp:revision>
  <dcterms:created xsi:type="dcterms:W3CDTF">2026-04-12T12:59:03Z</dcterms:created>
  <dcterms:modified xsi:type="dcterms:W3CDTF">2026-04-13T10:54:52Z</dcterms:modified>
</cp:coreProperties>
</file>