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83" r:id="rId2"/>
    <p:sldId id="584" r:id="rId3"/>
    <p:sldId id="585" r:id="rId4"/>
    <p:sldId id="586" r:id="rId5"/>
    <p:sldId id="587" r:id="rId6"/>
    <p:sldId id="588" r:id="rId7"/>
    <p:sldId id="58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95BC8-1CF7-FB9E-7F0E-9BAA1F008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8788DE0-C038-6C5E-4E7A-56A8617D9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E4ECD1-600E-2EAD-4ACC-529003CE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8030B7-9B28-5D7F-DE42-64E7E182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93FE4C-23E6-459C-193F-A4CC010C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176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92BAC-CD0D-942D-13DE-9814A7AA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170CAC-10ED-16C9-E797-EEC87C5C3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989A2C-BD8A-2346-C5F4-5989AF70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1CA245-D926-E6E0-21F0-D01C8C56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7CB593-CA4C-F84C-FDC4-C4B78A80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9639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B0D9AD-4451-40B2-FFBB-E2AF1B22E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958551-C722-EEBA-889B-22E561B6E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740CF3-41CA-796A-07F8-A58ED55F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13C48B-A53B-5883-C31E-D82FA12E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5F3066-33A6-26F1-CE0B-D03A9BC3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2754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CCBFA3-90E2-4C03-2388-29958D36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18DB21-C1D8-2E40-96D5-5F8F6777E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DFEC00-C30F-4C2D-4A35-0E228D19A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562DF8-27AE-E5BE-1990-4B575593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10C3D0-DC70-C491-9CF7-5E2CC1AF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105E97-CF72-AE49-1F6C-4D2DBB1D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5403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A2107C-5749-C018-22B8-CF1E817B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7C213A-FBDC-E04F-6179-621CCE1BB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6DFAA2-D3FD-9C44-AC0C-AFEBB84D2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65842B1-9D7A-A519-9AEC-D78A6822B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E84615-6FF6-6268-2D4A-19D565CA5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EBC5391-734D-ADF7-1432-DC185988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5F7FC01-D8D4-B3F3-E61C-7ED76F27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CFA2824-1D04-E1B0-B9C9-A5A95330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9062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B18820-7133-124D-67B9-BBBE9086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914048A-0F44-A850-D290-3756DE90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BD25DA-1876-AB80-7E8C-7843B083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8FF1B2-8EA5-FBB1-3FF1-8AE2B222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4630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66DFF8F-9B06-FED2-6B6D-03BFC010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755AD6-E4C7-9838-5C13-894911846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5AD0C5-B553-14E7-2118-A6A54C32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13643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7D1CFC-2CCC-878E-3CEA-A5E3239D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FFE727-2625-2429-F2FC-4A5B952BC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E5AE26D-2CF5-C12B-3B8E-791C8CA5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1A2019-6CA1-27F0-4A01-CDF801A4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61B6E5-10C5-1723-43F1-21BFBDAE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9B235A-58DD-85C0-8C74-5C4587F80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4417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8B22B-7D82-5C79-9246-223DEB2D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B32F9B-DC3B-1B9E-9679-B2A35C614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0E5C22-539A-854E-7DFA-7F0F620F8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AFA4056-818E-521A-4D10-3F55461C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A31A54-C2FB-54B9-716E-E9025D1A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7CE523-0C49-D587-6E90-5DBDBA5E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33216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E0ECE5-5C19-F86C-7788-AA0831D8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D85F81-6AFC-B88F-FA8D-C2CFE2E67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F4A550-F4E4-FD5C-740B-6098785DC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E16491-6DB6-6D07-1B94-91C5C2F6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4E942C-86E1-F7BE-0E82-5FDA53E10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208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3A464AE-0953-CE2D-721C-0BF487B20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2DB9B8-69A0-DDFB-A00D-D21B81F96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D6D2EB-9D49-D8BF-2775-A79C76CEC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0923A6-3CA8-41F9-6DF6-8C23A931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85848C-DF25-1969-CB6F-9645F078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18010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1964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8205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2C45B03-1AEE-4418-B4FE-2BF336FD6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29574D-2138-7902-FD84-80994E22F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4B120B-27D4-60A2-771D-7C3DFD35F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B1832-61BC-7C45-8C33-FAB16358293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8F4B43-4ED1-852C-1353-88828BA02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BF16B9-2A91-0F89-44E7-E94824E44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57E3B-1ABE-BE4F-9948-5AB0C12D853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9719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AC461-101D-DC78-7CA9-A84D99ED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C434469-B046-E6B8-B63F-73BA0A57890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s-ES_tradnl" dirty="0"/>
              <a:t>La posición inicial introduce variaciones significativas en el RMSE, generando distorsiones en la curva y evidenciando una alta dependencia del agente respecto al estado inicial.</a:t>
            </a:r>
          </a:p>
          <a:p>
            <a:pPr algn="l"/>
            <a:endParaRPr lang="es-ES_tradnl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CE8B3D-E5EF-5C3F-4146-F48094A5FA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dirty="0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49E7A484-B9F4-70C0-A8DA-8DD87ACDFB0F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do1ini= 0°, Retardo=0ms </a:t>
            </a:r>
            <a:endParaRPr lang="es-ES_tradnl" sz="1400" dirty="0"/>
          </a:p>
          <a:p>
            <a:pPr algn="l"/>
            <a:endParaRPr lang="es-ES_tradnl" sz="1400" b="1" dirty="0"/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7E9F66A1-B9A7-7DB7-C94D-E20C9C256803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D4E60823-8E99-D5BF-500D-89705DDCE53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27084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7CD42-D29A-AC0D-88D7-E21D4A4E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7387EA-EDE3-56F7-F503-0CB775C81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0A5CEFBA-7096-0492-2B9B-C4CCE42CE69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744893613"/>
              </p:ext>
            </p:extLst>
          </p:nvPr>
        </p:nvGraphicFramePr>
        <p:xfrm>
          <a:off x="561487" y="4765096"/>
          <a:ext cx="10532960" cy="163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35.84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13.37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166.40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138.00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51.53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6.16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35.23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34.67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-9.33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-20.72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14.41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187.31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29.28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49.66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35.84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-7.81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-17.35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43.63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199.73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124.00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104.75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11.26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50.17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6D52BC0-6CAC-150B-DFA6-B79F3EF0EC7B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dirty="0"/>
              <a:t>El agente converge en todos los casos de 01ini, mostrando robustez frente al estado inicial. No obstante, condiciones extremas incrementan el RMSE y el esfuerzo de control.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7C27C78E-9047-44C8-5AD7-5CCD6C4527D8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96962" y="2078038"/>
            <a:ext cx="7105135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02085F9-D147-B6E5-6671-1F90BC294271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304959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B6B26-7FDA-7AA5-4BE2-B697FA25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D10FCD-5CC8-8D38-4638-07391DA39B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dirty="0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12E779F5-7F74-B012-E5BB-511AF2A7D53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do1ini= 0° </a:t>
            </a:r>
            <a:endParaRPr lang="es-ES_tradnl" dirty="0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A7981EC8-FDAF-D8F9-C81F-BD33813A85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858024" cy="977315"/>
          </a:xfrm>
        </p:spPr>
        <p:txBody>
          <a:bodyPr>
            <a:noAutofit/>
          </a:bodyPr>
          <a:lstStyle/>
          <a:p>
            <a:pPr algn="l"/>
            <a:r>
              <a:rPr lang="es-ES_tradnl" dirty="0"/>
              <a:t>El retardo no altera la forma del RMSE, pero introduce una penalización uniforme. El sistema permanece estable, con ligeros incrementos en sobreimpulso y esfuerzo de control</a:t>
            </a:r>
          </a:p>
          <a:p>
            <a:pPr algn="l">
              <a:lnSpc>
                <a:spcPct val="120000"/>
              </a:lnSpc>
            </a:pPr>
            <a:endParaRPr lang="es-ES_tradnl" dirty="0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F221D238-8479-D4A7-F21D-AF23A5E92C0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19D9B648-0779-D501-74EC-0CAB63D6868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64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1BD80-5124-3083-3661-C6874346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77ABFA-C119-F20D-93C7-FC84903188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FDEFB517-D631-D5F5-F5C5-29CFAB0FC23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10042368"/>
              </p:ext>
            </p:extLst>
          </p:nvPr>
        </p:nvGraphicFramePr>
        <p:xfrm>
          <a:off x="561487" y="4583113"/>
          <a:ext cx="10532960" cy="1681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34.67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-9.33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-20.72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14.41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187.31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29.28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49.66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34.65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-8.57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-19.04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187.91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32.88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4.17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56.27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34.68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-7.46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-16.57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187.46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168.00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38.56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66.63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7DB7702-7042-E0ED-41FD-9A68C95D1ECE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dirty="0"/>
              <a:t>El sistema mantiene estabilidad y convergencia, con ligeros incrementos en sobreimpulso y esfuerzo de control a medida que aumenta el retardo.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8FE1271C-DA61-8D67-01BF-D172EAE2F51E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45243" y="2078038"/>
            <a:ext cx="6734433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6883063-D086-1F85-1D64-B23255ADC3D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4050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0893-16BD-DFBE-CFD6-DAC108B7A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A739BC-4FF4-B620-0150-A7E2E9AB1D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775AF0F-F7E4-39DE-1CDF-AD3177BB38C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Retardo=0ms </a:t>
            </a:r>
            <a:endParaRPr lang="es-ES_tradnl" dirty="0"/>
          </a:p>
          <a:p>
            <a:endParaRPr lang="es-ES_tradnl" b="1" dirty="0"/>
          </a:p>
          <a:p>
            <a:endParaRPr lang="es-ES_tradnl" dirty="0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D37CC072-A086-2102-14B4-D7DAD88F89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1066521"/>
          </a:xfrm>
        </p:spPr>
        <p:txBody>
          <a:bodyPr>
            <a:noAutofit/>
          </a:bodyPr>
          <a:lstStyle/>
          <a:p>
            <a:pPr algn="l"/>
            <a:r>
              <a:rPr lang="es-ES_tradnl" dirty="0"/>
              <a:t>La velocidad angular inicial distorsiona el RMSE, evidenciando una fuerte dependencia del desempeño respecto al estado dinámico inicial.</a:t>
            </a:r>
          </a:p>
          <a:p>
            <a:pPr algn="l">
              <a:lnSpc>
                <a:spcPct val="120000"/>
              </a:lnSpc>
            </a:pPr>
            <a:endParaRPr lang="es-ES_tradnl" dirty="0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EB327E8A-EAAC-6087-151B-E0C31D8530CE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BC0361EC-84D8-0C37-CD8D-9BD1348DC63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472797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57F5-D07B-88AC-A3E7-099FBA36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BA385E-DDEC-5612-1FFA-C4560C8142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3BA08324-2FB8-EBD8-9289-E15D06A4498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44227278"/>
              </p:ext>
            </p:extLst>
          </p:nvPr>
        </p:nvGraphicFramePr>
        <p:xfrm>
          <a:off x="610072" y="4585708"/>
          <a:ext cx="10971856" cy="1651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208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60764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901424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57869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59094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7120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88649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83981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97767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72878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710871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4320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55535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613652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34.67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-8.77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-19.49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12.55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186.14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159.00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1.78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12.84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65.50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34.67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-9.33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-20.72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14.41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187.31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29.28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49.66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34.67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-9.22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-20.48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18.64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191.50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54.46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6.19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FDA4290-9090-2ACE-E2FB-64B812B30A60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dirty="0"/>
              <a:t>La velocidad inicial impacta significativamente el transitorio, generando variaciones en sobreimpulso, convergencia y esfuerzo de control.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2C6C39DA-38C6-C811-5886-45F8EC9394CD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47535" y="2078038"/>
            <a:ext cx="7203989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D8935AD4-21D6-936D-2255-918DC3CFF2E6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0837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A0AF2-069E-9288-F602-C029BEFC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DAD428-3A98-7DCF-B935-BCC7D0E3AF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DC79E03-5931-7480-ECF2-FC7D4779336F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B67C47A-7385-9883-B53F-DD50630E261E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B250BA7-DE9F-5BED-702B-3F5E0EB1CC05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344768D-B79D-FAF2-2E47-919330C48209}"/>
              </a:ext>
            </a:extLst>
          </p:cNvPr>
          <p:cNvSpPr txBox="1"/>
          <p:nvPr/>
        </p:nvSpPr>
        <p:spPr>
          <a:xfrm>
            <a:off x="327464" y="5574375"/>
            <a:ext cx="1160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agente presenta estabilidad y continuidad global. El retardo tiene impacto mínimo, mientras que las condiciones iniciales, especialmente la velocidad, introducen distorsiones y evidencian limitaciones de generalización.</a:t>
            </a:r>
          </a:p>
          <a:p>
            <a:pPr algn="ctr"/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3B574F-B53F-DE93-005E-DED69AC5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64" y="2309182"/>
            <a:ext cx="3480505" cy="2662828"/>
          </a:xfrm>
          <a:prstGeom prst="rect">
            <a:avLst/>
          </a:prstGeom>
        </p:spPr>
      </p:pic>
      <p:pic>
        <p:nvPicPr>
          <p:cNvPr id="4" name="Onlinebild-Platzhalter 5">
            <a:extLst>
              <a:ext uri="{FF2B5EF4-FFF2-40B4-BE49-F238E27FC236}">
                <a16:creationId xmlns:a16="http://schemas.microsoft.com/office/drawing/2014/main" id="{345FA5ED-8AEC-D603-AFF4-F223263731E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4042236" y="2309182"/>
            <a:ext cx="3519999" cy="269304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8C45B71-F7F8-8F5F-DDBA-B091B9D65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502" y="2309183"/>
            <a:ext cx="3519999" cy="2693044"/>
          </a:xfrm>
          <a:prstGeom prst="rect">
            <a:avLst/>
          </a:prstGeom>
        </p:spPr>
      </p:pic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A7D59D25-5029-4375-4148-DD9656BFA48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24213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Macintosh PowerPoint</Application>
  <PresentationFormat>Breitbild</PresentationFormat>
  <Paragraphs>222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2026-03-29T06:13:04Z</dcterms:created>
  <dcterms:modified xsi:type="dcterms:W3CDTF">2026-03-29T06:15:11Z</dcterms:modified>
</cp:coreProperties>
</file>