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596" r:id="rId2"/>
    <p:sldId id="597" r:id="rId3"/>
    <p:sldId id="355" r:id="rId4"/>
    <p:sldId id="348" r:id="rId5"/>
    <p:sldId id="354" r:id="rId6"/>
    <p:sldId id="349" r:id="rId7"/>
    <p:sldId id="350" r:id="rId8"/>
    <p:sldId id="351" r:id="rId9"/>
    <p:sldId id="352" r:id="rId10"/>
    <p:sldId id="353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5"/>
  </p:normalViewPr>
  <p:slideViewPr>
    <p:cSldViewPr snapToGrid="0">
      <p:cViewPr varScale="1">
        <p:scale>
          <a:sx n="101" d="100"/>
          <a:sy n="101" d="100"/>
        </p:scale>
        <p:origin x="1192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A42829-2D2D-8F48-BFFF-E537BBA49222}" type="datetimeFigureOut">
              <a:rPr lang="es-ES_tradnl" smtClean="0"/>
              <a:t>29/3/26</a:t>
            </a:fld>
            <a:endParaRPr lang="es-ES_tradnl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965A98-639A-464C-8CCA-7A5D1488748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765196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6A79A-120D-937E-C03C-10A767636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E1E00AC-E7AB-D1A6-3257-90FD0A64FC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es-ES_tradnl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8AD9342-C7CE-4A7A-3C03-5E54DEB285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A3729D9-8F7D-7239-E37D-9AA96FFBF0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85C0-5D3C-044C-86BD-FEC1FEF91D7D}" type="slidenum">
              <a:rPr lang="es-ES_tradnl" smtClean="0"/>
              <a:t>1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73373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629EF-96A0-9DA6-CA73-89BCA95D6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0F2FC3E-18CA-D92E-319B-5775195F88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es-ES_tradnl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853E6BB-44C5-A41C-536B-FC9DDF2361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F6B8921-63F6-1F8B-35BD-89851E3A8B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85C0-5D3C-044C-86BD-FEC1FEF91D7D}" type="slidenum">
              <a:rPr lang="es-ES_tradnl" smtClean="0"/>
              <a:t>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420836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E4898F-70C4-8D92-FC72-704DC64277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75D4F9A-D5BC-4D2B-8EC3-66651CAC56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8C15AE5-F37D-5461-3BBA-57B92A5F9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57AC5-C7C9-C647-81A0-1565E6FA9BD3}" type="datetimeFigureOut">
              <a:rPr lang="es-ES_tradnl" smtClean="0"/>
              <a:t>29/3/26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CB9C221-8625-5D29-5F5A-4FE365274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BFCA85C-14BD-CED0-0FB1-201D0A0AD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345A0-3A02-534C-A3A1-18562B557838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5296286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3D9E5F-6FBB-95A6-0926-6B57496D8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EFBC3C-7CCC-94F9-24F6-9C3D60D90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AE2D0C0-ED2D-AE59-30BA-24480B24E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57AC5-C7C9-C647-81A0-1565E6FA9BD3}" type="datetimeFigureOut">
              <a:rPr lang="es-ES_tradnl" smtClean="0"/>
              <a:t>29/3/26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0D0B90A-7D2D-6CE4-2716-9606163CF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B2BD702-E431-983E-C9D2-B9016DBEA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345A0-3A02-534C-A3A1-18562B557838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032252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C797FB-F5BB-793D-9C9F-AB889C297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8396A07-2650-8D06-7032-32B0F2431B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EB0E675-73DB-0D5A-B518-B8F8018E4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57AC5-C7C9-C647-81A0-1565E6FA9BD3}" type="datetimeFigureOut">
              <a:rPr lang="es-ES_tradnl" smtClean="0"/>
              <a:t>29/3/26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F21221B-99EA-3310-9FE6-B0B532098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0276444-FD12-1039-D490-073AD4521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345A0-3A02-534C-A3A1-18562B557838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5046180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CDD1B4-699D-3A22-9555-EFCAD965C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EABACCA-D0CF-8CC0-E912-6F853F909C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428E3B7-106A-A68A-28E3-2B4E772ACB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AB2801D-B17C-782B-0817-5D52026E1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57AC5-C7C9-C647-81A0-1565E6FA9BD3}" type="datetimeFigureOut">
              <a:rPr lang="es-ES_tradnl" smtClean="0"/>
              <a:t>29/3/26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25AB75-855A-158C-B38B-8532A5842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284EC6-0AAC-584F-A2B5-A1B0028F0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345A0-3A02-534C-A3A1-18562B557838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01442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A5FC41-977A-7012-62E2-A8907B1FA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D7BA95D-1C73-2A9B-BD38-B9D4FFDC0B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1F61FF8-590B-3740-E08C-3DB0EFFE9E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7B58046-5D5F-F6E1-FCB3-36DC710DAD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D5CDD43-C69B-C6FC-47A4-ACFCA0D8F2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1EC66B16-A0E3-C74A-EE71-FB227E50E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57AC5-C7C9-C647-81A0-1565E6FA9BD3}" type="datetimeFigureOut">
              <a:rPr lang="es-ES_tradnl" smtClean="0"/>
              <a:t>29/3/26</a:t>
            </a:fld>
            <a:endParaRPr lang="es-ES_tradnl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2DC6A83-5C7D-BDE4-C847-220B59FBB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F55ACB3-8E39-2E88-C74D-21D45AD0B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345A0-3A02-534C-A3A1-18562B557838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6147708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581AB-81C1-64C9-D67B-B978CB749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0EFC3-91C6-0548-179E-A55642735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57AC5-C7C9-C647-81A0-1565E6FA9BD3}" type="datetimeFigureOut">
              <a:rPr lang="es-ES_tradnl" smtClean="0"/>
              <a:t>29/3/26</a:t>
            </a:fld>
            <a:endParaRPr lang="es-ES_tradnl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D5F41E1-8BB5-E3CA-A0E2-7251473F9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A44C451-CDD7-AB66-E12E-F5B902ECF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345A0-3A02-534C-A3A1-18562B557838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517530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515263B-C0DD-30DD-D5C4-7258B9951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57AC5-C7C9-C647-81A0-1565E6FA9BD3}" type="datetimeFigureOut">
              <a:rPr lang="es-ES_tradnl" smtClean="0"/>
              <a:t>29/3/26</a:t>
            </a:fld>
            <a:endParaRPr lang="es-ES_tradnl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7597FC4-F30F-795B-8DE1-B208E4E8B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91CA9EE-1D3E-C5E1-5F90-D479FEE26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345A0-3A02-534C-A3A1-18562B557838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93970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EBA398-124E-DDEA-F753-465EA7103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6C43AD-D8CA-9410-89C3-0634C24E7C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896CE0B-7F89-4EAF-8FEE-58A80DEA2A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EBAFC2D-FFA5-541C-71DD-8CA6B377D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57AC5-C7C9-C647-81A0-1565E6FA9BD3}" type="datetimeFigureOut">
              <a:rPr lang="es-ES_tradnl" smtClean="0"/>
              <a:t>29/3/26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FF96A93-42CD-93F5-7CA8-5BD24DBFE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71E9B45-6C2C-C589-ADFF-958708C15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345A0-3A02-534C-A3A1-18562B557838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832248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8627BC-5D35-F58D-5A6F-6B8D60DBA6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9D43A1F-0BF6-552A-1335-ABEEECB830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4698CF9-76FB-872A-2DB2-49B2ECFD81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A8F6CFE-6413-9F7A-34FA-D093AFB1B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57AC5-C7C9-C647-81A0-1565E6FA9BD3}" type="datetimeFigureOut">
              <a:rPr lang="es-ES_tradnl" smtClean="0"/>
              <a:t>29/3/26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C557CD7-AAA2-D904-2839-91DF9CB8C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2AA6F91-3D0D-531D-6979-EE27DA6F5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345A0-3A02-534C-A3A1-18562B557838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353674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28CC13-45BA-FD90-89D7-076F7A12D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829CDB1-EE07-FA8E-878B-7B37DF3D46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9E77406-69F0-34B9-2756-889F1F87B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57AC5-C7C9-C647-81A0-1565E6FA9BD3}" type="datetimeFigureOut">
              <a:rPr lang="es-ES_tradnl" smtClean="0"/>
              <a:t>29/3/26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136824-9195-3A8C-8785-304317570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B3002F3-1759-98CB-9074-7B8D0B835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345A0-3A02-534C-A3A1-18562B557838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350027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2C12824-B0B2-6FB9-98F7-C678774028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43DF5B8-D4A7-7BBE-41F6-CBFDA3D24C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52D634-5C65-CF8E-F2D7-16E21780F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57AC5-C7C9-C647-81A0-1565E6FA9BD3}" type="datetimeFigureOut">
              <a:rPr lang="es-ES_tradnl" smtClean="0"/>
              <a:t>29/3/26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51F47EC-73A5-14C3-7458-15FB48FDB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D8C8EAF-18EC-FF62-2016-F9EF886DA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345A0-3A02-534C-A3A1-18562B557838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869748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RAVAPRENDIZA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del Aprendizaje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6235" y="2636555"/>
            <a:ext cx="5260975" cy="3454400"/>
          </a:xfrm>
        </p:spPr>
        <p:txBody>
          <a:bodyPr/>
          <a:lstStyle>
            <a:lvl1pPr algn="l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algn="l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endParaRPr lang="es-ES_tradnl" dirty="0"/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C9FA80AC-474F-A8AF-0BBA-9AB82BAAA43A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06C3DDAC-8DFE-9B03-74E8-A4BE68B3930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nlinebild-Platzhalter 4">
            <a:extLst>
              <a:ext uri="{FF2B5EF4-FFF2-40B4-BE49-F238E27FC236}">
                <a16:creationId xmlns:a16="http://schemas.microsoft.com/office/drawing/2014/main" id="{C1E1E36D-5A9D-D8DD-682D-7CF8D7D21B6C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374650" y="2636838"/>
            <a:ext cx="5991426" cy="3278187"/>
          </a:xfrm>
        </p:spPr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2713959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RVAS_SIMUL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2015AB68-02CA-6B80-D8DC-4FA20BDB74DD}"/>
              </a:ext>
            </a:extLst>
          </p:cNvPr>
          <p:cNvCxnSpPr>
            <a:cxnSpLocks/>
          </p:cNvCxnSpPr>
          <p:nvPr userDrawn="1"/>
        </p:nvCxnSpPr>
        <p:spPr>
          <a:xfrm>
            <a:off x="1362389" y="1850693"/>
            <a:ext cx="9103785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Determinista en la Simulación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3DAC8B4E-0341-1E5D-5C73-B70108A5D531}"/>
              </a:ext>
            </a:extLst>
          </p:cNvPr>
          <p:cNvGrpSpPr/>
          <p:nvPr/>
        </p:nvGrpSpPr>
        <p:grpSpPr>
          <a:xfrm>
            <a:off x="194396" y="1382651"/>
            <a:ext cx="1039143" cy="1043040"/>
            <a:chOff x="7954338" y="203337"/>
            <a:chExt cx="1275466" cy="1149452"/>
          </a:xfrm>
        </p:grpSpPr>
        <p:pic>
          <p:nvPicPr>
            <p:cNvPr id="17" name="Grafik 16">
              <a:extLst>
                <a:ext uri="{FF2B5EF4-FFF2-40B4-BE49-F238E27FC236}">
                  <a16:creationId xmlns:a16="http://schemas.microsoft.com/office/drawing/2014/main" id="{98041A0A-3583-3736-9454-6E4E39F8ABC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22679" t="14811" r="19766" b="18544"/>
            <a:stretch>
              <a:fillRect/>
            </a:stretch>
          </p:blipFill>
          <p:spPr>
            <a:xfrm>
              <a:off x="7954338" y="203337"/>
              <a:ext cx="1275466" cy="1149452"/>
            </a:xfrm>
            <a:prstGeom prst="rect">
              <a:avLst/>
            </a:prstGeom>
          </p:spPr>
        </p:pic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65C675AF-8E56-41C5-11C4-03C87E111382}"/>
                </a:ext>
              </a:extLst>
            </p:cNvPr>
            <p:cNvSpPr txBox="1"/>
            <p:nvPr/>
          </p:nvSpPr>
          <p:spPr>
            <a:xfrm>
              <a:off x="8496319" y="1024996"/>
              <a:ext cx="622143" cy="2883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100"/>
                <a:t>(TD3)</a:t>
              </a:r>
            </a:p>
          </p:txBody>
        </p:sp>
      </p:grpSp>
      <p:sp>
        <p:nvSpPr>
          <p:cNvPr id="24" name="Textplatzhalter 23">
            <a:extLst>
              <a:ext uri="{FF2B5EF4-FFF2-40B4-BE49-F238E27FC236}">
                <a16:creationId xmlns:a16="http://schemas.microsoft.com/office/drawing/2014/main" id="{B3EF8E9B-C7D0-2592-12B9-6291B02A5FA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8880" y="1446792"/>
            <a:ext cx="6186487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s-ES_tradnl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Respuesta dinámica del Sector X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4482" y="5095056"/>
            <a:ext cx="10532960" cy="1092366"/>
          </a:xfrm>
        </p:spPr>
        <p:txBody>
          <a:bodyPr/>
          <a:lstStyle>
            <a:lvl1pPr algn="ctr"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Onlinebild-Platzhalter 7">
            <a:extLst>
              <a:ext uri="{FF2B5EF4-FFF2-40B4-BE49-F238E27FC236}">
                <a16:creationId xmlns:a16="http://schemas.microsoft.com/office/drawing/2014/main" id="{FAA78FF5-2A44-C038-8C33-581E4612C4B9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1314868" y="2161890"/>
            <a:ext cx="9198825" cy="2744787"/>
          </a:xfrm>
        </p:spPr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16637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9D175E8-FDDB-953B-0A8A-549DC7222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A1E4979-56BF-B593-D20B-F95FDDB43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9D456E-4F00-F994-3AFB-70D58D4EBF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557AC5-C7C9-C647-81A0-1565E6FA9BD3}" type="datetimeFigureOut">
              <a:rPr lang="es-ES_tradnl" smtClean="0"/>
              <a:t>29/3/26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7BDEB11-6E4E-FE91-70F1-81D8FE3A6E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49D96DE-2BEE-55D8-B675-D80EE29A5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9345A0-3A02-534C-A3A1-18562B557838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8719896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emf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emf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EC321-E22B-F83B-F1DE-28B98B87D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2C2020DD-C97A-3F72-6776-B830AC8280A1}"/>
              </a:ext>
            </a:extLst>
          </p:cNvPr>
          <p:cNvSpPr/>
          <p:nvPr/>
        </p:nvSpPr>
        <p:spPr>
          <a:xfrm>
            <a:off x="-3818" y="-7820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1"/>
          </a:p>
        </p:txBody>
      </p:sp>
      <p:pic>
        <p:nvPicPr>
          <p:cNvPr id="16" name="Imagen3">
            <a:extLst>
              <a:ext uri="{FF2B5EF4-FFF2-40B4-BE49-F238E27FC236}">
                <a16:creationId xmlns:a16="http://schemas.microsoft.com/office/drawing/2014/main" id="{F78752F7-B630-FB0B-23BE-A700448DF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727160" y="198439"/>
            <a:ext cx="1732790" cy="866395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116E86AD-3F75-CB82-1954-25E00359D4EB}"/>
              </a:ext>
            </a:extLst>
          </p:cNvPr>
          <p:cNvSpPr txBox="1"/>
          <p:nvPr/>
        </p:nvSpPr>
        <p:spPr>
          <a:xfrm>
            <a:off x="-543697" y="56223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1"/>
          </a:p>
        </p:txBody>
      </p:sp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1752927B-3B5E-64F2-2798-2F76FFCCCAA2}"/>
              </a:ext>
            </a:extLst>
          </p:cNvPr>
          <p:cNvCxnSpPr>
            <a:cxnSpLocks/>
          </p:cNvCxnSpPr>
          <p:nvPr/>
        </p:nvCxnSpPr>
        <p:spPr>
          <a:xfrm>
            <a:off x="376884" y="1796587"/>
            <a:ext cx="9900837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Grafik 1">
            <a:extLst>
              <a:ext uri="{FF2B5EF4-FFF2-40B4-BE49-F238E27FC236}">
                <a16:creationId xmlns:a16="http://schemas.microsoft.com/office/drawing/2014/main" id="{8BE10CBE-4FCC-7B82-E072-3AE0A3E8B9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593555" y="1347883"/>
            <a:ext cx="1142114" cy="824422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A3C23821-3D6C-EF27-DD9D-EF4FC259854E}"/>
              </a:ext>
            </a:extLst>
          </p:cNvPr>
          <p:cNvSpPr txBox="1"/>
          <p:nvPr/>
        </p:nvSpPr>
        <p:spPr>
          <a:xfrm>
            <a:off x="340469" y="1382633"/>
            <a:ext cx="101698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Seguimiento y Curriculum</a:t>
            </a:r>
            <a:endParaRPr lang="es-ES_tradnl" sz="2000" b="1" noProof="1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161B996B-9C1F-A038-96F4-C5F89F3DF70C}"/>
              </a:ext>
            </a:extLst>
          </p:cNvPr>
          <p:cNvGrpSpPr/>
          <p:nvPr/>
        </p:nvGrpSpPr>
        <p:grpSpPr>
          <a:xfrm>
            <a:off x="5046099" y="1881928"/>
            <a:ext cx="1124864" cy="1248093"/>
            <a:chOff x="2471323" y="3073037"/>
            <a:chExt cx="1124864" cy="1248093"/>
          </a:xfrm>
        </p:grpSpPr>
        <p:grpSp>
          <p:nvGrpSpPr>
            <p:cNvPr id="24" name="Gruppieren 23">
              <a:extLst>
                <a:ext uri="{FF2B5EF4-FFF2-40B4-BE49-F238E27FC236}">
                  <a16:creationId xmlns:a16="http://schemas.microsoft.com/office/drawing/2014/main" id="{4272AC67-56D7-674C-DE8F-D60D7C92D1F6}"/>
                </a:ext>
              </a:extLst>
            </p:cNvPr>
            <p:cNvGrpSpPr/>
            <p:nvPr/>
          </p:nvGrpSpPr>
          <p:grpSpPr>
            <a:xfrm>
              <a:off x="2471323" y="3278090"/>
              <a:ext cx="1039143" cy="1043040"/>
              <a:chOff x="7954338" y="203337"/>
              <a:chExt cx="1275466" cy="1149452"/>
            </a:xfrm>
          </p:grpSpPr>
          <p:pic>
            <p:nvPicPr>
              <p:cNvPr id="26" name="Grafik 25">
                <a:extLst>
                  <a:ext uri="{FF2B5EF4-FFF2-40B4-BE49-F238E27FC236}">
                    <a16:creationId xmlns:a16="http://schemas.microsoft.com/office/drawing/2014/main" id="{03FC5D63-5018-A28F-B4EC-2EB62052F2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22679" t="14811" r="19766" b="18544"/>
              <a:stretch>
                <a:fillRect/>
              </a:stretch>
            </p:blipFill>
            <p:spPr>
              <a:xfrm>
                <a:off x="7954338" y="203337"/>
                <a:ext cx="1275466" cy="1149452"/>
              </a:xfrm>
              <a:prstGeom prst="rect">
                <a:avLst/>
              </a:prstGeom>
            </p:spPr>
          </p:pic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E6C09183-327B-C3ED-E7C2-56F81A7FA8AE}"/>
                  </a:ext>
                </a:extLst>
              </p:cNvPr>
              <p:cNvSpPr txBox="1"/>
              <p:nvPr/>
            </p:nvSpPr>
            <p:spPr>
              <a:xfrm>
                <a:off x="8496319" y="1024996"/>
                <a:ext cx="622143" cy="28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_tradnl" sz="1100" noProof="1"/>
                  <a:t>(TD3)</a:t>
                </a:r>
              </a:p>
            </p:txBody>
          </p:sp>
        </p:grp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62E2AA8B-7E65-DBF9-93EB-0E736466DB86}"/>
                </a:ext>
              </a:extLst>
            </p:cNvPr>
            <p:cNvSpPr txBox="1"/>
            <p:nvPr/>
          </p:nvSpPr>
          <p:spPr>
            <a:xfrm>
              <a:off x="2686964" y="3073037"/>
              <a:ext cx="90922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100" noProof="1"/>
                <a:t>Agente1900</a:t>
              </a:r>
            </a:p>
          </p:txBody>
        </p:sp>
      </p:grpSp>
      <p:sp>
        <p:nvSpPr>
          <p:cNvPr id="30" name="Textfeld 29">
            <a:extLst>
              <a:ext uri="{FF2B5EF4-FFF2-40B4-BE49-F238E27FC236}">
                <a16:creationId xmlns:a16="http://schemas.microsoft.com/office/drawing/2014/main" id="{22DDEDB0-CF2D-F261-1883-13693D28C71E}"/>
              </a:ext>
            </a:extLst>
          </p:cNvPr>
          <p:cNvSpPr txBox="1"/>
          <p:nvPr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noProof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Curriculum 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312EACDB-5E19-3442-AFCF-BE3CF2588636}"/>
              </a:ext>
            </a:extLst>
          </p:cNvPr>
          <p:cNvSpPr txBox="1"/>
          <p:nvPr/>
        </p:nvSpPr>
        <p:spPr>
          <a:xfrm>
            <a:off x="6159293" y="2274315"/>
            <a:ext cx="184349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100" noProof="1"/>
              <a:t>Scen58, Reward_SystemA</a:t>
            </a:r>
          </a:p>
          <a:p>
            <a:r>
              <a:rPr lang="es-ES_tradnl" sz="1100" noProof="1"/>
              <a:t>Run_x860, 2000eps</a:t>
            </a:r>
          </a:p>
          <a:p>
            <a:r>
              <a:rPr lang="es-ES_tradnl" sz="1100" noProof="1"/>
              <a:t>Checkpoint1900</a:t>
            </a:r>
          </a:p>
        </p:txBody>
      </p:sp>
      <p:grpSp>
        <p:nvGrpSpPr>
          <p:cNvPr id="65" name="Gruppieren 64">
            <a:extLst>
              <a:ext uri="{FF2B5EF4-FFF2-40B4-BE49-F238E27FC236}">
                <a16:creationId xmlns:a16="http://schemas.microsoft.com/office/drawing/2014/main" id="{07F19C4A-95C6-FD7C-75E5-DD83DAB62B29}"/>
              </a:ext>
            </a:extLst>
          </p:cNvPr>
          <p:cNvGrpSpPr/>
          <p:nvPr/>
        </p:nvGrpSpPr>
        <p:grpSpPr>
          <a:xfrm>
            <a:off x="3540019" y="4150280"/>
            <a:ext cx="3181554" cy="2054349"/>
            <a:chOff x="6169323" y="3763075"/>
            <a:chExt cx="3181554" cy="2054349"/>
          </a:xfrm>
        </p:grpSpPr>
        <p:grpSp>
          <p:nvGrpSpPr>
            <p:cNvPr id="41" name="Gruppieren 40">
              <a:extLst>
                <a:ext uri="{FF2B5EF4-FFF2-40B4-BE49-F238E27FC236}">
                  <a16:creationId xmlns:a16="http://schemas.microsoft.com/office/drawing/2014/main" id="{DAE13E86-A29B-8DAE-73CB-9F913DF3820A}"/>
                </a:ext>
              </a:extLst>
            </p:cNvPr>
            <p:cNvGrpSpPr/>
            <p:nvPr/>
          </p:nvGrpSpPr>
          <p:grpSpPr>
            <a:xfrm>
              <a:off x="7686988" y="4590533"/>
              <a:ext cx="1039143" cy="1226891"/>
              <a:chOff x="2340512" y="2888303"/>
              <a:chExt cx="1039143" cy="1226891"/>
            </a:xfrm>
          </p:grpSpPr>
          <p:grpSp>
            <p:nvGrpSpPr>
              <p:cNvPr id="44" name="Gruppieren 43">
                <a:extLst>
                  <a:ext uri="{FF2B5EF4-FFF2-40B4-BE49-F238E27FC236}">
                    <a16:creationId xmlns:a16="http://schemas.microsoft.com/office/drawing/2014/main" id="{E8F4FD72-1B51-41D1-89C0-754CF0A045DC}"/>
                  </a:ext>
                </a:extLst>
              </p:cNvPr>
              <p:cNvGrpSpPr/>
              <p:nvPr/>
            </p:nvGrpSpPr>
            <p:grpSpPr>
              <a:xfrm>
                <a:off x="2340512" y="3072154"/>
                <a:ext cx="1039143" cy="1043040"/>
                <a:chOff x="7793778" y="-23609"/>
                <a:chExt cx="1275466" cy="1149452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0DE66256-F6CF-D659-8B71-390F28BA06B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rcRect l="22679" t="14811" r="19766" b="18544"/>
                <a:stretch>
                  <a:fillRect/>
                </a:stretch>
              </p:blipFill>
              <p:spPr>
                <a:xfrm>
                  <a:off x="7793778" y="-23609"/>
                  <a:ext cx="1275466" cy="1149452"/>
                </a:xfrm>
                <a:prstGeom prst="rect">
                  <a:avLst/>
                </a:prstGeom>
              </p:spPr>
            </p:pic>
            <p:sp>
              <p:nvSpPr>
                <p:cNvPr id="48" name="Textfeld 47">
                  <a:extLst>
                    <a:ext uri="{FF2B5EF4-FFF2-40B4-BE49-F238E27FC236}">
                      <a16:creationId xmlns:a16="http://schemas.microsoft.com/office/drawing/2014/main" id="{225C0D6E-F224-ACF5-DCFB-E4BD63BE575C}"/>
                    </a:ext>
                  </a:extLst>
                </p:cNvPr>
                <p:cNvSpPr txBox="1"/>
                <p:nvPr/>
              </p:nvSpPr>
              <p:spPr>
                <a:xfrm>
                  <a:off x="8402980" y="809204"/>
                  <a:ext cx="622143" cy="28830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ES_tradnl" sz="1100" noProof="1"/>
                    <a:t>(TD3)</a:t>
                  </a:r>
                </a:p>
              </p:txBody>
            </p:sp>
          </p:grpSp>
          <p:sp>
            <p:nvSpPr>
              <p:cNvPr id="45" name="Textfeld 44">
                <a:extLst>
                  <a:ext uri="{FF2B5EF4-FFF2-40B4-BE49-F238E27FC236}">
                    <a16:creationId xmlns:a16="http://schemas.microsoft.com/office/drawing/2014/main" id="{178FF226-7640-4B0D-53D0-1E80478716C2}"/>
                  </a:ext>
                </a:extLst>
              </p:cNvPr>
              <p:cNvSpPr txBox="1"/>
              <p:nvPr/>
            </p:nvSpPr>
            <p:spPr>
              <a:xfrm>
                <a:off x="2405471" y="2888303"/>
                <a:ext cx="862737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_tradnl" sz="1100" noProof="1"/>
                  <a:t>Agente 500</a:t>
                </a:r>
              </a:p>
            </p:txBody>
          </p:sp>
        </p:grp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51E7B232-67B1-2FCA-6F18-033F960D630E}"/>
                </a:ext>
              </a:extLst>
            </p:cNvPr>
            <p:cNvSpPr txBox="1"/>
            <p:nvPr/>
          </p:nvSpPr>
          <p:spPr>
            <a:xfrm>
              <a:off x="6169323" y="5103715"/>
              <a:ext cx="1529586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100" b="1" noProof="1"/>
                <a:t>Agente seleccionado</a:t>
              </a:r>
            </a:p>
            <a:p>
              <a:r>
                <a:rPr lang="es-ES_tradnl" sz="1100" noProof="1"/>
                <a:t>Checkpoint500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FDD90EC6-532B-FEB9-7B35-445FEC4EE7B3}"/>
                </a:ext>
              </a:extLst>
            </p:cNvPr>
            <p:cNvSpPr txBox="1"/>
            <p:nvPr/>
          </p:nvSpPr>
          <p:spPr>
            <a:xfrm>
              <a:off x="7015754" y="3763075"/>
              <a:ext cx="2335123" cy="60016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ES_tradnl" sz="1100" noProof="1"/>
                <a:t>Entrenamiento: </a:t>
              </a:r>
            </a:p>
            <a:p>
              <a:r>
                <a:rPr lang="es-ES_tradnl" sz="1100" noProof="1"/>
                <a:t>Scen58, Reward_SystemA</a:t>
              </a:r>
            </a:p>
            <a:p>
              <a:r>
                <a:rPr lang="es-ES_tradnl" sz="1100" noProof="1"/>
                <a:t>Run_x519, 1000eps</a:t>
              </a:r>
            </a:p>
          </p:txBody>
        </p:sp>
      </p:grp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034488D-EBB1-ABDF-6BD5-7201AD9E6797}"/>
              </a:ext>
            </a:extLst>
          </p:cNvPr>
          <p:cNvCxnSpPr>
            <a:stCxn id="26" idx="2"/>
            <a:endCxn id="57" idx="0"/>
          </p:cNvCxnSpPr>
          <p:nvPr/>
        </p:nvCxnSpPr>
        <p:spPr>
          <a:xfrm flipH="1">
            <a:off x="5554014" y="3130021"/>
            <a:ext cx="11659" cy="1020259"/>
          </a:xfrm>
          <a:prstGeom prst="straightConnector1">
            <a:avLst/>
          </a:prstGeom>
          <a:ln w="63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C9792B8-3B5B-B9C4-7342-F43ABFA2F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0700" y="6356350"/>
            <a:ext cx="11518900" cy="365125"/>
          </a:xfrm>
        </p:spPr>
        <p:txBody>
          <a:bodyPr/>
          <a:lstStyle/>
          <a:p>
            <a:r>
              <a:rPr lang="es-ES_tradnl" sz="900" dirty="0">
                <a:solidFill>
                  <a:schemeClr val="tx1"/>
                </a:solidFill>
              </a:rPr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3CF3880-5F03-9106-1E1B-7B01007D02F5}"/>
              </a:ext>
            </a:extLst>
          </p:cNvPr>
          <p:cNvSpPr txBox="1"/>
          <p:nvPr/>
        </p:nvSpPr>
        <p:spPr>
          <a:xfrm>
            <a:off x="3345895" y="2477696"/>
            <a:ext cx="3882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b="1" noProof="1"/>
              <a:t>(…)</a:t>
            </a:r>
            <a:endParaRPr lang="es-ES_tradnl" sz="1100" noProof="1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8A5BD0C1-01B5-B5C5-F1E6-318A59C8F3FF}"/>
              </a:ext>
            </a:extLst>
          </p:cNvPr>
          <p:cNvCxnSpPr>
            <a:cxnSpLocks/>
            <a:stCxn id="5" idx="3"/>
            <a:endCxn id="26" idx="1"/>
          </p:cNvCxnSpPr>
          <p:nvPr/>
        </p:nvCxnSpPr>
        <p:spPr>
          <a:xfrm>
            <a:off x="3734143" y="2608501"/>
            <a:ext cx="1311956" cy="0"/>
          </a:xfrm>
          <a:prstGeom prst="straightConnector1">
            <a:avLst/>
          </a:prstGeom>
          <a:ln w="63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9579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3939D-5DA3-D7D2-67C3-01FAAA8EE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F88E7A2-4A60-7258-FE17-91A7D7F0A26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Curva de Aprendizaje y Métricas. Agente1000</a:t>
            </a:r>
          </a:p>
          <a:p>
            <a:endParaRPr lang="es-ES_tradnl" dirty="0"/>
          </a:p>
        </p:txBody>
      </p:sp>
      <p:pic>
        <p:nvPicPr>
          <p:cNvPr id="6" name="Bildplatzhalter 25">
            <a:extLst>
              <a:ext uri="{FF2B5EF4-FFF2-40B4-BE49-F238E27FC236}">
                <a16:creationId xmlns:a16="http://schemas.microsoft.com/office/drawing/2014/main" id="{68D3EB3C-7DA4-6504-ABC8-61A16F4269EB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 rotWithShape="1">
          <a:blip r:embed="rId2"/>
          <a:srcRect/>
          <a:stretch>
            <a:fillRect/>
          </a:stretch>
        </p:blipFill>
        <p:spPr>
          <a:xfrm>
            <a:off x="720716" y="2636838"/>
            <a:ext cx="5299092" cy="327818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Inhaltsplatzhalter 28">
                <a:extLst>
                  <a:ext uri="{FF2B5EF4-FFF2-40B4-BE49-F238E27FC236}">
                    <a16:creationId xmlns:a16="http://schemas.microsoft.com/office/drawing/2014/main" id="{E07E2C69-60B4-4C4D-6DEE-A0021BD4E134}"/>
                  </a:ext>
                </a:extLst>
              </p:cNvPr>
              <p:cNvGraphicFramePr>
                <a:graphicFrameLocks noGrp="1"/>
              </p:cNvGraphicFramePr>
              <p:nvPr>
                <p:ph sz="quarter" idx="14"/>
                <p:extLst>
                  <p:ext uri="{D42A27DB-BD31-4B8C-83A1-F6EECF244321}">
                    <p14:modId xmlns:p14="http://schemas.microsoft.com/office/powerpoint/2010/main" val="3763822890"/>
                  </p:ext>
                </p:extLst>
              </p:nvPr>
            </p:nvGraphicFramePr>
            <p:xfrm>
              <a:off x="6556375" y="2636838"/>
              <a:ext cx="5190134" cy="3312922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212478">
                      <a:extLst>
                        <a:ext uri="{9D8B030D-6E8A-4147-A177-3AD203B41FA5}">
                          <a16:colId xmlns:a16="http://schemas.microsoft.com/office/drawing/2014/main" val="2405561049"/>
                        </a:ext>
                      </a:extLst>
                    </a:gridCol>
                    <a:gridCol w="605933">
                      <a:extLst>
                        <a:ext uri="{9D8B030D-6E8A-4147-A177-3AD203B41FA5}">
                          <a16:colId xmlns:a16="http://schemas.microsoft.com/office/drawing/2014/main" val="488062266"/>
                        </a:ext>
                      </a:extLst>
                    </a:gridCol>
                    <a:gridCol w="678620">
                      <a:extLst>
                        <a:ext uri="{9D8B030D-6E8A-4147-A177-3AD203B41FA5}">
                          <a16:colId xmlns:a16="http://schemas.microsoft.com/office/drawing/2014/main" val="1893478119"/>
                        </a:ext>
                      </a:extLst>
                    </a:gridCol>
                    <a:gridCol w="244939">
                      <a:extLst>
                        <a:ext uri="{9D8B030D-6E8A-4147-A177-3AD203B41FA5}">
                          <a16:colId xmlns:a16="http://schemas.microsoft.com/office/drawing/2014/main" val="3116834067"/>
                        </a:ext>
                      </a:extLst>
                    </a:gridCol>
                    <a:gridCol w="1308376">
                      <a:extLst>
                        <a:ext uri="{9D8B030D-6E8A-4147-A177-3AD203B41FA5}">
                          <a16:colId xmlns:a16="http://schemas.microsoft.com/office/drawing/2014/main" val="2774520855"/>
                        </a:ext>
                      </a:extLst>
                    </a:gridCol>
                    <a:gridCol w="538742">
                      <a:extLst>
                        <a:ext uri="{9D8B030D-6E8A-4147-A177-3AD203B41FA5}">
                          <a16:colId xmlns:a16="http://schemas.microsoft.com/office/drawing/2014/main" val="1733927255"/>
                        </a:ext>
                      </a:extLst>
                    </a:gridCol>
                    <a:gridCol w="601046">
                      <a:extLst>
                        <a:ext uri="{9D8B030D-6E8A-4147-A177-3AD203B41FA5}">
                          <a16:colId xmlns:a16="http://schemas.microsoft.com/office/drawing/2014/main" val="798805586"/>
                        </a:ext>
                      </a:extLst>
                    </a:gridCol>
                  </a:tblGrid>
                  <a:tr h="0">
                    <a:tc gridSpan="3"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Training Stats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Advanced Agent Options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5747692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Métrica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Símbolo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Valor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Métrica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Símbolo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Valor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4935132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de episodios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ES_tradnl" sz="900" i="1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_tradnl" sz="900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s-ES_tradnl" sz="900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𝑒𝑝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1000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Tiempo muestreo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ES_tradnl" sz="900" i="1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_tradnl" sz="900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s-ES_tradnl" sz="900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0.01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5199987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Recompensa total último episodio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ES_tradnl" sz="900" i="1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_tradnl" sz="900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s-ES_tradnl" sz="900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𝑒𝑝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-406.147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Factor descuento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s-ES_tradnl" sz="900" noProof="1" dirty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oMath>
                            </m:oMathPara>
                          </a14:m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0.99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5318919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Recompensa Media 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es-ES_tradnl" sz="900" i="1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s-ES_tradnl" sz="900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-352.339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Tamaño del Batchize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s-ES_tradnl" sz="900" noProof="1" dirty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64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6950445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Pasos último episodio 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600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Tamaño del Exp. Buffer 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10000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1870570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Número total de pasos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ES_tradnl" sz="900" i="1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_tradnl" sz="900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s-ES_tradnl" sz="900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𝑠𝑡𝑒𝑝𝑠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600000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Modo del Buffer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Reset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98020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Promedio pasos/eps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600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Taza aprendizaje actor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ES_tradnl" sz="900" i="1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_tradnl" sz="900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s-ES_tradnl" sz="900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1.0000e-04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4629458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Valor Q estimado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ES_tradnl" sz="900" i="1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_tradnl" sz="900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s-ES_tradnl" sz="900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-263.797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Optimizador del actor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adam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6183823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Taza aprendizaje critico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ES_tradnl" sz="900" i="1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_tradnl" sz="900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s-ES_tradnl" sz="900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0.001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7414733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Optimizador del critico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adam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305789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Coeficiente actualización suave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s-ES_tradnl" sz="900" noProof="1" dirty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oMath>
                            </m:oMathPara>
                          </a14:m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0.005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6370912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gridSpan="5"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1244666"/>
                      </a:ext>
                    </a:extLst>
                  </a:tr>
                  <a:tr h="0">
                    <a:tc gridSpan="3"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1" kern="12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Exploration Gaussian Model</a:t>
                          </a: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1" kern="12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 </a:t>
                          </a: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1" kern="12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Target Policy Smoothing</a:t>
                          </a: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261586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Métrica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Símbolo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Valor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Métrica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Símbolo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Valor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579180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Std.Dev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s-ES_tradnl" sz="900" noProof="1" dirty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oMath>
                            </m:oMathPara>
                          </a14:m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0.3162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Std.Dev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s-ES_tradnl" sz="900" noProof="1" dirty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oMath>
                            </m:oMathPara>
                          </a14:m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0.2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6693710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Mean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s-ES_tradnl" sz="900" noProof="1" dirty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Mean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s-ES_tradnl" sz="900" noProof="1" dirty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2302959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Lower Lim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-0.5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Lower Lim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-0.5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7354726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Upper Lim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0.5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Upper Lim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0.5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2754715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Std.Dev decay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ES_tradnl" sz="900" i="1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_tradnl" sz="900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_tradnl" sz="900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1.9187e-06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Std.Dev decay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ES_tradnl" sz="900" i="1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_tradnl" sz="900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_tradnl" sz="900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1371702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Std.Dev min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ES_tradnl" sz="900" i="1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_tradnl" sz="900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s-ES_tradnl" sz="900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𝑚𝑖𝑛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0.1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Std.Dev min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ES_tradnl" sz="900" i="1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_tradnl" sz="900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s-ES_tradnl" sz="900" noProof="1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𝑚𝑖𝑛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0.2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690990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Inhaltsplatzhalter 28">
                <a:extLst>
                  <a:ext uri="{FF2B5EF4-FFF2-40B4-BE49-F238E27FC236}">
                    <a16:creationId xmlns:a16="http://schemas.microsoft.com/office/drawing/2014/main" id="{E07E2C69-60B4-4C4D-6DEE-A0021BD4E134}"/>
                  </a:ext>
                </a:extLst>
              </p:cNvPr>
              <p:cNvGraphicFramePr>
                <a:graphicFrameLocks noGrp="1"/>
              </p:cNvGraphicFramePr>
              <p:nvPr>
                <p:ph sz="quarter" idx="14"/>
                <p:extLst>
                  <p:ext uri="{D42A27DB-BD31-4B8C-83A1-F6EECF244321}">
                    <p14:modId xmlns:p14="http://schemas.microsoft.com/office/powerpoint/2010/main" val="3763822890"/>
                  </p:ext>
                </p:extLst>
              </p:nvPr>
            </p:nvGraphicFramePr>
            <p:xfrm>
              <a:off x="6556375" y="2636838"/>
              <a:ext cx="5190134" cy="3312922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212478">
                      <a:extLst>
                        <a:ext uri="{9D8B030D-6E8A-4147-A177-3AD203B41FA5}">
                          <a16:colId xmlns:a16="http://schemas.microsoft.com/office/drawing/2014/main" val="2405561049"/>
                        </a:ext>
                      </a:extLst>
                    </a:gridCol>
                    <a:gridCol w="605933">
                      <a:extLst>
                        <a:ext uri="{9D8B030D-6E8A-4147-A177-3AD203B41FA5}">
                          <a16:colId xmlns:a16="http://schemas.microsoft.com/office/drawing/2014/main" val="488062266"/>
                        </a:ext>
                      </a:extLst>
                    </a:gridCol>
                    <a:gridCol w="678620">
                      <a:extLst>
                        <a:ext uri="{9D8B030D-6E8A-4147-A177-3AD203B41FA5}">
                          <a16:colId xmlns:a16="http://schemas.microsoft.com/office/drawing/2014/main" val="1893478119"/>
                        </a:ext>
                      </a:extLst>
                    </a:gridCol>
                    <a:gridCol w="244939">
                      <a:extLst>
                        <a:ext uri="{9D8B030D-6E8A-4147-A177-3AD203B41FA5}">
                          <a16:colId xmlns:a16="http://schemas.microsoft.com/office/drawing/2014/main" val="3116834067"/>
                        </a:ext>
                      </a:extLst>
                    </a:gridCol>
                    <a:gridCol w="1308376">
                      <a:extLst>
                        <a:ext uri="{9D8B030D-6E8A-4147-A177-3AD203B41FA5}">
                          <a16:colId xmlns:a16="http://schemas.microsoft.com/office/drawing/2014/main" val="2774520855"/>
                        </a:ext>
                      </a:extLst>
                    </a:gridCol>
                    <a:gridCol w="538742">
                      <a:extLst>
                        <a:ext uri="{9D8B030D-6E8A-4147-A177-3AD203B41FA5}">
                          <a16:colId xmlns:a16="http://schemas.microsoft.com/office/drawing/2014/main" val="1733927255"/>
                        </a:ext>
                      </a:extLst>
                    </a:gridCol>
                    <a:gridCol w="601046">
                      <a:extLst>
                        <a:ext uri="{9D8B030D-6E8A-4147-A177-3AD203B41FA5}">
                          <a16:colId xmlns:a16="http://schemas.microsoft.com/office/drawing/2014/main" val="798805586"/>
                        </a:ext>
                      </a:extLst>
                    </a:gridCol>
                  </a:tblGrid>
                  <a:tr h="137160">
                    <a:tc gridSpan="3"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Training Stats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Advanced Agent Options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57476921"/>
                      </a:ext>
                    </a:extLst>
                  </a:tr>
                  <a:tr h="1371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Métrica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Símbolo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Valor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Métrica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Símbolo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Valor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49351327"/>
                      </a:ext>
                    </a:extLst>
                  </a:tr>
                  <a:tr h="14770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de episodios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blipFill>
                          <a:blip r:embed="rId3"/>
                          <a:stretch>
                            <a:fillRect l="-206383" t="-227273" r="-570213" b="-2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1000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Tiempo muestreo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744186" t="-227273" r="-113953" b="-2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0.01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51999875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Recompensa total último episodio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blipFill>
                          <a:blip r:embed="rId3"/>
                          <a:stretch>
                            <a:fillRect l="-206383" t="-163636" r="-570213" b="-9681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-406.147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Factor descuento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744186" t="-163636" r="-113953" b="-9681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0.99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53189194"/>
                      </a:ext>
                    </a:extLst>
                  </a:tr>
                  <a:tr h="1371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Recompensa Media 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blipFill>
                          <a:blip r:embed="rId3"/>
                          <a:stretch>
                            <a:fillRect l="-206383" t="-527273" r="-570213" b="-18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-352.339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Tamaño del Batchize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744186" t="-527273" r="-113953" b="-18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64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69504454"/>
                      </a:ext>
                    </a:extLst>
                  </a:tr>
                  <a:tr h="1371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Pasos último episodio 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600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Tamaño del Exp. Buffer 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10000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18705704"/>
                      </a:ext>
                    </a:extLst>
                  </a:tr>
                  <a:tr h="14770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Número total de pasos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blipFill>
                          <a:blip r:embed="rId3"/>
                          <a:stretch>
                            <a:fillRect l="-206383" t="-727273" r="-570213" b="-16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600000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Modo del Buffer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Reset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98020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Promedio pasos/eps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600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Taza aprendizaje actor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744186" t="-413636" r="-113953" b="-7181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1.0000e-04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46294582"/>
                      </a:ext>
                    </a:extLst>
                  </a:tr>
                  <a:tr h="1371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Valor Q estimado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blipFill>
                          <a:blip r:embed="rId3"/>
                          <a:stretch>
                            <a:fillRect l="-206383" t="-1027273" r="-570213" b="-13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-263.797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Optimizador del actor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adam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61838232"/>
                      </a:ext>
                    </a:extLst>
                  </a:tr>
                  <a:tr h="1371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Taza aprendizaje critico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744186" t="-1127273" r="-113953" b="-12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0.001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74147338"/>
                      </a:ext>
                    </a:extLst>
                  </a:tr>
                  <a:tr h="1371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Optimizador del critico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adam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305789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Coeficiente actualización suave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744186" t="-695238" r="-113953" b="-4952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0.005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63709122"/>
                      </a:ext>
                    </a:extLst>
                  </a:tr>
                  <a:tr h="1371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gridSpan="5"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1244666"/>
                      </a:ext>
                    </a:extLst>
                  </a:tr>
                  <a:tr h="137160">
                    <a:tc gridSpan="3"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1" kern="12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Exploration Gaussian Model</a:t>
                          </a: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1" kern="12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 </a:t>
                          </a: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1" kern="12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Target Policy Smoothing</a:t>
                          </a: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2615868"/>
                      </a:ext>
                    </a:extLst>
                  </a:tr>
                  <a:tr h="1371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Métrica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Símbolo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Valor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Métrica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Símbolo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Valor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5791803"/>
                      </a:ext>
                    </a:extLst>
                  </a:tr>
                  <a:tr h="1371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Std.Dev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206383" t="-1818182" r="-570213" b="-5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0.3162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Std.Dev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744186" t="-1818182" r="-113953" b="-5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0.2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66937107"/>
                      </a:ext>
                    </a:extLst>
                  </a:tr>
                  <a:tr h="1371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Mean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206383" t="-1918182" r="-570213" b="-4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Mean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744186" t="-1918182" r="-113953" b="-4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23029594"/>
                      </a:ext>
                    </a:extLst>
                  </a:tr>
                  <a:tr h="1371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Lower Lim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-0.5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Lower Lim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-0.5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73547265"/>
                      </a:ext>
                    </a:extLst>
                  </a:tr>
                  <a:tr h="1371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Upper Lim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0.5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Upper Lim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0.5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27547154"/>
                      </a:ext>
                    </a:extLst>
                  </a:tr>
                  <a:tr h="1371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Std.Dev decay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206383" t="-2209091" r="-570213" b="-15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1.9187e-06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Std.Dev decay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744186" t="-2209091" r="-113953" b="-15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13717025"/>
                      </a:ext>
                    </a:extLst>
                  </a:tr>
                  <a:tr h="1371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b="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Std.Dev min</a:t>
                          </a:r>
                          <a:endParaRPr lang="es-ES_tradnl" sz="1200" b="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206383" t="-2309091" r="-570213" b="-5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0.1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Std.Dev min</a:t>
                          </a:r>
                          <a:endParaRPr lang="es-ES_tradnl" sz="1200" noProof="1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744186" t="-2309091" r="-113953" b="-5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0.2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690990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Fußzeilenplatzhalter 3">
            <a:extLst>
              <a:ext uri="{FF2B5EF4-FFF2-40B4-BE49-F238E27FC236}">
                <a16:creationId xmlns:a16="http://schemas.microsoft.com/office/drawing/2014/main" id="{64B6761C-B1F1-068D-1CF4-43214479D357}"/>
              </a:ext>
            </a:extLst>
          </p:cNvPr>
          <p:cNvSpPr txBox="1">
            <a:spLocks/>
          </p:cNvSpPr>
          <p:nvPr/>
        </p:nvSpPr>
        <p:spPr>
          <a:xfrm>
            <a:off x="520700" y="6477000"/>
            <a:ext cx="11518900" cy="244475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266629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A8746-0B4C-D679-8C47-497CE0564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hteck 34">
            <a:extLst>
              <a:ext uri="{FF2B5EF4-FFF2-40B4-BE49-F238E27FC236}">
                <a16:creationId xmlns:a16="http://schemas.microsoft.com/office/drawing/2014/main" id="{52E2CB06-95D0-B984-CA3C-E4C09432D9A5}"/>
              </a:ext>
            </a:extLst>
          </p:cNvPr>
          <p:cNvSpPr/>
          <p:nvPr/>
        </p:nvSpPr>
        <p:spPr>
          <a:xfrm>
            <a:off x="-3818" y="-7820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1"/>
          </a:p>
        </p:txBody>
      </p:sp>
      <p:pic>
        <p:nvPicPr>
          <p:cNvPr id="16" name="Imagen3">
            <a:extLst>
              <a:ext uri="{FF2B5EF4-FFF2-40B4-BE49-F238E27FC236}">
                <a16:creationId xmlns:a16="http://schemas.microsoft.com/office/drawing/2014/main" id="{C3806F57-369F-B188-5676-1D326B468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727160" y="198439"/>
            <a:ext cx="1732790" cy="866395"/>
          </a:xfrm>
          <a:prstGeom prst="rect">
            <a:avLst/>
          </a:prstGeom>
        </p:spPr>
      </p:pic>
      <p:pic>
        <p:nvPicPr>
          <p:cNvPr id="40" name="Grafik 39">
            <a:extLst>
              <a:ext uri="{FF2B5EF4-FFF2-40B4-BE49-F238E27FC236}">
                <a16:creationId xmlns:a16="http://schemas.microsoft.com/office/drawing/2014/main" id="{7A4DDCD2-CA82-A3D4-B27A-0AEAE8205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510CC2C0-0CD6-4DA2-B05E-484E9698472A}"/>
              </a:ext>
            </a:extLst>
          </p:cNvPr>
          <p:cNvSpPr txBox="1"/>
          <p:nvPr/>
        </p:nvSpPr>
        <p:spPr>
          <a:xfrm>
            <a:off x="340469" y="1382633"/>
            <a:ext cx="101698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Progresión del RMSE durante el entrenamiento.</a:t>
            </a:r>
            <a:endParaRPr lang="es-ES_tradnl" sz="2000" b="1" noProof="1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41CC1BB7-A300-1779-510C-91214F34512D}"/>
              </a:ext>
            </a:extLst>
          </p:cNvPr>
          <p:cNvSpPr txBox="1"/>
          <p:nvPr/>
        </p:nvSpPr>
        <p:spPr>
          <a:xfrm>
            <a:off x="-543697" y="56223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1"/>
          </a:p>
        </p:txBody>
      </p:sp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1AC4BFBD-1342-8661-E92E-6B98ED1227F9}"/>
              </a:ext>
            </a:extLst>
          </p:cNvPr>
          <p:cNvCxnSpPr>
            <a:cxnSpLocks/>
          </p:cNvCxnSpPr>
          <p:nvPr/>
        </p:nvCxnSpPr>
        <p:spPr>
          <a:xfrm>
            <a:off x="431109" y="1835788"/>
            <a:ext cx="9103785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7825CCAD-717C-AAFE-AF66-0102B1242703}"/>
              </a:ext>
            </a:extLst>
          </p:cNvPr>
          <p:cNvSpPr txBox="1"/>
          <p:nvPr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noProof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del Aprendizaje</a:t>
            </a:r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B64BC9FD-1390-349C-D1B9-3A6CDD584B04}"/>
              </a:ext>
            </a:extLst>
          </p:cNvPr>
          <p:cNvGrpSpPr/>
          <p:nvPr/>
        </p:nvGrpSpPr>
        <p:grpSpPr>
          <a:xfrm>
            <a:off x="1189431" y="3216397"/>
            <a:ext cx="1039143" cy="1226891"/>
            <a:chOff x="2471323" y="3094239"/>
            <a:chExt cx="1039143" cy="1226891"/>
          </a:xfrm>
        </p:grpSpPr>
        <p:grpSp>
          <p:nvGrpSpPr>
            <p:cNvPr id="8" name="Gruppieren 7">
              <a:extLst>
                <a:ext uri="{FF2B5EF4-FFF2-40B4-BE49-F238E27FC236}">
                  <a16:creationId xmlns:a16="http://schemas.microsoft.com/office/drawing/2014/main" id="{E1949AE9-F854-589E-8156-5733A4374D03}"/>
                </a:ext>
              </a:extLst>
            </p:cNvPr>
            <p:cNvGrpSpPr/>
            <p:nvPr/>
          </p:nvGrpSpPr>
          <p:grpSpPr>
            <a:xfrm>
              <a:off x="2471323" y="3278090"/>
              <a:ext cx="1039143" cy="1043040"/>
              <a:chOff x="7954338" y="203337"/>
              <a:chExt cx="1275466" cy="1149452"/>
            </a:xfrm>
          </p:grpSpPr>
          <p:pic>
            <p:nvPicPr>
              <p:cNvPr id="13" name="Grafik 12">
                <a:extLst>
                  <a:ext uri="{FF2B5EF4-FFF2-40B4-BE49-F238E27FC236}">
                    <a16:creationId xmlns:a16="http://schemas.microsoft.com/office/drawing/2014/main" id="{9790036C-0A03-109B-8CCE-18F0EA3951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22679" t="14811" r="19766" b="18544"/>
              <a:stretch>
                <a:fillRect/>
              </a:stretch>
            </p:blipFill>
            <p:spPr>
              <a:xfrm>
                <a:off x="7954338" y="203337"/>
                <a:ext cx="1275466" cy="1149452"/>
              </a:xfrm>
              <a:prstGeom prst="rect">
                <a:avLst/>
              </a:prstGeom>
            </p:spPr>
          </p:pic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55D099AD-11CE-24F3-B044-1167306DECB5}"/>
                  </a:ext>
                </a:extLst>
              </p:cNvPr>
              <p:cNvSpPr txBox="1"/>
              <p:nvPr/>
            </p:nvSpPr>
            <p:spPr>
              <a:xfrm>
                <a:off x="8496319" y="1024996"/>
                <a:ext cx="622143" cy="28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_tradnl" sz="1100" noProof="1"/>
                  <a:t>(TD3)</a:t>
                </a:r>
              </a:p>
            </p:txBody>
          </p:sp>
        </p:grp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73894E7A-5090-A33F-108E-7EFDD4CF1E14}"/>
                </a:ext>
              </a:extLst>
            </p:cNvPr>
            <p:cNvSpPr txBox="1"/>
            <p:nvPr/>
          </p:nvSpPr>
          <p:spPr>
            <a:xfrm>
              <a:off x="2536282" y="3094239"/>
              <a:ext cx="86113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100" noProof="1"/>
                <a:t>Agentes RL</a:t>
              </a:r>
            </a:p>
          </p:txBody>
        </p:sp>
      </p:grpSp>
      <p:sp>
        <p:nvSpPr>
          <p:cNvPr id="25" name="Textfeld 24">
            <a:extLst>
              <a:ext uri="{FF2B5EF4-FFF2-40B4-BE49-F238E27FC236}">
                <a16:creationId xmlns:a16="http://schemas.microsoft.com/office/drawing/2014/main" id="{BF5D2649-AD8F-D629-5AAF-5BBCEEE87AD7}"/>
              </a:ext>
            </a:extLst>
          </p:cNvPr>
          <p:cNvSpPr txBox="1"/>
          <p:nvPr/>
        </p:nvSpPr>
        <p:spPr>
          <a:xfrm>
            <a:off x="6062924" y="5621225"/>
            <a:ext cx="23038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1"/>
              <a:t>Efecto Policy Degration, Overfitting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54A4A336-CA2A-DCF1-D08F-65DF5DE027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2431" y="2188140"/>
            <a:ext cx="5614331" cy="3433087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1100ADB2-6FC3-6045-5C39-24886CF9019E}"/>
              </a:ext>
            </a:extLst>
          </p:cNvPr>
          <p:cNvSpPr txBox="1"/>
          <p:nvPr/>
        </p:nvSpPr>
        <p:spPr>
          <a:xfrm>
            <a:off x="1434970" y="6062345"/>
            <a:ext cx="96433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El mejor punto de aprendizaje se alcanza en 500 episodios; a partir de ahí, el rendimiento empeora debido a sobreajuste.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0387FA5F-A32D-7E80-AB97-52C1ADA57C9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74496" y="2727074"/>
            <a:ext cx="2152202" cy="170723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49D6B400-5E4C-133C-F1AB-41A65DBED408}"/>
              </a:ext>
            </a:extLst>
          </p:cNvPr>
          <p:cNvSpPr txBox="1"/>
          <p:nvPr/>
        </p:nvSpPr>
        <p:spPr>
          <a:xfrm>
            <a:off x="9074498" y="4406187"/>
            <a:ext cx="290335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800" noProof="1"/>
              <a:t>Estado baseline: Pitch = 0°, Roll = 0° , o1ini=0° , do1ini=0rad/s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07C00EA-9E48-DD5D-5A9B-D8C2A54B27C2}"/>
              </a:ext>
            </a:extLst>
          </p:cNvPr>
          <p:cNvSpPr txBox="1">
            <a:spLocks/>
          </p:cNvSpPr>
          <p:nvPr/>
        </p:nvSpPr>
        <p:spPr>
          <a:xfrm>
            <a:off x="520700" y="6477000"/>
            <a:ext cx="11518900" cy="244475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3347357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BBDEC-7D9D-019A-83B6-AB195B470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E9FEB51D-B46B-3813-AEB2-5242DC69EEE1}"/>
              </a:ext>
            </a:extLst>
          </p:cNvPr>
          <p:cNvSpPr/>
          <p:nvPr/>
        </p:nvSpPr>
        <p:spPr>
          <a:xfrm>
            <a:off x="-3818" y="-7820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1"/>
          </a:p>
        </p:txBody>
      </p:sp>
      <p:pic>
        <p:nvPicPr>
          <p:cNvPr id="16" name="Imagen3">
            <a:extLst>
              <a:ext uri="{FF2B5EF4-FFF2-40B4-BE49-F238E27FC236}">
                <a16:creationId xmlns:a16="http://schemas.microsoft.com/office/drawing/2014/main" id="{8847E116-74C6-1738-6DEB-5E7BD4E7B0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727160" y="198439"/>
            <a:ext cx="1732790" cy="866395"/>
          </a:xfrm>
          <a:prstGeom prst="rect">
            <a:avLst/>
          </a:prstGeom>
        </p:spPr>
      </p:pic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6FE31F02-4FC3-AE5A-DBDA-07E6C7F00529}"/>
              </a:ext>
            </a:extLst>
          </p:cNvPr>
          <p:cNvCxnSpPr>
            <a:cxnSpLocks/>
          </p:cNvCxnSpPr>
          <p:nvPr/>
        </p:nvCxnSpPr>
        <p:spPr>
          <a:xfrm>
            <a:off x="376884" y="1796587"/>
            <a:ext cx="9900837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Grafik 1">
            <a:extLst>
              <a:ext uri="{FF2B5EF4-FFF2-40B4-BE49-F238E27FC236}">
                <a16:creationId xmlns:a16="http://schemas.microsoft.com/office/drawing/2014/main" id="{99005764-D54F-88FF-DED2-03C8DAAE05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593555" y="1347883"/>
            <a:ext cx="1142114" cy="824422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AA3FBED1-C98F-8531-346A-071221753B0F}"/>
              </a:ext>
            </a:extLst>
          </p:cNvPr>
          <p:cNvSpPr txBox="1"/>
          <p:nvPr/>
        </p:nvSpPr>
        <p:spPr>
          <a:xfrm>
            <a:off x="340469" y="1382633"/>
            <a:ext cx="101698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Top3 Curvas RMSE en el Dominio Angular</a:t>
            </a:r>
            <a:endParaRPr lang="es-ES_tradnl" sz="2000" b="1" noProof="1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s-ES_tradnl" sz="2000" b="1" noProof="1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80FE0EF3-F9F5-A907-39DE-0397AD375A91}"/>
              </a:ext>
            </a:extLst>
          </p:cNvPr>
          <p:cNvSpPr txBox="1"/>
          <p:nvPr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noProof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del Aprendizaje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C1BCA9A-0702-4868-5E5A-2E7FE5EC2BA4}"/>
              </a:ext>
            </a:extLst>
          </p:cNvPr>
          <p:cNvSpPr txBox="1"/>
          <p:nvPr/>
        </p:nvSpPr>
        <p:spPr>
          <a:xfrm>
            <a:off x="1136526" y="5864720"/>
            <a:ext cx="99008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RMSE presenta una distribución suave y consistente en todo el dominio angular, con mínimos en la zona central y aumento progresivo hacia los extremos, evidenciando una política estable y generalizada.</a:t>
            </a:r>
          </a:p>
          <a:p>
            <a:pPr algn="ctr"/>
            <a:endParaRPr lang="es-ES_tradnl" sz="14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33E0212-B2D5-2E09-57A9-B52E4023B5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3573" y="2214030"/>
            <a:ext cx="5572579" cy="3407556"/>
          </a:xfrm>
          <a:prstGeom prst="rect">
            <a:avLst/>
          </a:prstGeom>
        </p:spPr>
      </p:pic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FE27F7C8-F8FE-E39F-6BCB-8262EDDECF53}"/>
              </a:ext>
            </a:extLst>
          </p:cNvPr>
          <p:cNvGrpSpPr/>
          <p:nvPr/>
        </p:nvGrpSpPr>
        <p:grpSpPr>
          <a:xfrm>
            <a:off x="1189431" y="3216397"/>
            <a:ext cx="1039143" cy="1226891"/>
            <a:chOff x="2471323" y="3094239"/>
            <a:chExt cx="1039143" cy="1226891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414DE81F-2575-40B4-EFA0-BE099A64D7F3}"/>
                </a:ext>
              </a:extLst>
            </p:cNvPr>
            <p:cNvGrpSpPr/>
            <p:nvPr/>
          </p:nvGrpSpPr>
          <p:grpSpPr>
            <a:xfrm>
              <a:off x="2471323" y="3278090"/>
              <a:ext cx="1039143" cy="1043040"/>
              <a:chOff x="7954338" y="203337"/>
              <a:chExt cx="1275466" cy="1149452"/>
            </a:xfrm>
          </p:grpSpPr>
          <p:pic>
            <p:nvPicPr>
              <p:cNvPr id="7" name="Grafik 6">
                <a:extLst>
                  <a:ext uri="{FF2B5EF4-FFF2-40B4-BE49-F238E27FC236}">
                    <a16:creationId xmlns:a16="http://schemas.microsoft.com/office/drawing/2014/main" id="{DDF7E168-D124-287F-66F2-34B5BACCAD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rcRect l="22679" t="14811" r="19766" b="18544"/>
              <a:stretch>
                <a:fillRect/>
              </a:stretch>
            </p:blipFill>
            <p:spPr>
              <a:xfrm>
                <a:off x="7954338" y="203337"/>
                <a:ext cx="1275466" cy="1149452"/>
              </a:xfrm>
              <a:prstGeom prst="rect">
                <a:avLst/>
              </a:prstGeom>
            </p:spPr>
          </p:pic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B807A131-E573-20D0-D9BB-C278169445F8}"/>
                  </a:ext>
                </a:extLst>
              </p:cNvPr>
              <p:cNvSpPr txBox="1"/>
              <p:nvPr/>
            </p:nvSpPr>
            <p:spPr>
              <a:xfrm>
                <a:off x="8496319" y="1024996"/>
                <a:ext cx="622143" cy="28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_tradnl" sz="1100" noProof="1"/>
                  <a:t>(TD3)</a:t>
                </a:r>
              </a:p>
            </p:txBody>
          </p:sp>
        </p:grp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AED0C6A8-4A81-5757-A057-4CE757011D03}"/>
                </a:ext>
              </a:extLst>
            </p:cNvPr>
            <p:cNvSpPr txBox="1"/>
            <p:nvPr/>
          </p:nvSpPr>
          <p:spPr>
            <a:xfrm>
              <a:off x="2536282" y="3094239"/>
              <a:ext cx="86113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100" noProof="1"/>
                <a:t>Agentes RL</a:t>
              </a:r>
            </a:p>
          </p:txBody>
        </p:sp>
      </p:grpSp>
      <p:sp>
        <p:nvSpPr>
          <p:cNvPr id="10" name="Fußzeilenplatzhalter 3">
            <a:extLst>
              <a:ext uri="{FF2B5EF4-FFF2-40B4-BE49-F238E27FC236}">
                <a16:creationId xmlns:a16="http://schemas.microsoft.com/office/drawing/2014/main" id="{5B6408D3-67F5-18D7-4280-4B0E48AC40E9}"/>
              </a:ext>
            </a:extLst>
          </p:cNvPr>
          <p:cNvSpPr txBox="1">
            <a:spLocks/>
          </p:cNvSpPr>
          <p:nvPr/>
        </p:nvSpPr>
        <p:spPr>
          <a:xfrm>
            <a:off x="520700" y="6477000"/>
            <a:ext cx="11518900" cy="244475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534348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0ADBA-6814-C064-3665-1590D3407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hteck 34">
            <a:extLst>
              <a:ext uri="{FF2B5EF4-FFF2-40B4-BE49-F238E27FC236}">
                <a16:creationId xmlns:a16="http://schemas.microsoft.com/office/drawing/2014/main" id="{BC9D9358-A01E-36B4-3264-0782EA010783}"/>
              </a:ext>
            </a:extLst>
          </p:cNvPr>
          <p:cNvSpPr/>
          <p:nvPr/>
        </p:nvSpPr>
        <p:spPr>
          <a:xfrm>
            <a:off x="-3818" y="-7820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1"/>
          </a:p>
        </p:txBody>
      </p:sp>
      <p:pic>
        <p:nvPicPr>
          <p:cNvPr id="16" name="Imagen3">
            <a:extLst>
              <a:ext uri="{FF2B5EF4-FFF2-40B4-BE49-F238E27FC236}">
                <a16:creationId xmlns:a16="http://schemas.microsoft.com/office/drawing/2014/main" id="{AA1B87C7-350C-8124-2492-E1554271DD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727160" y="198439"/>
            <a:ext cx="1732790" cy="866395"/>
          </a:xfrm>
          <a:prstGeom prst="rect">
            <a:avLst/>
          </a:prstGeom>
        </p:spPr>
      </p:pic>
      <p:pic>
        <p:nvPicPr>
          <p:cNvPr id="40" name="Grafik 39">
            <a:extLst>
              <a:ext uri="{FF2B5EF4-FFF2-40B4-BE49-F238E27FC236}">
                <a16:creationId xmlns:a16="http://schemas.microsoft.com/office/drawing/2014/main" id="{43DDE5EB-210C-26D1-CAD1-2222263012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A9128A67-987E-DE84-8358-EE1F3DD75971}"/>
              </a:ext>
            </a:extLst>
          </p:cNvPr>
          <p:cNvSpPr txBox="1"/>
          <p:nvPr/>
        </p:nvSpPr>
        <p:spPr>
          <a:xfrm>
            <a:off x="340469" y="1382633"/>
            <a:ext cx="101698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Implementación de </a:t>
            </a:r>
            <a:r>
              <a:rPr lang="es-ES_tradnl" sz="2000" b="1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RMSE geodésico</a:t>
            </a:r>
            <a:endParaRPr lang="es-ES_tradnl" sz="2000" noProof="1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0385D6F0-0838-F08A-7581-B8BCE00707F5}"/>
              </a:ext>
            </a:extLst>
          </p:cNvPr>
          <p:cNvSpPr txBox="1"/>
          <p:nvPr/>
        </p:nvSpPr>
        <p:spPr>
          <a:xfrm>
            <a:off x="-543697" y="56223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1"/>
          </a:p>
        </p:txBody>
      </p:sp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3BD76E12-7EDA-8520-542A-BAFA0283DC46}"/>
              </a:ext>
            </a:extLst>
          </p:cNvPr>
          <p:cNvCxnSpPr>
            <a:cxnSpLocks/>
          </p:cNvCxnSpPr>
          <p:nvPr/>
        </p:nvCxnSpPr>
        <p:spPr>
          <a:xfrm>
            <a:off x="431109" y="1835788"/>
            <a:ext cx="9103785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9852CBCD-1D77-A846-BD6D-BF31CAE23E2C}"/>
              </a:ext>
            </a:extLst>
          </p:cNvPr>
          <p:cNvSpPr txBox="1"/>
          <p:nvPr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noProof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del Aprendizaje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elle 1">
                <a:extLst>
                  <a:ext uri="{FF2B5EF4-FFF2-40B4-BE49-F238E27FC236}">
                    <a16:creationId xmlns:a16="http://schemas.microsoft.com/office/drawing/2014/main" id="{1C57DAF7-BF84-8F0A-F9BC-F1E3DD33F9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62675887"/>
                  </p:ext>
                </p:extLst>
              </p:nvPr>
            </p:nvGraphicFramePr>
            <p:xfrm>
              <a:off x="3761514" y="2506036"/>
              <a:ext cx="6748805" cy="2969333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820">
                      <a:extLst>
                        <a:ext uri="{9D8B030D-6E8A-4147-A177-3AD203B41FA5}">
                          <a16:colId xmlns:a16="http://schemas.microsoft.com/office/drawing/2014/main" val="2827808625"/>
                        </a:ext>
                      </a:extLst>
                    </a:gridCol>
                    <a:gridCol w="1109204">
                      <a:extLst>
                        <a:ext uri="{9D8B030D-6E8A-4147-A177-3AD203B41FA5}">
                          <a16:colId xmlns:a16="http://schemas.microsoft.com/office/drawing/2014/main" val="2804800256"/>
                        </a:ext>
                      </a:extLst>
                    </a:gridCol>
                    <a:gridCol w="1098476">
                      <a:extLst>
                        <a:ext uri="{9D8B030D-6E8A-4147-A177-3AD203B41FA5}">
                          <a16:colId xmlns:a16="http://schemas.microsoft.com/office/drawing/2014/main" val="3404630540"/>
                        </a:ext>
                      </a:extLst>
                    </a:gridCol>
                    <a:gridCol w="1010265">
                      <a:extLst>
                        <a:ext uri="{9D8B030D-6E8A-4147-A177-3AD203B41FA5}">
                          <a16:colId xmlns:a16="http://schemas.microsoft.com/office/drawing/2014/main" val="2864191071"/>
                        </a:ext>
                      </a:extLst>
                    </a:gridCol>
                    <a:gridCol w="929205">
                      <a:extLst>
                        <a:ext uri="{9D8B030D-6E8A-4147-A177-3AD203B41FA5}">
                          <a16:colId xmlns:a16="http://schemas.microsoft.com/office/drawing/2014/main" val="878613398"/>
                        </a:ext>
                      </a:extLst>
                    </a:gridCol>
                    <a:gridCol w="844570">
                      <a:extLst>
                        <a:ext uri="{9D8B030D-6E8A-4147-A177-3AD203B41FA5}">
                          <a16:colId xmlns:a16="http://schemas.microsoft.com/office/drawing/2014/main" val="372759601"/>
                        </a:ext>
                      </a:extLst>
                    </a:gridCol>
                    <a:gridCol w="1010265">
                      <a:extLst>
                        <a:ext uri="{9D8B030D-6E8A-4147-A177-3AD203B41FA5}">
                          <a16:colId xmlns:a16="http://schemas.microsoft.com/office/drawing/2014/main" val="3930562926"/>
                        </a:ext>
                      </a:extLst>
                    </a:gridCol>
                  </a:tblGrid>
                  <a:tr h="483117">
                    <a:tc gridSpan="7"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11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Tabla con posición de los agentes según sus métricas 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>
                            <a:buNone/>
                          </a:pPr>
                          <a:r>
                            <a:rPr lang="es-ES_tradnl" sz="11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4343187"/>
                      </a:ext>
                    </a:extLst>
                  </a:tr>
                  <a:tr h="22711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Position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Agente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900" i="1" noProof="1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𝑅𝑀𝑆</m:t>
                                </m:r>
                                <m:sSub>
                                  <m:sSubPr>
                                    <m:ctrlPr>
                                      <a:rPr lang="es-ES_tradnl" sz="900" i="1" noProof="1" dirty="0" smtClean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_tradnl" sz="900" i="1" noProof="1" dirty="0" smtClean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s-ES_tradnl" sz="900" i="1" noProof="1" dirty="0" smtClean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𝑔𝑙𝑜𝑏𝑎𝑙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900" i="1" noProof="1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𝑅𝑀𝑆</m:t>
                                </m:r>
                                <m:sSub>
                                  <m:sSubPr>
                                    <m:ctrlPr>
                                      <a:rPr lang="es-ES_tradnl" sz="900" i="1" noProof="1" dirty="0" smtClean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_tradnl" sz="900" i="1" noProof="1" dirty="0" smtClean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s-ES_tradnl" sz="900" i="1" noProof="1" dirty="0" smtClean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𝑚𝑎𝑥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ES_tradnl" sz="900" i="1" noProof="1" dirty="0" smtClean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s-ES_tradnl" sz="900" noProof="1" dirty="0" smtClean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a:rPr lang="es-ES_tradnl" sz="900" i="1" noProof="1" dirty="0" smtClean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𝑎𝑛𝑔𝑢𝑙𝑎𝑟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900" i="1" noProof="1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𝑅𝑎𝑡𝑖</m:t>
                                </m:r>
                                <m:sSub>
                                  <m:sSubPr>
                                    <m:ctrlPr>
                                      <a:rPr lang="es-ES_tradnl" sz="900" i="1" noProof="1" dirty="0" smtClean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_tradnl" sz="900" i="1" noProof="1" dirty="0" smtClean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𝑜</m:t>
                                    </m:r>
                                  </m:e>
                                  <m:sub>
                                    <m:r>
                                      <a:rPr lang="es-ES_tradnl" sz="900" i="1" noProof="1" dirty="0" smtClean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𝑒𝑥𝑡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i="1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AUC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32638124"/>
                      </a:ext>
                    </a:extLst>
                  </a:tr>
                  <a:tr h="215735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Agent500.mat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31.8768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67.5612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19.5546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2.1194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30.2252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20458715"/>
                      </a:ext>
                    </a:extLst>
                  </a:tr>
                  <a:tr h="226818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Agent100.mat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32.1803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69.5560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21.8054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2.1614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30.5703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47234824"/>
                      </a:ext>
                    </a:extLst>
                  </a:tr>
                  <a:tr h="215735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Agent200.mat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33.2539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69.7003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20.5150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2.0960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31.6975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44789796"/>
                      </a:ext>
                    </a:extLst>
                  </a:tr>
                  <a:tr h="215735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Agent400.mat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34.4669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69.6161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19.0805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2.0198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32.9844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10691002"/>
                      </a:ext>
                    </a:extLst>
                  </a:tr>
                  <a:tr h="215735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Agent900.mat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35.8842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69.5453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17.6581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1.9380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34.5013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92708556"/>
                      </a:ext>
                    </a:extLst>
                  </a:tr>
                  <a:tr h="215735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Agent300.mat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36.8039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69.6267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17.0374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1.8918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35.4449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71250826"/>
                      </a:ext>
                    </a:extLst>
                  </a:tr>
                  <a:tr h="215735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Agent1000.mat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38.5345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69.7105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16.2425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1.8090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37.2744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72749595"/>
                      </a:ext>
                    </a:extLst>
                  </a:tr>
                  <a:tr h="210092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Agent700.mat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40.4853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75.5817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17.5543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1.8669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39.3504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37179832"/>
                      </a:ext>
                    </a:extLst>
                  </a:tr>
                  <a:tr h="210092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Agent600.mat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40.6800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71.7127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17.5065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1.7629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39.5563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72674504"/>
                      </a:ext>
                    </a:extLst>
                  </a:tr>
                  <a:tr h="31769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Agent800.mat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41.4784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71.6549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17.5960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1.7275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40.3722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70418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elle 1">
                <a:extLst>
                  <a:ext uri="{FF2B5EF4-FFF2-40B4-BE49-F238E27FC236}">
                    <a16:creationId xmlns:a16="http://schemas.microsoft.com/office/drawing/2014/main" id="{1C57DAF7-BF84-8F0A-F9BC-F1E3DD33F9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62675887"/>
                  </p:ext>
                </p:extLst>
              </p:nvPr>
            </p:nvGraphicFramePr>
            <p:xfrm>
              <a:off x="3761514" y="2506036"/>
              <a:ext cx="6748805" cy="2969333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820">
                      <a:extLst>
                        <a:ext uri="{9D8B030D-6E8A-4147-A177-3AD203B41FA5}">
                          <a16:colId xmlns:a16="http://schemas.microsoft.com/office/drawing/2014/main" val="2827808625"/>
                        </a:ext>
                      </a:extLst>
                    </a:gridCol>
                    <a:gridCol w="1109204">
                      <a:extLst>
                        <a:ext uri="{9D8B030D-6E8A-4147-A177-3AD203B41FA5}">
                          <a16:colId xmlns:a16="http://schemas.microsoft.com/office/drawing/2014/main" val="2804800256"/>
                        </a:ext>
                      </a:extLst>
                    </a:gridCol>
                    <a:gridCol w="1098476">
                      <a:extLst>
                        <a:ext uri="{9D8B030D-6E8A-4147-A177-3AD203B41FA5}">
                          <a16:colId xmlns:a16="http://schemas.microsoft.com/office/drawing/2014/main" val="3404630540"/>
                        </a:ext>
                      </a:extLst>
                    </a:gridCol>
                    <a:gridCol w="1010265">
                      <a:extLst>
                        <a:ext uri="{9D8B030D-6E8A-4147-A177-3AD203B41FA5}">
                          <a16:colId xmlns:a16="http://schemas.microsoft.com/office/drawing/2014/main" val="2864191071"/>
                        </a:ext>
                      </a:extLst>
                    </a:gridCol>
                    <a:gridCol w="929205">
                      <a:extLst>
                        <a:ext uri="{9D8B030D-6E8A-4147-A177-3AD203B41FA5}">
                          <a16:colId xmlns:a16="http://schemas.microsoft.com/office/drawing/2014/main" val="878613398"/>
                        </a:ext>
                      </a:extLst>
                    </a:gridCol>
                    <a:gridCol w="844570">
                      <a:extLst>
                        <a:ext uri="{9D8B030D-6E8A-4147-A177-3AD203B41FA5}">
                          <a16:colId xmlns:a16="http://schemas.microsoft.com/office/drawing/2014/main" val="372759601"/>
                        </a:ext>
                      </a:extLst>
                    </a:gridCol>
                    <a:gridCol w="1010265">
                      <a:extLst>
                        <a:ext uri="{9D8B030D-6E8A-4147-A177-3AD203B41FA5}">
                          <a16:colId xmlns:a16="http://schemas.microsoft.com/office/drawing/2014/main" val="3930562926"/>
                        </a:ext>
                      </a:extLst>
                    </a:gridCol>
                  </a:tblGrid>
                  <a:tr h="483117">
                    <a:tc gridSpan="7"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s-ES_tradnl" sz="11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Tabla con posición de los agentes según sus métricas 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>
                            <a:buNone/>
                          </a:pPr>
                          <a:r>
                            <a:rPr lang="es-ES_tradnl" sz="11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ES_tradnl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4343187"/>
                      </a:ext>
                    </a:extLst>
                  </a:tr>
                  <a:tr h="22711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Position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Agente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68966" t="-233333" r="-344828" b="-10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92500" t="-233333" r="-275000" b="-10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430137" t="-233333" r="-201370" b="-10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586364" t="-233333" r="-122727" b="-10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i="1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AUC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32638124"/>
                      </a:ext>
                    </a:extLst>
                  </a:tr>
                  <a:tr h="215735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Agent500.mat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31.8768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67.5612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19.5546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2.1194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30.2252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20458715"/>
                      </a:ext>
                    </a:extLst>
                  </a:tr>
                  <a:tr h="226818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Agent100.mat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32.1803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69.5560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21.8054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2.1614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30.5703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47234824"/>
                      </a:ext>
                    </a:extLst>
                  </a:tr>
                  <a:tr h="215735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Agent200.mat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33.2539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69.7003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20.5150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2.0960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31.6975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44789796"/>
                      </a:ext>
                    </a:extLst>
                  </a:tr>
                  <a:tr h="215735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Agent400.mat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34.4669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69.6161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19.0805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2.0198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32.9844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10691002"/>
                      </a:ext>
                    </a:extLst>
                  </a:tr>
                  <a:tr h="215735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Agent900.mat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35.8842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69.5453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17.6581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1.9380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34.5013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92708556"/>
                      </a:ext>
                    </a:extLst>
                  </a:tr>
                  <a:tr h="215735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Agent300.mat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36.8039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69.6267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17.0374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1.8918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35.4449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71250826"/>
                      </a:ext>
                    </a:extLst>
                  </a:tr>
                  <a:tr h="215735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Agent1000.mat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38.5345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69.7105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16.2425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1.8090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37.2744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72749595"/>
                      </a:ext>
                    </a:extLst>
                  </a:tr>
                  <a:tr h="210092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Agent700.mat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40.4853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75.5817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17.5543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1.8669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39.3504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37179832"/>
                      </a:ext>
                    </a:extLst>
                  </a:tr>
                  <a:tr h="210092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Agent600.mat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40.6800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71.7127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17.5065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1.7629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39.5563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72674504"/>
                      </a:ext>
                    </a:extLst>
                  </a:tr>
                  <a:tr h="31769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solidFill>
                                <a:sysClr val="windowText" lastClr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s-ES_tradnl" sz="1200" noProof="1">
                            <a:solidFill>
                              <a:sysClr val="windowText" lastClr="000000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Agent800.mat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41.4784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71.6549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17.5960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1.7275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s-ES_tradnl" sz="900" noProof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40.3722</a:t>
                          </a:r>
                          <a:endParaRPr lang="es-ES_tradnl" sz="1200" noProof="1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70418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8" name="Textfeld 17">
            <a:extLst>
              <a:ext uri="{FF2B5EF4-FFF2-40B4-BE49-F238E27FC236}">
                <a16:creationId xmlns:a16="http://schemas.microsoft.com/office/drawing/2014/main" id="{23585544-6F65-16FC-5CC8-7BE1B878AB83}"/>
              </a:ext>
            </a:extLst>
          </p:cNvPr>
          <p:cNvSpPr txBox="1"/>
          <p:nvPr/>
        </p:nvSpPr>
        <p:spPr>
          <a:xfrm>
            <a:off x="1000996" y="5780419"/>
            <a:ext cx="101861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2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Los Agentes evaluados corresponden a diferentes Checkpoints del entrenamiento del agente RL.  El Análisis de múltiples checkpoints permite observar la mejora progresiva del agente durante el entrenamiento. </a:t>
            </a:r>
            <a:r>
              <a:rPr lang="es-ES_tradnl" sz="12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En este caso,  el Agente500 mantiene la mejor posición en el ranking, al presentar  los menores valores  en las métricas de error y mejor compromiso global de desempeño.</a:t>
            </a:r>
          </a:p>
        </p:txBody>
      </p: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35F477C2-6EC8-943E-893F-151DAA5211DC}"/>
              </a:ext>
            </a:extLst>
          </p:cNvPr>
          <p:cNvGrpSpPr/>
          <p:nvPr/>
        </p:nvGrpSpPr>
        <p:grpSpPr>
          <a:xfrm>
            <a:off x="870947" y="2560978"/>
            <a:ext cx="2335123" cy="2787389"/>
            <a:chOff x="7015754" y="3707990"/>
            <a:chExt cx="2335123" cy="2787389"/>
          </a:xfrm>
        </p:grpSpPr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2E77B15D-E1C3-E09C-B56C-743E4B44308F}"/>
                </a:ext>
              </a:extLst>
            </p:cNvPr>
            <p:cNvGrpSpPr/>
            <p:nvPr/>
          </p:nvGrpSpPr>
          <p:grpSpPr>
            <a:xfrm>
              <a:off x="7686988" y="4774384"/>
              <a:ext cx="1039143" cy="1043040"/>
              <a:chOff x="7793778" y="-23609"/>
              <a:chExt cx="1275466" cy="1149452"/>
            </a:xfrm>
          </p:grpSpPr>
          <p:pic>
            <p:nvPicPr>
              <p:cNvPr id="34" name="Grafik 33">
                <a:extLst>
                  <a:ext uri="{FF2B5EF4-FFF2-40B4-BE49-F238E27FC236}">
                    <a16:creationId xmlns:a16="http://schemas.microsoft.com/office/drawing/2014/main" id="{15C601A9-D58F-80F1-4D1B-6C04335BD6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22679" t="14811" r="19766" b="18544"/>
              <a:stretch>
                <a:fillRect/>
              </a:stretch>
            </p:blipFill>
            <p:spPr>
              <a:xfrm>
                <a:off x="7793778" y="-23609"/>
                <a:ext cx="1275466" cy="1149452"/>
              </a:xfrm>
              <a:prstGeom prst="rect">
                <a:avLst/>
              </a:prstGeom>
            </p:spPr>
          </p:pic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2B27D3B1-A5E2-031C-4DFA-66B0C0A3E414}"/>
                  </a:ext>
                </a:extLst>
              </p:cNvPr>
              <p:cNvSpPr txBox="1"/>
              <p:nvPr/>
            </p:nvSpPr>
            <p:spPr>
              <a:xfrm>
                <a:off x="8402980" y="809204"/>
                <a:ext cx="622143" cy="28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_tradnl" sz="1100" noProof="1"/>
                  <a:t>(TD3)</a:t>
                </a:r>
              </a:p>
            </p:txBody>
          </p:sp>
        </p:grp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6DC92DC-B80D-0506-107F-8B4525C89B92}"/>
                </a:ext>
              </a:extLst>
            </p:cNvPr>
            <p:cNvSpPr txBox="1"/>
            <p:nvPr/>
          </p:nvSpPr>
          <p:spPr>
            <a:xfrm>
              <a:off x="7441766" y="6064492"/>
              <a:ext cx="1529586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100" b="1" noProof="1"/>
                <a:t>Agente seleccionado</a:t>
              </a:r>
            </a:p>
            <a:p>
              <a:r>
                <a:rPr lang="es-ES_tradnl" sz="1100" noProof="1"/>
                <a:t>Checkpoint500</a:t>
              </a:r>
            </a:p>
          </p:txBody>
        </p:sp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44940941-6808-C694-11AC-D1E5488CF3BD}"/>
                </a:ext>
              </a:extLst>
            </p:cNvPr>
            <p:cNvSpPr txBox="1"/>
            <p:nvPr/>
          </p:nvSpPr>
          <p:spPr>
            <a:xfrm>
              <a:off x="7015754" y="3707990"/>
              <a:ext cx="2335123" cy="60016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ES_tradnl" sz="1100" noProof="1"/>
                <a:t>Entrenamiento: </a:t>
              </a:r>
            </a:p>
            <a:p>
              <a:r>
                <a:rPr lang="es-ES_tradnl" sz="1100" noProof="1"/>
                <a:t>Scen58, Reward_SystemA</a:t>
              </a:r>
            </a:p>
            <a:p>
              <a:r>
                <a:rPr lang="es-ES_tradnl" sz="1100" noProof="1"/>
                <a:t>Run_x519, 1000eps</a:t>
              </a:r>
            </a:p>
          </p:txBody>
        </p:sp>
      </p:grp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3693689-3598-3A90-3C83-5489D4FEDA22}"/>
              </a:ext>
            </a:extLst>
          </p:cNvPr>
          <p:cNvSpPr txBox="1">
            <a:spLocks/>
          </p:cNvSpPr>
          <p:nvPr/>
        </p:nvSpPr>
        <p:spPr>
          <a:xfrm>
            <a:off x="520700" y="6477000"/>
            <a:ext cx="11518900" cy="244475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0020863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platzhalter 1">
                <a:extLst>
                  <a:ext uri="{FF2B5EF4-FFF2-40B4-BE49-F238E27FC236}">
                    <a16:creationId xmlns:a16="http://schemas.microsoft.com/office/drawing/2014/main" id="{047D087E-8AF2-E64E-863B-F68CC5095BDD}"/>
                  </a:ext>
                </a:extLst>
              </p:cNvPr>
              <p:cNvSpPr>
                <a:spLocks noGrp="1"/>
              </p:cNvSpPr>
              <p:nvPr>
                <p:ph type="body" sz="quarter" idx="12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s-ES_tradnl" i="1" noProof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_tradnl" i="1" noProof="1" dirty="0" smtClean="0">
                            <a:latin typeface="Cambria Math" panose="02040503050406030204" pitchFamily="18" charset="0"/>
                          </a:rPr>
                          <m:t>𝑅𝑀𝑆𝐸</m:t>
                        </m:r>
                      </m:e>
                      <m:sub>
                        <m:r>
                          <a:rPr lang="es-ES_tradnl" i="1" noProof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noProof="1"/>
                  <a:t> en dominio angular.</a:t>
                </a:r>
              </a:p>
            </p:txBody>
          </p:sp>
        </mc:Choice>
        <mc:Fallback>
          <p:sp>
            <p:nvSpPr>
              <p:cNvPr id="2" name="Textplatzhalter 1">
                <a:extLst>
                  <a:ext uri="{FF2B5EF4-FFF2-40B4-BE49-F238E27FC236}">
                    <a16:creationId xmlns:a16="http://schemas.microsoft.com/office/drawing/2014/main" id="{047D087E-8AF2-E64E-863B-F68CC5095B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2"/>
              </p:nvPr>
            </p:nvSpPr>
            <p:spPr>
              <a:blipFill>
                <a:blip r:embed="rId2"/>
                <a:stretch>
                  <a:fillRect t="-10811" b="-5405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E7FF537-917C-734A-6C87-6681973BB4F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66700" y="5095056"/>
            <a:ext cx="11049000" cy="109661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buFont typeface="Symbol" pitchFamily="2" charset="2"/>
              <a:buChar char="-"/>
            </a:pPr>
            <a:r>
              <a:rPr lang="es-ES_tradnl" sz="1200" noProof="1"/>
              <a:t>El agente500 presenta un comportamiento suave y continuo en todo el dominio angular,  sin discontinuidades abruptas como en el experimento anterior El seguimiento es preciso y estable, indicando correcta adaptación de la política. </a:t>
            </a:r>
          </a:p>
          <a:p>
            <a:pPr>
              <a:spcBef>
                <a:spcPts val="0"/>
              </a:spcBef>
              <a:buFont typeface="Symbol" pitchFamily="2" charset="2"/>
              <a:buChar char="-"/>
            </a:pPr>
            <a:r>
              <a:rPr lang="es-ES_tradnl" sz="1200" noProof="1"/>
              <a:t>El error aumenta progresivamente hacia los extremos del dominio. </a:t>
            </a:r>
          </a:p>
          <a:p>
            <a:pPr>
              <a:spcBef>
                <a:spcPts val="0"/>
              </a:spcBef>
              <a:buFont typeface="Symbol" pitchFamily="2" charset="2"/>
              <a:buChar char="-"/>
            </a:pPr>
            <a:r>
              <a:rPr lang="es-ES_tradnl" sz="1200" noProof="1"/>
              <a:t>No se observan saltos abruptos, pero sí una degradación sistemática del rendimiento.</a:t>
            </a:r>
          </a:p>
          <a:p>
            <a:pPr marL="0" indent="0">
              <a:spcBef>
                <a:spcPts val="0"/>
              </a:spcBef>
            </a:pPr>
            <a:r>
              <a:rPr lang="es-ES_tradnl" sz="1200" noProof="1"/>
              <a:t> </a:t>
            </a:r>
          </a:p>
          <a:p>
            <a:pPr marL="0" indent="0">
              <a:spcBef>
                <a:spcPts val="0"/>
              </a:spcBef>
            </a:pPr>
            <a:r>
              <a:rPr lang="es-ES_tradnl" sz="1200" b="1" noProof="1"/>
              <a:t>El comportamiento es aproximadamente simétrico respecto al eje central,  lo que indica que el agente ha aprendido una política más consistente que en etapas anteriores</a:t>
            </a:r>
            <a:r>
              <a:rPr lang="es-ES_tradnl" sz="1200" noProof="1"/>
              <a:t>.</a:t>
            </a:r>
          </a:p>
          <a:p>
            <a:pPr marL="0" indent="0"/>
            <a:endParaRPr lang="es-ES_tradnl" sz="1200" noProof="1"/>
          </a:p>
          <a:p>
            <a:pPr marL="0" indent="0"/>
            <a:endParaRPr lang="es-ES_tradnl" sz="1200" noProof="1"/>
          </a:p>
          <a:p>
            <a:pPr marL="0" indent="0"/>
            <a:endParaRPr lang="es-ES_tradnl" sz="1200" noProof="1"/>
          </a:p>
          <a:p>
            <a:pPr algn="ctr"/>
            <a:endParaRPr lang="es-ES_tradnl" sz="1200" noProof="1"/>
          </a:p>
        </p:txBody>
      </p:sp>
      <p:pic>
        <p:nvPicPr>
          <p:cNvPr id="7" name="Onlinebild-Platzhalter 6">
            <a:extLst>
              <a:ext uri="{FF2B5EF4-FFF2-40B4-BE49-F238E27FC236}">
                <a16:creationId xmlns:a16="http://schemas.microsoft.com/office/drawing/2014/main" id="{E8CAC9BE-4ED0-F012-0035-D19C0E2E22DD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3"/>
          <a:stretch>
            <a:fillRect/>
          </a:stretch>
        </p:blipFill>
        <p:spPr>
          <a:xfrm>
            <a:off x="2998525" y="2162175"/>
            <a:ext cx="5831417" cy="274478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74B7495E-FF81-DD69-B829-2801CE61CA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4496" y="2727074"/>
            <a:ext cx="2152202" cy="170723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E08500BB-8C96-8DA5-F43D-DC9141197494}"/>
              </a:ext>
            </a:extLst>
          </p:cNvPr>
          <p:cNvSpPr txBox="1"/>
          <p:nvPr/>
        </p:nvSpPr>
        <p:spPr>
          <a:xfrm>
            <a:off x="9074498" y="4406187"/>
            <a:ext cx="290335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800" noProof="1"/>
              <a:t>Estado baseline: Pitch = 0°, Roll = 0° , o1ini=0° , do1ini=0rad/s </a:t>
            </a:r>
          </a:p>
        </p:txBody>
      </p:sp>
      <p:sp>
        <p:nvSpPr>
          <p:cNvPr id="3" name="Fußzeilenplatzhalter 3">
            <a:extLst>
              <a:ext uri="{FF2B5EF4-FFF2-40B4-BE49-F238E27FC236}">
                <a16:creationId xmlns:a16="http://schemas.microsoft.com/office/drawing/2014/main" id="{E3A6C77A-E9EB-A027-D9E0-C67A42FF3460}"/>
              </a:ext>
            </a:extLst>
          </p:cNvPr>
          <p:cNvSpPr txBox="1">
            <a:spLocks/>
          </p:cNvSpPr>
          <p:nvPr/>
        </p:nvSpPr>
        <p:spPr>
          <a:xfrm>
            <a:off x="520700" y="6477000"/>
            <a:ext cx="11518900" cy="244475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6508186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9587AD55-1A7D-A107-29DC-8C32D373F1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/>
              <a:t>Respuesta dinámica del sector 1</a:t>
            </a:r>
          </a:p>
          <a:p>
            <a:endParaRPr lang="es-ES_tradnl" noProof="1"/>
          </a:p>
        </p:txBody>
      </p:sp>
      <p:pic>
        <p:nvPicPr>
          <p:cNvPr id="7" name="Onlinebild-Platzhalter 6">
            <a:extLst>
              <a:ext uri="{FF2B5EF4-FFF2-40B4-BE49-F238E27FC236}">
                <a16:creationId xmlns:a16="http://schemas.microsoft.com/office/drawing/2014/main" id="{73E56B4A-20CF-D3D0-7936-5F755BDFA7E2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2998525" y="2162175"/>
            <a:ext cx="5831417" cy="2744788"/>
          </a:xfrm>
          <a:prstGeom prst="rect">
            <a:avLst/>
          </a:prstGeom>
        </p:spPr>
      </p:pic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1E946522-7462-1280-FDBB-241AACEDB75B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2365561033"/>
              </p:ext>
            </p:extLst>
          </p:nvPr>
        </p:nvGraphicFramePr>
        <p:xfrm>
          <a:off x="693738" y="5094288"/>
          <a:ext cx="10532960" cy="11220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O1sp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-2.71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-100.00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11.71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11.66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141.38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9.45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0.52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116.34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56.06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16.62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16.47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-10.02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-37.13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10.53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11.66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189.77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9.86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1.78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1849.38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262.53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47.70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34.67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-9.33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-20.72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10.33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14.41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187.31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3720.50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448.89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49.66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63.00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53.87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-8.09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-12.84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9.13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18.13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168.46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5365.68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612.64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51.40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81.00</a:t>
                      </a: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74.12</a:t>
                      </a: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-5.52</a:t>
                      </a: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-6.81</a:t>
                      </a: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6.88</a:t>
                      </a: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23.06</a:t>
                      </a: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132.76</a:t>
                      </a: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0.59</a:t>
                      </a: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0.36</a:t>
                      </a: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3.49</a:t>
                      </a: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7284.07</a:t>
                      </a: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800.71</a:t>
                      </a: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54.60</a:t>
                      </a: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9" name="Textfeld 8">
            <a:extLst>
              <a:ext uri="{FF2B5EF4-FFF2-40B4-BE49-F238E27FC236}">
                <a16:creationId xmlns:a16="http://schemas.microsoft.com/office/drawing/2014/main" id="{A58BE5D7-5C18-5B52-E0D1-F4929101583A}"/>
              </a:ext>
            </a:extLst>
          </p:cNvPr>
          <p:cNvSpPr txBox="1"/>
          <p:nvPr/>
        </p:nvSpPr>
        <p:spPr>
          <a:xfrm>
            <a:off x="9074498" y="4406187"/>
            <a:ext cx="290335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800" noProof="1"/>
              <a:t>Estado baseline: Pitch = 0°, Roll = 0° , o1ini=0° , do1ini=0rad/s 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70E472E2-9244-DF14-73FB-9B47DD9A4F85}"/>
              </a:ext>
            </a:extLst>
          </p:cNvPr>
          <p:cNvSpPr txBox="1"/>
          <p:nvPr/>
        </p:nvSpPr>
        <p:spPr>
          <a:xfrm>
            <a:off x="5256255" y="3824501"/>
            <a:ext cx="225911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100" noProof="1"/>
              <a:t>trayectoria geodésica de agente</a:t>
            </a:r>
          </a:p>
        </p:txBody>
      </p:sp>
      <p:sp>
        <p:nvSpPr>
          <p:cNvPr id="3" name="Fußzeilenplatzhalter 3">
            <a:extLst>
              <a:ext uri="{FF2B5EF4-FFF2-40B4-BE49-F238E27FC236}">
                <a16:creationId xmlns:a16="http://schemas.microsoft.com/office/drawing/2014/main" id="{7FA66EDD-0D7F-3CBD-96A0-61F513E23644}"/>
              </a:ext>
            </a:extLst>
          </p:cNvPr>
          <p:cNvSpPr txBox="1">
            <a:spLocks/>
          </p:cNvSpPr>
          <p:nvPr/>
        </p:nvSpPr>
        <p:spPr>
          <a:xfrm>
            <a:off x="520700" y="6477000"/>
            <a:ext cx="11518900" cy="244475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6615980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675E7-3B4F-F938-7F3A-D659BECF5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78295C78-F138-3663-EA92-468D061A107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/>
              <a:t>Respuesta dinámica del sector 2</a:t>
            </a:r>
          </a:p>
          <a:p>
            <a:endParaRPr lang="es-ES_tradnl" noProof="1"/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86C73B6C-36DA-20B9-EA84-5D660A199B73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793719885"/>
              </p:ext>
            </p:extLst>
          </p:nvPr>
        </p:nvGraphicFramePr>
        <p:xfrm>
          <a:off x="693738" y="5094288"/>
          <a:ext cx="10532960" cy="11220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O1sp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99.00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97.41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-0.32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-0.32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1.59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28.67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46.48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0.42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3.94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9264.02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996.41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53.39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117.00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120.97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5.16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4.41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3.97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35.73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97.89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0.81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0.47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4.34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11266.88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1195.66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54.52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135.00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143.15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9.40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6.96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8.15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43.47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181.80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0.93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0.51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4.63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12842.83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1366.92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54.83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171.00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-174.61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-171.00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-100.00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14.38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65.71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339.46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0.57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5.15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15885.89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1653.71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36.43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153.00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-195.36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-153.00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-100.00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11.64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68.73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318.07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0.61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5.38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17348.54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1805.66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35.14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9" name="Textfeld 8">
            <a:extLst>
              <a:ext uri="{FF2B5EF4-FFF2-40B4-BE49-F238E27FC236}">
                <a16:creationId xmlns:a16="http://schemas.microsoft.com/office/drawing/2014/main" id="{86B7EFE8-E872-B90B-7686-0D954152BC7A}"/>
              </a:ext>
            </a:extLst>
          </p:cNvPr>
          <p:cNvSpPr txBox="1"/>
          <p:nvPr/>
        </p:nvSpPr>
        <p:spPr>
          <a:xfrm>
            <a:off x="9074498" y="4406187"/>
            <a:ext cx="290335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800" noProof="1"/>
              <a:t>Estado baseline: Pitch = 0°, Roll = 0° , o1ini=0° , do1ini=0rad/s </a:t>
            </a:r>
          </a:p>
        </p:txBody>
      </p:sp>
      <p:pic>
        <p:nvPicPr>
          <p:cNvPr id="10" name="Onlinebild-Platzhalter 9">
            <a:extLst>
              <a:ext uri="{FF2B5EF4-FFF2-40B4-BE49-F238E27FC236}">
                <a16:creationId xmlns:a16="http://schemas.microsoft.com/office/drawing/2014/main" id="{A907CF7F-F54A-5BF6-305D-6113444AB8AF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669874" y="2162175"/>
            <a:ext cx="4488714" cy="2744788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E38FA080-C6C5-0804-E146-95AEA33F419C}"/>
              </a:ext>
            </a:extLst>
          </p:cNvPr>
          <p:cNvSpPr txBox="1"/>
          <p:nvPr/>
        </p:nvSpPr>
        <p:spPr>
          <a:xfrm>
            <a:off x="5713998" y="4134688"/>
            <a:ext cx="225911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100" noProof="1"/>
              <a:t>trayectoria geodésica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A329365-B87A-FC18-5812-7232F4120901}"/>
              </a:ext>
            </a:extLst>
          </p:cNvPr>
          <p:cNvSpPr txBox="1"/>
          <p:nvPr/>
        </p:nvSpPr>
        <p:spPr>
          <a:xfrm>
            <a:off x="628349" y="3026692"/>
            <a:ext cx="2203119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_tradnl" sz="1100" noProof="1">
                <a:solidFill>
                  <a:srgbClr val="0E0E0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 trayectoria observada no representa un error de control, sino una solución equivalente en el dominio angular circular, donde el agente sigue </a:t>
            </a:r>
            <a:r>
              <a:rPr lang="es-ES_tradnl" sz="1100" b="1" noProof="1">
                <a:solidFill>
                  <a:srgbClr val="0E0E0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una trayectoria geodésica</a:t>
            </a:r>
            <a:r>
              <a:rPr lang="es-ES_tradnl" sz="1100" noProof="1">
                <a:solidFill>
                  <a:srgbClr val="0E0E0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hacia la referencia.</a:t>
            </a:r>
          </a:p>
        </p:txBody>
      </p:sp>
      <p:sp>
        <p:nvSpPr>
          <p:cNvPr id="3" name="Fußzeilenplatzhalter 3">
            <a:extLst>
              <a:ext uri="{FF2B5EF4-FFF2-40B4-BE49-F238E27FC236}">
                <a16:creationId xmlns:a16="http://schemas.microsoft.com/office/drawing/2014/main" id="{230D44B4-EBB9-D004-FB6E-E697D857C5F1}"/>
              </a:ext>
            </a:extLst>
          </p:cNvPr>
          <p:cNvSpPr txBox="1">
            <a:spLocks/>
          </p:cNvSpPr>
          <p:nvPr/>
        </p:nvSpPr>
        <p:spPr>
          <a:xfrm>
            <a:off x="520700" y="6477000"/>
            <a:ext cx="11518900" cy="244475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7214310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E8ACC-7877-0552-24CF-0558496F6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0A228CD5-D954-A0BC-B2BC-C72B15A5DE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/>
              <a:t>Respuesta dinámica del sector 3</a:t>
            </a:r>
          </a:p>
          <a:p>
            <a:endParaRPr lang="es-ES_tradnl" noProof="1"/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822D91A0-B268-F911-CCB1-1EDBF9B14715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1322882993"/>
              </p:ext>
            </p:extLst>
          </p:nvPr>
        </p:nvGraphicFramePr>
        <p:xfrm>
          <a:off x="693738" y="5094288"/>
          <a:ext cx="10532960" cy="11220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O1sp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-99.00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-97.71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99.00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1.08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1.29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28.13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40.95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3.72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8281.02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896.96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44.82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-117.00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-110.77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117.00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6.23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35.39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136.39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0.44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3.96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9383.71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1020.65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40.48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-135.00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-124.41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135.00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10.59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43.23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223.11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0.47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4.25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10788.43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1148.69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39.95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-153.00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-139.55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153.00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13.44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51.20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285.86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0.51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4.64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12885.84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1356.16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44.45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-171.00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-156.43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171.00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14.57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59.21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321.92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0.54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4.92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14500.28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1514.55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40.96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9" name="Textfeld 8">
            <a:extLst>
              <a:ext uri="{FF2B5EF4-FFF2-40B4-BE49-F238E27FC236}">
                <a16:creationId xmlns:a16="http://schemas.microsoft.com/office/drawing/2014/main" id="{4DB82F6B-FF68-D513-81EE-6CC2DF7F9B10}"/>
              </a:ext>
            </a:extLst>
          </p:cNvPr>
          <p:cNvSpPr txBox="1"/>
          <p:nvPr/>
        </p:nvSpPr>
        <p:spPr>
          <a:xfrm>
            <a:off x="9074498" y="4406187"/>
            <a:ext cx="290335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800" noProof="1"/>
              <a:t>Estado baseline: Pitch = 0°, Roll = 0° , o1ini=0° , do1ini=0rad/s </a:t>
            </a:r>
          </a:p>
        </p:txBody>
      </p:sp>
      <p:pic>
        <p:nvPicPr>
          <p:cNvPr id="7" name="Onlinebild-Platzhalter 6">
            <a:extLst>
              <a:ext uri="{FF2B5EF4-FFF2-40B4-BE49-F238E27FC236}">
                <a16:creationId xmlns:a16="http://schemas.microsoft.com/office/drawing/2014/main" id="{F76E6203-C762-955A-C366-C4B9B58D163A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669874" y="2162175"/>
            <a:ext cx="4488714" cy="2744788"/>
          </a:xfrm>
          <a:prstGeom prst="rect">
            <a:avLst/>
          </a:prstGeom>
        </p:spPr>
      </p:pic>
      <p:sp>
        <p:nvSpPr>
          <p:cNvPr id="3" name="Fußzeilenplatzhalter 3">
            <a:extLst>
              <a:ext uri="{FF2B5EF4-FFF2-40B4-BE49-F238E27FC236}">
                <a16:creationId xmlns:a16="http://schemas.microsoft.com/office/drawing/2014/main" id="{83AEC82E-CEB3-FCCC-CA94-FF6345F979BA}"/>
              </a:ext>
            </a:extLst>
          </p:cNvPr>
          <p:cNvSpPr txBox="1">
            <a:spLocks/>
          </p:cNvSpPr>
          <p:nvPr/>
        </p:nvSpPr>
        <p:spPr>
          <a:xfrm>
            <a:off x="520700" y="6477000"/>
            <a:ext cx="11518900" cy="244475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5791964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B546B-B812-DA12-D3F8-B22D74EC3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4716ED80-9932-9636-EA22-C594A10256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/>
              <a:t>Respuesta dinámica del sector 4</a:t>
            </a:r>
          </a:p>
          <a:p>
            <a:endParaRPr lang="es-ES_tradnl" noProof="1"/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CA471041-4583-3A8F-1550-D0644E579542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2206684483"/>
              </p:ext>
            </p:extLst>
          </p:nvPr>
        </p:nvGraphicFramePr>
        <p:xfrm>
          <a:off x="693738" y="5094288"/>
          <a:ext cx="10532960" cy="11220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O1sp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-27.00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-35.65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8.65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9.96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155.90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0.23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2.58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3952.54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481.99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35.68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-20.62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11.61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11.40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208.82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0.16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2.03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2422.99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309.84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32.45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-45.00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-52.20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7.19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12.10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130.30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0.28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2.91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5035.10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599.87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36.45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-63.00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-69.08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63.00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6.08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16.35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112.86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0.33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3.20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6103.75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694.11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38.30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-81.00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-84.47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81.00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3.47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21.69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71.52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0.37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3.47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7204.23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788.90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50.35</a:t>
                      </a:r>
                      <a:endParaRPr lang="es-ES_tradnl" sz="12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9" name="Textfeld 8">
            <a:extLst>
              <a:ext uri="{FF2B5EF4-FFF2-40B4-BE49-F238E27FC236}">
                <a16:creationId xmlns:a16="http://schemas.microsoft.com/office/drawing/2014/main" id="{49645141-21A7-3E3A-66F3-E1037F3EDEFB}"/>
              </a:ext>
            </a:extLst>
          </p:cNvPr>
          <p:cNvSpPr txBox="1"/>
          <p:nvPr/>
        </p:nvSpPr>
        <p:spPr>
          <a:xfrm>
            <a:off x="9074498" y="4406187"/>
            <a:ext cx="290335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800" noProof="1"/>
              <a:t>Estado baseline: Pitch = 0°, Roll = 0° , o1ini=0° , do1ini=0rad/s </a:t>
            </a:r>
          </a:p>
        </p:txBody>
      </p:sp>
      <p:pic>
        <p:nvPicPr>
          <p:cNvPr id="7" name="Onlinebild-Platzhalter 6">
            <a:extLst>
              <a:ext uri="{FF2B5EF4-FFF2-40B4-BE49-F238E27FC236}">
                <a16:creationId xmlns:a16="http://schemas.microsoft.com/office/drawing/2014/main" id="{F697F348-2B5C-DA14-65FB-7FA6402BC6A7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669874" y="2162175"/>
            <a:ext cx="4488714" cy="2744788"/>
          </a:xfrm>
          <a:prstGeom prst="rect">
            <a:avLst/>
          </a:prstGeom>
        </p:spPr>
      </p:pic>
      <p:sp>
        <p:nvSpPr>
          <p:cNvPr id="3" name="Fußzeilenplatzhalter 3">
            <a:extLst>
              <a:ext uri="{FF2B5EF4-FFF2-40B4-BE49-F238E27FC236}">
                <a16:creationId xmlns:a16="http://schemas.microsoft.com/office/drawing/2014/main" id="{8CB28913-D9B2-B8D1-5A73-AA7AA8F86D76}"/>
              </a:ext>
            </a:extLst>
          </p:cNvPr>
          <p:cNvSpPr txBox="1">
            <a:spLocks/>
          </p:cNvSpPr>
          <p:nvPr/>
        </p:nvSpPr>
        <p:spPr>
          <a:xfrm>
            <a:off x="520700" y="6477000"/>
            <a:ext cx="11518900" cy="244475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8529279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1570</Words>
  <Application>Microsoft Macintosh PowerPoint</Application>
  <PresentationFormat>Breitbild</PresentationFormat>
  <Paragraphs>667</Paragraphs>
  <Slides>10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Cambria Math</vt:lpstr>
      <vt:lpstr>Symbol</vt:lpstr>
      <vt:lpstr>Times New Roman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sarabia</dc:creator>
  <cp:lastModifiedBy>ricardo sarabia</cp:lastModifiedBy>
  <cp:revision>1</cp:revision>
  <dcterms:created xsi:type="dcterms:W3CDTF">2026-03-29T05:01:48Z</dcterms:created>
  <dcterms:modified xsi:type="dcterms:W3CDTF">2026-03-29T05:05:08Z</dcterms:modified>
</cp:coreProperties>
</file>