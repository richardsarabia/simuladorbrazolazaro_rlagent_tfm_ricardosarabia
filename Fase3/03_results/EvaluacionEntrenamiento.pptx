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596" r:id="rId2"/>
    <p:sldId id="597" r:id="rId3"/>
    <p:sldId id="355" r:id="rId4"/>
    <p:sldId id="348" r:id="rId5"/>
    <p:sldId id="354" r:id="rId6"/>
    <p:sldId id="349" r:id="rId7"/>
    <p:sldId id="350" r:id="rId8"/>
    <p:sldId id="351" r:id="rId9"/>
    <p:sldId id="352" r:id="rId10"/>
    <p:sldId id="353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7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42829-2D2D-8F48-BFFF-E537BBA49222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65A98-639A-464C-8CCA-7A5D1488748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519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6A79A-120D-937E-C03C-10A76763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1E00AC-E7AB-D1A6-3257-90FD0A64F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AD9342-C7CE-4A7A-3C03-5E54DEB28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3729D9-8F7D-7239-E37D-9AA96FFBF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33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629EF-96A0-9DA6-CA73-89BCA95D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0F2FC3E-18CA-D92E-319B-5775195F8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853E6BB-44C5-A41C-536B-FC9DDF236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6B8921-63F6-1F8B-35BD-89851E3A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208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E4898F-70C4-8D92-FC72-704DC6427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5D4F9A-D5BC-4D2B-8EC3-66651CAC5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C15AE5-F37D-5461-3BBA-57B92A5F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B9C221-8625-5D29-5F5A-4FE36527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FCA85C-14BD-CED0-0FB1-201D0A0A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9628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D9E5F-6FBB-95A6-0926-6B57496D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EFBC3C-7CCC-94F9-24F6-9C3D60D90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E2D0C0-ED2D-AE59-30BA-24480B24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D0B90A-7D2D-6CE4-2716-9606163C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2BD702-E431-983E-C9D2-B9016DBE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0322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797FB-F5BB-793D-9C9F-AB889C297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396A07-2650-8D06-7032-32B0F2431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B0E675-73DB-0D5A-B518-B8F8018E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21221B-99EA-3310-9FE6-B0B53209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276444-FD12-1039-D490-073AD45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0461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DD1B4-699D-3A22-9555-EFCAD965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ABACCA-D0CF-8CC0-E912-6F853F909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28E3B7-106A-A68A-28E3-2B4E772AC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B2801D-B17C-782B-0817-5D52026E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25AB75-855A-158C-B38B-8532A584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284EC6-0AAC-584F-A2B5-A1B0028F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0144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5FC41-977A-7012-62E2-A8907B1F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7BA95D-1C73-2A9B-BD38-B9D4FFDC0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F61FF8-590B-3740-E08C-3DB0EFFE9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B58046-5D5F-F6E1-FCB3-36DC710DAD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D5CDD43-C69B-C6FC-47A4-ACFCA0D8F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EC66B16-A0E3-C74A-EE71-FB227E50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DC6A83-5C7D-BDE4-C847-220B59FB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F55ACB3-8E39-2E88-C74D-21D45AD0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1477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A581AB-81C1-64C9-D67B-B978CB74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D0EFC3-91C6-0548-179E-A5564273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5F41E1-8BB5-E3CA-A0E2-7251473F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44C451-CDD7-AB66-E12E-F5B902EC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1753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15263B-C0DD-30DD-D5C4-7258B995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597FC4-F30F-795B-8DE1-B208E4E8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1CA9EE-1D3E-C5E1-5F90-D479FEE2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397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EBA398-124E-DDEA-F753-465EA7103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6C43AD-D8CA-9410-89C3-0634C24E7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96CE0B-7F89-4EAF-8FEE-58A80DEA2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BAFC2D-FFA5-541C-71DD-8CA6B377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F96A93-42CD-93F5-7CA8-5BD24DBF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1E9B45-6C2C-C589-ADFF-958708C1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3224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8627BC-5D35-F58D-5A6F-6B8D60DBA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9D43A1F-0BF6-552A-1335-ABEEECB83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698CF9-76FB-872A-2DB2-49B2ECFD8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8F6CFE-6413-9F7A-34FA-D093AFB1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557CD7-AAA2-D904-2839-91DF9CB8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AA6F91-3D0D-531D-6979-EE27DA6F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367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28CC13-45BA-FD90-89D7-076F7A12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29CDB1-EE07-FA8E-878B-7B37DF3D4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E77406-69F0-34B9-2756-889F1F87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136824-9195-3A8C-8785-304317570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3002F3-1759-98CB-9074-7B8D0B83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500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2C12824-B0B2-6FB9-98F7-C67877402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43DF5B8-D4A7-7BBE-41F6-CBFDA3D24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52D634-5C65-CF8E-F2D7-16E21780F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1F47EC-73A5-14C3-7458-15FB48FD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8C8EAF-18EC-FF62-2016-F9EF886D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6974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71395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RVAS_SIMUL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1362389" y="1850693"/>
            <a:ext cx="910378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Determinista en la Simulación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3DAC8B4E-0341-1E5D-5C73-B70108A5D531}"/>
              </a:ext>
            </a:extLst>
          </p:cNvPr>
          <p:cNvGrpSpPr/>
          <p:nvPr/>
        </p:nvGrpSpPr>
        <p:grpSpPr>
          <a:xfrm>
            <a:off x="194396" y="1382651"/>
            <a:ext cx="1039143" cy="1043040"/>
            <a:chOff x="7954338" y="203337"/>
            <a:chExt cx="1275466" cy="1149452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98041A0A-3583-3736-9454-6E4E39F8A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679" t="14811" r="19766" b="18544"/>
            <a:stretch>
              <a:fillRect/>
            </a:stretch>
          </p:blipFill>
          <p:spPr>
            <a:xfrm>
              <a:off x="7954338" y="203337"/>
              <a:ext cx="1275466" cy="1149452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65C675AF-8E56-41C5-11C4-03C87E111382}"/>
                </a:ext>
              </a:extLst>
            </p:cNvPr>
            <p:cNvSpPr txBox="1"/>
            <p:nvPr/>
          </p:nvSpPr>
          <p:spPr>
            <a:xfrm>
              <a:off x="8496319" y="1024996"/>
              <a:ext cx="622143" cy="28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/>
                <a:t>(TD3)</a:t>
              </a:r>
            </a:p>
          </p:txBody>
        </p:sp>
      </p:grp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8880" y="1446792"/>
            <a:ext cx="6186487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Respuesta dinámica del Sector X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4482" y="5095056"/>
            <a:ext cx="10532960" cy="1092366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Onlinebild-Platzhalter 7">
            <a:extLst>
              <a:ext uri="{FF2B5EF4-FFF2-40B4-BE49-F238E27FC236}">
                <a16:creationId xmlns:a16="http://schemas.microsoft.com/office/drawing/2014/main" id="{FAA78FF5-2A44-C038-8C33-581E4612C4B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1314868" y="2161890"/>
            <a:ext cx="9198825" cy="27447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6637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D175E8-FDDB-953B-0A8A-549DC722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1E4979-56BF-B593-D20B-F95FDDB43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9D456E-4F00-F994-3AFB-70D58D4EB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57AC5-C7C9-C647-81A0-1565E6FA9BD3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BDEB11-6E4E-FE91-70F1-81D8FE3A6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9D96DE-2BEE-55D8-B675-D80EE29A5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345A0-3A02-534C-A3A1-18562B557838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7198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emf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EC321-E22B-F83B-F1DE-28B98B87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2C2020DD-C97A-3F72-6776-B830AC8280A1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F78752F7-B630-FB0B-23BE-A700448DF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16E86AD-3F75-CB82-1954-25E00359D4EB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1752927B-3B5E-64F2-2798-2F76FFCCCAA2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8BE10CBE-4FCC-7B82-E072-3AE0A3E8B9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A3C23821-3D6C-EF27-DD9D-EF4FC259854E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161B996B-9C1F-A038-96F4-C5F89F3DF70C}"/>
              </a:ext>
            </a:extLst>
          </p:cNvPr>
          <p:cNvGrpSpPr/>
          <p:nvPr/>
        </p:nvGrpSpPr>
        <p:grpSpPr>
          <a:xfrm>
            <a:off x="5046099" y="1881928"/>
            <a:ext cx="1124864" cy="1248093"/>
            <a:chOff x="2471323" y="3073037"/>
            <a:chExt cx="1124864" cy="1248093"/>
          </a:xfrm>
        </p:grpSpPr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4272AC67-56D7-674C-DE8F-D60D7C92D1F6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03FC5D63-5018-A28F-B4EC-2EB62052F2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E6C09183-327B-C3ED-E7C2-56F81A7FA8AE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2E2AA8B-7E65-DBF9-93EB-0E736466DB86}"/>
                </a:ext>
              </a:extLst>
            </p:cNvPr>
            <p:cNvSpPr txBox="1"/>
            <p:nvPr/>
          </p:nvSpPr>
          <p:spPr>
            <a:xfrm>
              <a:off x="2686964" y="3073037"/>
              <a:ext cx="9092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Agente1900</a:t>
              </a:r>
            </a:p>
          </p:txBody>
        </p:sp>
      </p:grpSp>
      <p:sp>
        <p:nvSpPr>
          <p:cNvPr id="30" name="Textfeld 29">
            <a:extLst>
              <a:ext uri="{FF2B5EF4-FFF2-40B4-BE49-F238E27FC236}">
                <a16:creationId xmlns:a16="http://schemas.microsoft.com/office/drawing/2014/main" id="{22DDEDB0-CF2D-F261-1883-13693D28C71E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12EACDB-5E19-3442-AFCF-BE3CF2588636}"/>
              </a:ext>
            </a:extLst>
          </p:cNvPr>
          <p:cNvSpPr txBox="1"/>
          <p:nvPr/>
        </p:nvSpPr>
        <p:spPr>
          <a:xfrm>
            <a:off x="6159293" y="2274315"/>
            <a:ext cx="18434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noProof="1"/>
              <a:t>Scen58, Reward_SystemA</a:t>
            </a:r>
          </a:p>
          <a:p>
            <a:r>
              <a:rPr lang="es-ES_tradnl" sz="1100" noProof="1"/>
              <a:t>Run_x860, 2000eps</a:t>
            </a:r>
          </a:p>
          <a:p>
            <a:r>
              <a:rPr lang="es-ES_tradnl" sz="1100" noProof="1"/>
              <a:t>Checkpoint1900</a:t>
            </a:r>
          </a:p>
        </p:txBody>
      </p: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07F19C4A-95C6-FD7C-75E5-DD83DAB62B29}"/>
              </a:ext>
            </a:extLst>
          </p:cNvPr>
          <p:cNvGrpSpPr/>
          <p:nvPr/>
        </p:nvGrpSpPr>
        <p:grpSpPr>
          <a:xfrm>
            <a:off x="3540019" y="4150280"/>
            <a:ext cx="3181554" cy="2054349"/>
            <a:chOff x="6169323" y="3763075"/>
            <a:chExt cx="3181554" cy="2054349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DAE13E86-A29B-8DAE-73CB-9F913DF3820A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E8F4FD72-1B51-41D1-89C0-754CF0A045DC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47" name="Grafik 46">
                  <a:extLst>
                    <a:ext uri="{FF2B5EF4-FFF2-40B4-BE49-F238E27FC236}">
                      <a16:creationId xmlns:a16="http://schemas.microsoft.com/office/drawing/2014/main" id="{0DE66256-F6CF-D659-8B71-390F28BA06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48" name="Textfeld 47">
                  <a:extLst>
                    <a:ext uri="{FF2B5EF4-FFF2-40B4-BE49-F238E27FC236}">
                      <a16:creationId xmlns:a16="http://schemas.microsoft.com/office/drawing/2014/main" id="{225C0D6E-F224-ACF5-DCFB-E4BD63BE575C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178FF226-7640-4B0D-53D0-1E80478716C2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500</a:t>
                </a:r>
              </a:p>
            </p:txBody>
          </p:sp>
        </p:grp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51E7B232-67B1-2FCA-6F18-033F960D630E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Checkpoint500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FDD90EC6-532B-FEB9-7B35-445FEC4EE7B3}"/>
                </a:ext>
              </a:extLst>
            </p:cNvPr>
            <p:cNvSpPr txBox="1"/>
            <p:nvPr/>
          </p:nvSpPr>
          <p:spPr>
            <a:xfrm>
              <a:off x="7015754" y="3763075"/>
              <a:ext cx="2335123" cy="60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Reward_SystemA</a:t>
              </a:r>
            </a:p>
            <a:p>
              <a:r>
                <a:rPr lang="es-ES_tradnl" sz="1100" noProof="1"/>
                <a:t>Run_x519, 1000eps</a:t>
              </a:r>
            </a:p>
          </p:txBody>
        </p:sp>
      </p:grp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034488D-EBB1-ABDF-6BD5-7201AD9E6797}"/>
              </a:ext>
            </a:extLst>
          </p:cNvPr>
          <p:cNvCxnSpPr>
            <a:stCxn id="26" idx="2"/>
            <a:endCxn id="57" idx="0"/>
          </p:cNvCxnSpPr>
          <p:nvPr/>
        </p:nvCxnSpPr>
        <p:spPr>
          <a:xfrm flipH="1">
            <a:off x="5554014" y="3130021"/>
            <a:ext cx="11659" cy="102025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9792B8-3B5B-B9C4-7342-F43ABFA2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0700" y="6356350"/>
            <a:ext cx="11518900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CF3880-5F03-9106-1E1B-7B01007D02F5}"/>
              </a:ext>
            </a:extLst>
          </p:cNvPr>
          <p:cNvSpPr txBox="1"/>
          <p:nvPr/>
        </p:nvSpPr>
        <p:spPr>
          <a:xfrm>
            <a:off x="3345895" y="2477696"/>
            <a:ext cx="3882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b="1" noProof="1"/>
              <a:t>(…)</a:t>
            </a:r>
            <a:endParaRPr lang="es-ES_tradnl" sz="1100" noProof="1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8A5BD0C1-01B5-B5C5-F1E6-318A59C8F3FF}"/>
              </a:ext>
            </a:extLst>
          </p:cNvPr>
          <p:cNvCxnSpPr>
            <a:cxnSpLocks/>
            <a:stCxn id="5" idx="3"/>
            <a:endCxn id="26" idx="1"/>
          </p:cNvCxnSpPr>
          <p:nvPr/>
        </p:nvCxnSpPr>
        <p:spPr>
          <a:xfrm>
            <a:off x="3734143" y="2608501"/>
            <a:ext cx="131195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57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939D-5DA3-D7D2-67C3-01FAAA8EE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88E7A2-4A60-7258-FE17-91A7D7F0A2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Agente1000</a:t>
            </a:r>
          </a:p>
          <a:p>
            <a:endParaRPr lang="es-ES_tradnl" dirty="0"/>
          </a:p>
        </p:txBody>
      </p:sp>
      <p:pic>
        <p:nvPicPr>
          <p:cNvPr id="6" name="Bildplatzhalter 25">
            <a:extLst>
              <a:ext uri="{FF2B5EF4-FFF2-40B4-BE49-F238E27FC236}">
                <a16:creationId xmlns:a16="http://schemas.microsoft.com/office/drawing/2014/main" id="{68D3EB3C-7DA4-6504-ABC8-61A16F4269E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720716" y="2636838"/>
            <a:ext cx="5299092" cy="3278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Inhaltsplatzhalter 28">
                <a:extLst>
                  <a:ext uri="{FF2B5EF4-FFF2-40B4-BE49-F238E27FC236}">
                    <a16:creationId xmlns:a16="http://schemas.microsoft.com/office/drawing/2014/main" id="{E07E2C69-60B4-4C4D-6DEE-A0021BD4E13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763822890"/>
                  </p:ext>
                </p:extLst>
              </p:nvPr>
            </p:nvGraphicFramePr>
            <p:xfrm>
              <a:off x="6556375" y="2636838"/>
              <a:ext cx="5190134" cy="331292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-406.147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-352.339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-263.797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Inhaltsplatzhalter 28">
                <a:extLst>
                  <a:ext uri="{FF2B5EF4-FFF2-40B4-BE49-F238E27FC236}">
                    <a16:creationId xmlns:a16="http://schemas.microsoft.com/office/drawing/2014/main" id="{E07E2C69-60B4-4C4D-6DEE-A0021BD4E13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3763822890"/>
                  </p:ext>
                </p:extLst>
              </p:nvPr>
            </p:nvGraphicFramePr>
            <p:xfrm>
              <a:off x="6556375" y="2636838"/>
              <a:ext cx="5190134" cy="331292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227273" r="-570213" b="-2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7273" r="-113953" b="-2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63636" r="-570213" b="-9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-406.147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63636" r="-113953" b="-9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527273" r="-570213" b="-18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-352.339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27273" r="-113953" b="-18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727273" r="-570213" b="-16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413636" r="-113953" b="-7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027273" r="-570213" b="-13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-263.797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127273" r="-113953" b="-1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695238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8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8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9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9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2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12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3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3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64B6761C-B1F1-068D-1CF4-43214479D357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26662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A8746-0B4C-D679-8C47-497CE056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52E2CB06-95D0-B984-CA3C-E4C09432D9A5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3806F57-369F-B188-5676-1D326B468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7A4DDCD2-CA82-A3D4-B27A-0AEAE8205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10CC2C0-0CD6-4DA2-B05E-484E9698472A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Progresión del RMSE durante el entrenamiento.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1CC1BB7-A300-1779-510C-91214F34512D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1AC4BFBD-1342-8661-E92E-6B98ED1227F9}"/>
              </a:ext>
            </a:extLst>
          </p:cNvPr>
          <p:cNvCxnSpPr>
            <a:cxnSpLocks/>
          </p:cNvCxnSpPr>
          <p:nvPr/>
        </p:nvCxnSpPr>
        <p:spPr>
          <a:xfrm>
            <a:off x="431109" y="1835788"/>
            <a:ext cx="910378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7825CCAD-717C-AAFE-AF66-0102B1242703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64BC9FD-1390-349C-D1B9-3A6CDD584B04}"/>
              </a:ext>
            </a:extLst>
          </p:cNvPr>
          <p:cNvGrpSpPr/>
          <p:nvPr/>
        </p:nvGrpSpPr>
        <p:grpSpPr>
          <a:xfrm>
            <a:off x="1189431" y="3216397"/>
            <a:ext cx="1039143" cy="1226891"/>
            <a:chOff x="2471323" y="3094239"/>
            <a:chExt cx="1039143" cy="1226891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E1949AE9-F854-589E-8156-5733A4374D03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9790036C-0A03-109B-8CCE-18F0EA395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5D099AD-11CE-24F3-B044-1167306DECB5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3894E7A-5090-A33F-108E-7EFDD4CF1E14}"/>
                </a:ext>
              </a:extLst>
            </p:cNvPr>
            <p:cNvSpPr txBox="1"/>
            <p:nvPr/>
          </p:nvSpPr>
          <p:spPr>
            <a:xfrm>
              <a:off x="2536282" y="3094239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Agentes RL</a:t>
              </a: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BF5D2649-AD8F-D629-5AAF-5BBCEEE87AD7}"/>
              </a:ext>
            </a:extLst>
          </p:cNvPr>
          <p:cNvSpPr txBox="1"/>
          <p:nvPr/>
        </p:nvSpPr>
        <p:spPr>
          <a:xfrm>
            <a:off x="6062924" y="5621225"/>
            <a:ext cx="2303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noProof="1"/>
              <a:t>Efecto Policy Degration, Overfitting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4A4A336-CA2A-DCF1-D08F-65DF5DE02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431" y="2188140"/>
            <a:ext cx="5614331" cy="343308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100ADB2-6FC3-6045-5C39-24886CF9019E}"/>
              </a:ext>
            </a:extLst>
          </p:cNvPr>
          <p:cNvSpPr txBox="1"/>
          <p:nvPr/>
        </p:nvSpPr>
        <p:spPr>
          <a:xfrm>
            <a:off x="1434970" y="6062345"/>
            <a:ext cx="96433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mejor punto de aprendizaje se alcanza en 500 episodios; a partir de ahí, el rendimiento empeora debido a sobreajuste.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387FA5F-A32D-7E80-AB97-52C1ADA57C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496" y="2727074"/>
            <a:ext cx="2152202" cy="170723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9D6B400-5E4C-133C-F1AB-41A65DBED408}"/>
              </a:ext>
            </a:extLst>
          </p:cNvPr>
          <p:cNvSpPr txBox="1"/>
          <p:nvPr/>
        </p:nvSpPr>
        <p:spPr>
          <a:xfrm>
            <a:off x="9074498" y="4406187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7C00EA-9E48-DD5D-5A9B-D8C2A54B27C2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34735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BBDEC-7D9D-019A-83B6-AB195B470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E9FEB51D-B46B-3813-AEB2-5242DC69EEE1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8847E116-74C6-1738-6DEB-5E7BD4E7B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6FE31F02-4FC3-AE5A-DBDA-07E6C7F00529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99005764-D54F-88FF-DED2-03C8DAAE0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AA3FBED1-C98F-8531-346A-071221753B0F}"/>
              </a:ext>
            </a:extLst>
          </p:cNvPr>
          <p:cNvSpPr txBox="1"/>
          <p:nvPr/>
        </p:nvSpPr>
        <p:spPr>
          <a:xfrm>
            <a:off x="340469" y="1382633"/>
            <a:ext cx="10169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Top3 Curvas RMSE en el Dominio Angular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0FE0EF3-F9F5-A907-39DE-0397AD375A91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C1BCA9A-0702-4868-5E5A-2E7FE5EC2BA4}"/>
              </a:ext>
            </a:extLst>
          </p:cNvPr>
          <p:cNvSpPr txBox="1"/>
          <p:nvPr/>
        </p:nvSpPr>
        <p:spPr>
          <a:xfrm>
            <a:off x="1136526" y="5864720"/>
            <a:ext cx="99008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RMSE presenta una distribución suave y consistente en todo el dominio angular, con mínimos en la zona central y aumento progresivo hacia los extremos, evidenciando una política estable y generalizada.</a:t>
            </a:r>
          </a:p>
          <a:p>
            <a:pPr algn="ctr"/>
            <a:endParaRPr lang="es-ES_tradnl" sz="1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33E0212-B2D5-2E09-57A9-B52E4023B5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573" y="2214030"/>
            <a:ext cx="5572579" cy="3407556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E27F7C8-F8FE-E39F-6BCB-8262EDDECF53}"/>
              </a:ext>
            </a:extLst>
          </p:cNvPr>
          <p:cNvGrpSpPr/>
          <p:nvPr/>
        </p:nvGrpSpPr>
        <p:grpSpPr>
          <a:xfrm>
            <a:off x="1189431" y="3216397"/>
            <a:ext cx="1039143" cy="1226891"/>
            <a:chOff x="2471323" y="3094239"/>
            <a:chExt cx="1039143" cy="1226891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414DE81F-2575-40B4-EFA0-BE099A64D7F3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7" name="Grafik 6">
                <a:extLst>
                  <a:ext uri="{FF2B5EF4-FFF2-40B4-BE49-F238E27FC236}">
                    <a16:creationId xmlns:a16="http://schemas.microsoft.com/office/drawing/2014/main" id="{DDF7E168-D124-287F-66F2-34B5BACCAD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807A131-E573-20D0-D9BB-C278169445F8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AED0C6A8-4A81-5757-A057-4CE757011D03}"/>
                </a:ext>
              </a:extLst>
            </p:cNvPr>
            <p:cNvSpPr txBox="1"/>
            <p:nvPr/>
          </p:nvSpPr>
          <p:spPr>
            <a:xfrm>
              <a:off x="2536282" y="3094239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Agentes RL</a:t>
              </a:r>
            </a:p>
          </p:txBody>
        </p:sp>
      </p:grp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5B6408D3-67F5-18D7-4280-4B0E48AC40E9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3434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DBA-6814-C064-3665-1590D340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BC9D9358-A01E-36B4-3264-0782EA010783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AA1B87C7-350C-8124-2492-E1554271D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3DDE5EB-210C-26D1-CAD1-222226301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A9128A67-987E-DE84-8358-EE1F3DD75971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Implementación de </a:t>
            </a:r>
            <a:r>
              <a:rPr lang="es-ES_tradnl" sz="20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 geodésico</a:t>
            </a:r>
            <a:endParaRPr lang="es-ES_tradnl" sz="2000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385D6F0-0838-F08A-7581-B8BCE00707F5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3BD76E12-7EDA-8520-542A-BAFA0283DC46}"/>
              </a:ext>
            </a:extLst>
          </p:cNvPr>
          <p:cNvCxnSpPr>
            <a:cxnSpLocks/>
          </p:cNvCxnSpPr>
          <p:nvPr/>
        </p:nvCxnSpPr>
        <p:spPr>
          <a:xfrm>
            <a:off x="431109" y="1835788"/>
            <a:ext cx="910378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9852CBCD-1D77-A846-BD6D-BF31CAE23E2C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le 1">
                <a:extLst>
                  <a:ext uri="{FF2B5EF4-FFF2-40B4-BE49-F238E27FC236}">
                    <a16:creationId xmlns:a16="http://schemas.microsoft.com/office/drawing/2014/main" id="{1C57DAF7-BF84-8F0A-F9BC-F1E3DD33F9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675887"/>
                  </p:ext>
                </p:extLst>
              </p:nvPr>
            </p:nvGraphicFramePr>
            <p:xfrm>
              <a:off x="3761514" y="2506036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_tradnl" sz="900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𝑎𝑛𝑔𝑢𝑙𝑎𝑟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𝑅𝑎𝑡𝑖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𝑒𝑥𝑡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31.8768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67.5612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19.5546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30.2252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32.1803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69.5560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21.8054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2.1614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30.5703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33.2539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69.7003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20.5150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2.0960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31.6975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34.4669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69.6161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19.0805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2.0198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32.9844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Agent900.mat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35.8842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69.5453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17.6581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1.9380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34.5013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36.8039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69.6267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17.0374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1.8918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35.4449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38.5345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69.7105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16.2425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1.8090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37.2744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Agent700.mat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40.4853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75.5817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17.5543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1.8669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39.3504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40.6800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71.7127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17.5065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1.7629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39.5563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Agent800.mat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41.4784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71.6549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17.5960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1.7275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40.3722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le 1">
                <a:extLst>
                  <a:ext uri="{FF2B5EF4-FFF2-40B4-BE49-F238E27FC236}">
                    <a16:creationId xmlns:a16="http://schemas.microsoft.com/office/drawing/2014/main" id="{1C57DAF7-BF84-8F0A-F9BC-F1E3DD33F9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675887"/>
                  </p:ext>
                </p:extLst>
              </p:nvPr>
            </p:nvGraphicFramePr>
            <p:xfrm>
              <a:off x="3761514" y="2506036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buNone/>
                          </a:pPr>
                          <a:r>
                            <a:rPr lang="es-ES_tradnl" sz="11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966" t="-233333" r="-344828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2500" t="-233333" r="-275000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30137" t="-233333" r="-201370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6364" t="-233333" r="-122727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31.8768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67.5612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19.5546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30.2252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32.1803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69.5560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21.8054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2.1614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30.5703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33.2539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69.7003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20.5150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2.0960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31.6975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Agent400.mat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34.4669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69.6161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19.0805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2.0198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32.9844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Agent900.mat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35.8842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69.5453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17.6581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1.9380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34.5013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Agent300.mat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36.8039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69.6267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17.0374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1.8918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35.4449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38.5345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69.7105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16.2425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1.8090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37.2744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Agent700.mat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40.4853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75.5817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17.5543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1.8669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39.3504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40.6800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71.7127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17.5065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1.7629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39.5563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Agent800.mat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41.4784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71.6549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17.5960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1.7275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40.3722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feld 17">
            <a:extLst>
              <a:ext uri="{FF2B5EF4-FFF2-40B4-BE49-F238E27FC236}">
                <a16:creationId xmlns:a16="http://schemas.microsoft.com/office/drawing/2014/main" id="{23585544-6F65-16FC-5CC8-7BE1B878AB83}"/>
              </a:ext>
            </a:extLst>
          </p:cNvPr>
          <p:cNvSpPr txBox="1"/>
          <p:nvPr/>
        </p:nvSpPr>
        <p:spPr>
          <a:xfrm>
            <a:off x="1000996" y="5780419"/>
            <a:ext cx="1018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Los Agentes evaluados corresponden a diferentes Checkpoints del entrenamiento del agente RL.  El Análisis de múltiples checkpoints permite observar la mejora progresiva del agente durante el entrenamiento. </a:t>
            </a:r>
            <a:r>
              <a:rPr lang="es-ES_tradnl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En este caso,  el Agente500 mantiene la mejor posición en el ranking, al presentar  los menores valores  en las métricas de error y mejor compromiso global de desempeño.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35F477C2-6EC8-943E-893F-151DAA5211DC}"/>
              </a:ext>
            </a:extLst>
          </p:cNvPr>
          <p:cNvGrpSpPr/>
          <p:nvPr/>
        </p:nvGrpSpPr>
        <p:grpSpPr>
          <a:xfrm>
            <a:off x="870947" y="2560978"/>
            <a:ext cx="2335123" cy="2787389"/>
            <a:chOff x="7015754" y="3707990"/>
            <a:chExt cx="2335123" cy="2787389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2E77B15D-E1C3-E09C-B56C-743E4B44308F}"/>
                </a:ext>
              </a:extLst>
            </p:cNvPr>
            <p:cNvGrpSpPr/>
            <p:nvPr/>
          </p:nvGrpSpPr>
          <p:grpSpPr>
            <a:xfrm>
              <a:off x="7686988" y="4774384"/>
              <a:ext cx="1039143" cy="1043040"/>
              <a:chOff x="7793778" y="-23609"/>
              <a:chExt cx="1275466" cy="1149452"/>
            </a:xfrm>
          </p:grpSpPr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15C601A9-D58F-80F1-4D1B-6C04335BD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793778" y="-23609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2B27D3B1-A5E2-031C-4DFA-66B0C0A3E414}"/>
                  </a:ext>
                </a:extLst>
              </p:cNvPr>
              <p:cNvSpPr txBox="1"/>
              <p:nvPr/>
            </p:nvSpPr>
            <p:spPr>
              <a:xfrm>
                <a:off x="8402980" y="809204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36DC92DC-B80D-0506-107F-8B4525C89B92}"/>
                </a:ext>
              </a:extLst>
            </p:cNvPr>
            <p:cNvSpPr txBox="1"/>
            <p:nvPr/>
          </p:nvSpPr>
          <p:spPr>
            <a:xfrm>
              <a:off x="7441766" y="6064492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Checkpoint500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44940941-6808-C694-11AC-D1E5488CF3BD}"/>
                </a:ext>
              </a:extLst>
            </p:cNvPr>
            <p:cNvSpPr txBox="1"/>
            <p:nvPr/>
          </p:nvSpPr>
          <p:spPr>
            <a:xfrm>
              <a:off x="7015754" y="3707990"/>
              <a:ext cx="2335123" cy="60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Reward_SystemA</a:t>
              </a:r>
            </a:p>
            <a:p>
              <a:r>
                <a:rPr lang="es-ES_tradnl" sz="1100" noProof="1"/>
                <a:t>Run_x519, 1000eps</a:t>
              </a: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693689-3598-3A90-3C83-5489D4FEDA22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00208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047D087E-8AF2-E64E-863B-F68CC5095BDD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noProof="1" dirty="0" smtClean="0">
                            <a:latin typeface="Cambria Math" panose="02040503050406030204" pitchFamily="18" charset="0"/>
                          </a:rPr>
                          <m:t>𝑅𝑀𝑆𝐸</m:t>
                        </m:r>
                      </m:e>
                      <m:sub>
                        <m:r>
                          <a:rPr lang="es-ES_tradnl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noProof="1"/>
                  <a:t> en dominio angular.</a:t>
                </a:r>
              </a:p>
            </p:txBody>
          </p:sp>
        </mc:Choice>
        <mc:Fallback xmlns="">
          <p:sp>
            <p:nvSpPr>
              <p:cNvPr id="2" name="Textplatzhalter 1">
                <a:extLst>
                  <a:ext uri="{FF2B5EF4-FFF2-40B4-BE49-F238E27FC236}">
                    <a16:creationId xmlns:a16="http://schemas.microsoft.com/office/drawing/2014/main" id="{047D087E-8AF2-E64E-863B-F68CC5095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t="-10811" b="-5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7FF537-917C-734A-6C87-6681973BB4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6700" y="5095056"/>
            <a:ext cx="11049000" cy="109661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200" noProof="1"/>
              <a:t>El agente500 presenta un comportamiento suave y continuo en todo el dominio angular,  sin discontinuidades abruptas como en el experimento anterior El seguimiento es preciso y estable, indicando correcta adaptación de la política. </a:t>
            </a:r>
          </a:p>
          <a:p>
            <a:pPr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200" noProof="1"/>
              <a:t>El error aumenta progresivamente hacia los extremos del dominio. </a:t>
            </a:r>
          </a:p>
          <a:p>
            <a:pPr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200" noProof="1"/>
              <a:t>No se observan saltos abruptos, pero sí una degradación sistemática del rendimiento.</a:t>
            </a:r>
          </a:p>
          <a:p>
            <a:pPr marL="0" indent="0">
              <a:spcBef>
                <a:spcPts val="0"/>
              </a:spcBef>
            </a:pPr>
            <a:r>
              <a:rPr lang="es-ES_tradnl" sz="1200" noProof="1"/>
              <a:t> </a:t>
            </a:r>
          </a:p>
          <a:p>
            <a:pPr marL="0" indent="0">
              <a:spcBef>
                <a:spcPts val="0"/>
              </a:spcBef>
            </a:pPr>
            <a:r>
              <a:rPr lang="es-ES_tradnl" sz="1200" b="1" noProof="1"/>
              <a:t>El comportamiento es aproximadamente simétrico respecto al eje central,  lo que indica que el agente ha aprendido una política más consistente que en etapas anteriores</a:t>
            </a:r>
            <a:r>
              <a:rPr lang="es-ES_tradnl" sz="1200" noProof="1"/>
              <a:t>.</a:t>
            </a:r>
          </a:p>
          <a:p>
            <a:pPr marL="0" indent="0"/>
            <a:endParaRPr lang="es-ES_tradnl" sz="1200" noProof="1"/>
          </a:p>
          <a:p>
            <a:pPr marL="0" indent="0"/>
            <a:endParaRPr lang="es-ES_tradnl" sz="1200" noProof="1"/>
          </a:p>
          <a:p>
            <a:pPr marL="0" indent="0"/>
            <a:endParaRPr lang="es-ES_tradnl" sz="1200" noProof="1"/>
          </a:p>
          <a:p>
            <a:pPr algn="ctr"/>
            <a:endParaRPr lang="es-ES_tradnl" sz="1200" noProof="1"/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E8CAC9BE-4ED0-F012-0035-D19C0E2E22DD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2998525" y="2162175"/>
            <a:ext cx="5831417" cy="27447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4B7495E-FF81-DD69-B829-2801CE61C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496" y="2727074"/>
            <a:ext cx="2152202" cy="170723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08500BB-8C96-8DA5-F43D-DC9141197494}"/>
              </a:ext>
            </a:extLst>
          </p:cNvPr>
          <p:cNvSpPr txBox="1"/>
          <p:nvPr/>
        </p:nvSpPr>
        <p:spPr>
          <a:xfrm>
            <a:off x="9074498" y="4406187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E3A6C77A-E9EB-A027-D9E0-C67A42FF3460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650818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587AD55-1A7D-A107-29DC-8C32D373F1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/>
              <a:t>Respuesta dinámica del sector 1</a:t>
            </a:r>
          </a:p>
          <a:p>
            <a:endParaRPr lang="es-ES_tradnl" noProof="1"/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73E56B4A-20CF-D3D0-7936-5F755BDFA7E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2998525" y="2162175"/>
            <a:ext cx="5831417" cy="2744788"/>
          </a:xfrm>
          <a:prstGeom prst="rect">
            <a:avLst/>
          </a:prstGeom>
        </p:spPr>
      </p:pic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1E946522-7462-1280-FDBB-241AACEDB75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365561033"/>
              </p:ext>
            </p:extLst>
          </p:nvPr>
        </p:nvGraphicFramePr>
        <p:xfrm>
          <a:off x="693738" y="5094288"/>
          <a:ext cx="10532960" cy="1122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O1sp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-100.00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11.71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11.66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141.38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9.45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116.34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56.06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16.62</a:t>
                      </a: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16.47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-10.02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-37.13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10.53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11.66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189.77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9.86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1849.38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262.53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47.70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34.67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-20.72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10.33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14.41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187.31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3720.50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448.89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49.66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53.87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-8.09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-12.84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18.13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168.46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5365.68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612.64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51.40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81.00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74.12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-5.52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-6.81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6.88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23.06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132.76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3.49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7284.07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800.71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54.60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A58BE5D7-5C18-5B52-E0D1-F4929101583A}"/>
              </a:ext>
            </a:extLst>
          </p:cNvPr>
          <p:cNvSpPr txBox="1"/>
          <p:nvPr/>
        </p:nvSpPr>
        <p:spPr>
          <a:xfrm>
            <a:off x="9074498" y="4406187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0E472E2-9244-DF14-73FB-9B47DD9A4F85}"/>
              </a:ext>
            </a:extLst>
          </p:cNvPr>
          <p:cNvSpPr txBox="1"/>
          <p:nvPr/>
        </p:nvSpPr>
        <p:spPr>
          <a:xfrm>
            <a:off x="5256255" y="3824501"/>
            <a:ext cx="22591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/>
              <a:t>trayectoria geodésica de agente</a:t>
            </a: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7FA66EDD-0D7F-3CBD-96A0-61F513E23644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66159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75E7-3B4F-F938-7F3A-D659BECF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8295C78-F138-3663-EA92-468D061A10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/>
              <a:t>Respuesta dinámica del sector 2</a:t>
            </a:r>
          </a:p>
          <a:p>
            <a:endParaRPr lang="es-ES_tradnl" noProof="1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6C73B6C-36DA-20B9-EA84-5D660A199B7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793719885"/>
              </p:ext>
            </p:extLst>
          </p:nvPr>
        </p:nvGraphicFramePr>
        <p:xfrm>
          <a:off x="693738" y="5094288"/>
          <a:ext cx="10532960" cy="1122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O1sp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99.00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97.41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-0.32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-0.32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28.67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46.48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9264.02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996.41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53.39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117.00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120.97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5.16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35.73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97.89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4.34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11266.88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1195.66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54.52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143.15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6.96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8.15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43.47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181.80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12842.83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1366.92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54.83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171.00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-174.61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-171.00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14.38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65.71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339.46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5.15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15885.89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1653.71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36.43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153.00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-195.36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-153.00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11.64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68.73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318.07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5.38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17348.54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1805.66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35.14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86B7EFE8-E872-B90B-7686-0D954152BC7A}"/>
              </a:ext>
            </a:extLst>
          </p:cNvPr>
          <p:cNvSpPr txBox="1"/>
          <p:nvPr/>
        </p:nvSpPr>
        <p:spPr>
          <a:xfrm>
            <a:off x="9074498" y="4406187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pic>
        <p:nvPicPr>
          <p:cNvPr id="10" name="Onlinebild-Platzhalter 9">
            <a:extLst>
              <a:ext uri="{FF2B5EF4-FFF2-40B4-BE49-F238E27FC236}">
                <a16:creationId xmlns:a16="http://schemas.microsoft.com/office/drawing/2014/main" id="{A907CF7F-F54A-5BF6-305D-6113444AB8A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69874" y="2162175"/>
            <a:ext cx="4488714" cy="274478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38FA080-C6C5-0804-E146-95AEA33F419C}"/>
              </a:ext>
            </a:extLst>
          </p:cNvPr>
          <p:cNvSpPr txBox="1"/>
          <p:nvPr/>
        </p:nvSpPr>
        <p:spPr>
          <a:xfrm>
            <a:off x="5713998" y="4134688"/>
            <a:ext cx="22591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/>
              <a:t>trayectoria geodésica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329365-B87A-FC18-5812-7232F4120901}"/>
              </a:ext>
            </a:extLst>
          </p:cNvPr>
          <p:cNvSpPr txBox="1"/>
          <p:nvPr/>
        </p:nvSpPr>
        <p:spPr>
          <a:xfrm>
            <a:off x="628349" y="3026692"/>
            <a:ext cx="220311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1100" noProof="1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trayectoria observada no representa un error de control, sino una solución equivalente en el dominio angular circular, donde el agente sigue </a:t>
            </a:r>
            <a:r>
              <a:rPr lang="es-ES_tradnl" sz="1100" b="1" noProof="1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 trayectoria geodésica</a:t>
            </a:r>
            <a:r>
              <a:rPr lang="es-ES_tradnl" sz="1100" noProof="1">
                <a:solidFill>
                  <a:srgbClr val="0E0E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hacia la referencia.</a:t>
            </a: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230D44B4-EBB9-D004-FB6E-E697D857C5F1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721431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8ACC-7877-0552-24CF-0558496F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A228CD5-D954-A0BC-B2BC-C72B15A5DE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/>
              <a:t>Respuesta dinámica del sector 3</a:t>
            </a:r>
          </a:p>
          <a:p>
            <a:endParaRPr lang="es-ES_tradnl" noProof="1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2D91A0-B268-F911-CCB1-1EDBF9B1471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22882993"/>
              </p:ext>
            </p:extLst>
          </p:nvPr>
        </p:nvGraphicFramePr>
        <p:xfrm>
          <a:off x="693738" y="5094288"/>
          <a:ext cx="10532960" cy="1122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O1sp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-99.00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-97.71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99.00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1.29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28.13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40.95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3.72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8281.02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896.96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44.82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-117.00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-110.77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117.00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6.23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35.39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136.39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9383.71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1020.65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40.48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-135.00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-124.41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10.59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43.23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223.11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10788.43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1148.69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39.95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-153.00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-139.55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153.00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13.44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51.20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285.86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12885.84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1356.16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44.45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-171.00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-156.43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171.00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59.21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321.92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4.92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14500.28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1514.55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40.96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4DB82F6B-FF68-D513-81EE-6CC2DF7F9B10}"/>
              </a:ext>
            </a:extLst>
          </p:cNvPr>
          <p:cNvSpPr txBox="1"/>
          <p:nvPr/>
        </p:nvSpPr>
        <p:spPr>
          <a:xfrm>
            <a:off x="9074498" y="4406187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F76E6203-C762-955A-C366-C4B9B58D163A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69874" y="2162175"/>
            <a:ext cx="4488714" cy="2744788"/>
          </a:xfrm>
          <a:prstGeom prst="rect">
            <a:avLst/>
          </a:prstGeom>
        </p:spPr>
      </p:pic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83AEC82E-CEB3-FCCC-CA94-FF6345F979BA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57919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546B-B812-DA12-D3F8-B22D74EC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716ED80-9932-9636-EA22-C594A10256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/>
              <a:t>Respuesta dinámica del sector 4</a:t>
            </a:r>
          </a:p>
          <a:p>
            <a:endParaRPr lang="es-ES_tradnl" noProof="1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CA471041-4583-3A8F-1550-D0644E57954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206684483"/>
              </p:ext>
            </p:extLst>
          </p:nvPr>
        </p:nvGraphicFramePr>
        <p:xfrm>
          <a:off x="693738" y="5094288"/>
          <a:ext cx="10532960" cy="1122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O1sp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-27.00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-35.65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8.65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155.90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3952.54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481.99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35.68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-20.62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11.61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11.40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208.82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2422.99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309.84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32.45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-45.00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-52.20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7.19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12.10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130.30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5035.10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599.87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36.45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-63.00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-69.08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6.08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16.35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112.86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6103.75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694.11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38.30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-81.00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-84.47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81.00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21.69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71.52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3.47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7204.23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788.90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50.35</a:t>
                      </a:r>
                      <a:endParaRPr lang="es-ES_tradnl" sz="12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49645141-21A7-3E3A-66F3-E1037F3EDEFB}"/>
              </a:ext>
            </a:extLst>
          </p:cNvPr>
          <p:cNvSpPr txBox="1"/>
          <p:nvPr/>
        </p:nvSpPr>
        <p:spPr>
          <a:xfrm>
            <a:off x="9074498" y="4406187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F697F348-2B5C-DA14-65FB-7FA6402BC6A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69874" y="2162175"/>
            <a:ext cx="4488714" cy="2744788"/>
          </a:xfrm>
          <a:prstGeom prst="rect">
            <a:avLst/>
          </a:prstGeom>
        </p:spPr>
      </p:pic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8CB28913-D9B2-B8D1-5A73-AA7AA8F86D76}"/>
              </a:ext>
            </a:extLst>
          </p:cNvPr>
          <p:cNvSpPr txBox="1">
            <a:spLocks/>
          </p:cNvSpPr>
          <p:nvPr/>
        </p:nvSpPr>
        <p:spPr>
          <a:xfrm>
            <a:off x="520700" y="6477000"/>
            <a:ext cx="11518900" cy="2444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85292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1570</Words>
  <Application>Microsoft Macintosh PowerPoint</Application>
  <PresentationFormat>Breitbild</PresentationFormat>
  <Paragraphs>667</Paragraphs>
  <Slides>10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Symbol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2026-03-29T05:01:48Z</dcterms:created>
  <dcterms:modified xsi:type="dcterms:W3CDTF">2026-04-11T18:15:28Z</dcterms:modified>
</cp:coreProperties>
</file>