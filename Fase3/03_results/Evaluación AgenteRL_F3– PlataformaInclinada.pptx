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598" r:id="rId2"/>
    <p:sldId id="599" r:id="rId3"/>
    <p:sldId id="600" r:id="rId4"/>
    <p:sldId id="601" r:id="rId5"/>
    <p:sldId id="602" r:id="rId6"/>
    <p:sldId id="603" r:id="rId7"/>
    <p:sldId id="604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56"/>
    <p:restoredTop sz="94635"/>
  </p:normalViewPr>
  <p:slideViewPr>
    <p:cSldViewPr snapToGrid="0">
      <p:cViewPr varScale="1">
        <p:scale>
          <a:sx n="115" d="100"/>
          <a:sy n="115" d="100"/>
        </p:scale>
        <p:origin x="7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D6FC4D-DE83-CD9D-1AA5-87F8C78A4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8FA4E94-C78E-D805-32F8-0E4C8DAEB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54089F-0816-0F19-62E5-1DB2DB426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E60C1E-29D1-4DB2-CE14-7F432859E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5434F7-2C65-AD1B-9BAD-F214295DA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91167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2DA922-B522-43F3-3AE2-2846428BE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730C2A-5EC5-0AC6-7746-1CEA0ABAC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DC7B7F-C27D-61B4-D6CA-6A44D21E2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40A1F3-B0F1-0AB0-5EF1-30B826B8E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9C68A8-CC04-3834-4E6E-218724B99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1058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67F4CB-5C98-A205-5B82-62325E68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0010D4C-4A37-828E-37CD-CC7D4FC19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C3A58D-210D-33FB-3AF7-3AC13AAF6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70BC01-C814-E248-DD84-72B11F6B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346B47-6165-3821-6CA6-59834C0B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17503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D4E595-8D3D-FF1D-7963-645345481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303874-3BF0-D2A8-0274-918DF4B3D9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402BFB1-AC2E-107E-3426-16946AA9C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CB5216-06A8-56FE-7124-BB939E87B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BF818F-9019-DC0F-EE42-C5AB5B26E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0359056-1715-ED59-45BA-2AD453890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19500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60C6C9-4188-807D-900F-8FFB3E5AB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11892D-C0EB-EE33-D0E4-0BD89CC0D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EED8FB0-8F7A-3C64-3760-0826FFBBD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1E29C74-D31B-EC12-6CBC-0688DE8A5D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91F58BF-A462-3398-F229-B532E8242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1E8C3DE-7C14-4DB0-784E-AA9C416CC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75B40B3-076A-2E70-073F-85A738CC5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136AFDA-70CF-A1C7-2492-EEE9E7AC6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24682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815DB3-59FF-87AD-71B5-FE1CF19B0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7C61110-3FD9-1DDC-D262-349345003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D7A658-800E-3091-3A65-76D516B27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28D863E-096B-AA5E-57EF-8DF9F1251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20069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36CD28E-C10A-E756-A0DA-0CD3B4D58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E3D1ECA-CAA3-2F71-2188-79AED74AB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7700B4-570A-A342-84EA-2371065E5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94694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0017FC-C412-FD4A-DF0C-DBCD68011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EDA99B-7821-6829-C5FE-62F669CD5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8F33062-F706-43C2-23EE-78DB07FFE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E71E00-2FB2-B4D8-E685-DF496BE17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254704E-4E30-9F76-9C60-2B5635F21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FA8B2B2-CDA5-2175-04B5-A3117AE85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47932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6F239B-6BA6-CCC7-58E5-6F7C89B4E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B114085-2109-8271-8393-561F5860AD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D31830B-3409-C0EA-9232-23FD51764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FB0013E-A354-05DD-3B40-E9E6B6D43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D239D22-B22C-90EB-BF7D-E4DCD980B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99DA0D-0BEC-E660-6BA4-40744404D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91206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36219D-C08E-955C-F67C-3F3856AD4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FA0EBC5-59B5-862C-3EF2-F4A496F3C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165E35-1EA7-3AFE-56C3-1CD0A08D7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4DC590-CD91-1437-00D6-0795CA0E0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3975FA-EC17-825A-9F62-372B2BDAB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05381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B26C000-9353-FAB5-7DBE-3FD3EF7F4C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BB24C20-4DE8-07DD-F8F2-279DC9CE6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74D6C5-BB60-5E30-C120-B42357EC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BE0D-0604-1F4B-AC66-9F97D0667034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85DC2C-F4E1-C9DB-845C-5C2A0597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EEF82C-EF40-6DEE-B00E-A59E818D4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9697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63645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nlinebild-Platzhalter 13">
            <a:extLst>
              <a:ext uri="{FF2B5EF4-FFF2-40B4-BE49-F238E27FC236}">
                <a16:creationId xmlns:a16="http://schemas.microsoft.com/office/drawing/2014/main" id="{FD9EF390-3AFD-9D64-1273-017BE22D9A62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520862" y="2150672"/>
            <a:ext cx="5365750" cy="4008437"/>
          </a:xfrm>
        </p:spPr>
        <p:txBody>
          <a:bodyPr/>
          <a:lstStyle/>
          <a:p>
            <a:endParaRPr lang="es-ES_tradnl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5360E26-BFAE-B334-4899-0F825BFBC3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53093" y="2077326"/>
            <a:ext cx="2721697" cy="2147028"/>
          </a:xfrm>
          <a:prstGeom prst="rect">
            <a:avLst/>
          </a:prstGeom>
        </p:spPr>
      </p:pic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BE6DE186-B408-4201-17FA-17FDB7A4014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093" y="4424206"/>
            <a:ext cx="4571997" cy="4656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69449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77331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43401E7-8B1E-65D7-5FA5-AE29BCDE2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8E2E02-B487-5BC4-A56A-922B5157B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6E9F84-02C0-A34D-AAC6-D56EF4A134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1BE0D-0604-1F4B-AC66-9F97D0667034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B8087-821B-4B42-756F-887BEB2B2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9AE291-5B5D-6910-24A2-482F558A6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A218B2-09ED-074D-A094-C705B6948123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52016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FA0AD-177A-EA78-BEDE-2E7508F77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072B2D4-4228-ED11-25FA-C9F43F413E4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5064755" cy="1217510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</a:pPr>
            <a:r>
              <a:rPr lang="es-ES_tradnl" sz="1400" dirty="0"/>
              <a:t>La posición inicial introduce distorsiones no uniformes en el RMSE, incrementando el error medio de 87.87° a más de 100° y evidenciando una fuerte dependencia del desempeño respecto al estado inicial.</a:t>
            </a:r>
          </a:p>
          <a:p>
            <a:pPr algn="l">
              <a:lnSpc>
                <a:spcPct val="120000"/>
              </a:lnSpc>
            </a:pPr>
            <a:endParaRPr lang="es-ES_tradnl" sz="140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AF59E1-852E-C7F5-8D6C-79AE137996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</a:t>
            </a:r>
          </a:p>
          <a:p>
            <a:endParaRPr lang="es-ES_tradnl" dirty="0"/>
          </a:p>
        </p:txBody>
      </p:sp>
      <p:sp>
        <p:nvSpPr>
          <p:cNvPr id="7" name="Inhaltsplatzhalter 7">
            <a:extLst>
              <a:ext uri="{FF2B5EF4-FFF2-40B4-BE49-F238E27FC236}">
                <a16:creationId xmlns:a16="http://schemas.microsoft.com/office/drawing/2014/main" id="{A5415FA0-A189-7E22-288A-08E54E2F6694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6353093" y="4424206"/>
            <a:ext cx="4571997" cy="67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b="1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o1ini: (-90°, 0°, 90°)</a:t>
            </a:r>
          </a:p>
          <a:p>
            <a:pPr algn="l"/>
            <a:r>
              <a:rPr lang="es-ES_tradnl" sz="14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do1ini= 0°, Retardo=0ms </a:t>
            </a:r>
            <a:endParaRPr lang="es-ES_tradnl" sz="1400" dirty="0"/>
          </a:p>
          <a:p>
            <a:pPr algn="l"/>
            <a:endParaRPr lang="es-ES_tradnl" sz="1400" b="1" dirty="0"/>
          </a:p>
        </p:txBody>
      </p:sp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D14D9C08-2D60-B22E-14EB-710AE7E0D0DD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9" name="Onlinebild-Platzhalter 8">
            <a:extLst>
              <a:ext uri="{FF2B5EF4-FFF2-40B4-BE49-F238E27FC236}">
                <a16:creationId xmlns:a16="http://schemas.microsoft.com/office/drawing/2014/main" id="{F3C64DE5-8FFD-2224-1558-FBFAE40A954F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20700" y="2231013"/>
            <a:ext cx="5365750" cy="384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154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9A486-BBEF-7FF8-78B3-C7DFA3DDA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818540C-B01E-E29D-ED56-9CE8C2E366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dirty="0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1DEB9198-A71D-F003-33F5-FF73784D7F12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691298062"/>
              </p:ext>
            </p:extLst>
          </p:nvPr>
        </p:nvGraphicFramePr>
        <p:xfrm>
          <a:off x="606425" y="4962525"/>
          <a:ext cx="10532960" cy="1290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35.91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-5.51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-12.23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9.09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13.03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164.49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2.68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41.06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14.84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30.93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37.14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7.86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13.27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143.67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113.00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3.05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53.34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16.11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38.54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37.14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-3.04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-6.76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7.86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46.09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183.78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107.00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3.43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68.80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18.25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29.38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  <a:endParaRPr lang="de-DE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EBD2651D-A391-FD99-23F9-37F4DFBA4010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dirty="0"/>
              <a:t>El sistema mantiene estabilidad en condiciones nominales, pero presenta degradaciones severas para estados iniciales extremos, incluyendo pérdida de seguimiento y divergencia.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CDAB0B2E-96C5-CF6B-4233-6C1F28920959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314268" y="2045381"/>
            <a:ext cx="6994504" cy="2548390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C52A18CE-1AC1-4D12-3426-A05B2E3119EA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071624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F1EAF-592A-B2A8-57D0-0C7E355B2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90722F-EFE4-95C7-C887-3215C303E3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</a:t>
            </a:r>
          </a:p>
          <a:p>
            <a:endParaRPr lang="es-ES_tradnl" dirty="0"/>
          </a:p>
        </p:txBody>
      </p:sp>
      <p:sp>
        <p:nvSpPr>
          <p:cNvPr id="11" name="Inhaltsplatzhalter 4">
            <a:extLst>
              <a:ext uri="{FF2B5EF4-FFF2-40B4-BE49-F238E27FC236}">
                <a16:creationId xmlns:a16="http://schemas.microsoft.com/office/drawing/2014/main" id="{EEC9904A-EB0A-B579-6BFB-4E53595A77A1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Retardo: (0, 10, 20)[ms]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o1ini= 0°, do1ini= 0° </a:t>
            </a:r>
            <a:endParaRPr lang="es-ES_tradnl" dirty="0"/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C9D9FE7A-FE32-AB19-3A08-189403D905B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858024" cy="977315"/>
          </a:xfrm>
        </p:spPr>
        <p:txBody>
          <a:bodyPr>
            <a:noAutofit/>
          </a:bodyPr>
          <a:lstStyle/>
          <a:p>
            <a:pPr algn="l"/>
            <a:r>
              <a:rPr lang="es-ES_tradnl" sz="1400" dirty="0"/>
              <a:t>El retardo de señal </a:t>
            </a:r>
            <a:r>
              <a:rPr lang="es-ES_tradnl" sz="1400" b="1" dirty="0"/>
              <a:t>no altera la forma global del RMSE</a:t>
            </a:r>
            <a:r>
              <a:rPr lang="es-ES_tradnl" sz="1400" dirty="0"/>
              <a:t>, que se mantiene prácticamente superpuesta en todo el dominio angular. Su efecto se limita a una </a:t>
            </a:r>
            <a:r>
              <a:rPr lang="es-ES_tradnl" sz="1400" b="1" dirty="0"/>
              <a:t>penalización leve y uniforme</a:t>
            </a:r>
            <a:r>
              <a:rPr lang="es-ES_tradnl" sz="1400" dirty="0"/>
              <a:t>, con un incremento del RMSE medio desde </a:t>
            </a:r>
            <a:r>
              <a:rPr lang="es-ES_tradnl" sz="1400" b="1" dirty="0"/>
              <a:t>31.50°</a:t>
            </a:r>
            <a:r>
              <a:rPr lang="es-ES_tradnl" sz="1400" dirty="0"/>
              <a:t> hasta </a:t>
            </a:r>
            <a:r>
              <a:rPr lang="es-ES_tradnl" sz="1400" b="1" dirty="0"/>
              <a:t>31.98°</a:t>
            </a:r>
            <a:r>
              <a:rPr lang="es-ES_tradnl" sz="1400" dirty="0"/>
              <a:t>.</a:t>
            </a:r>
          </a:p>
          <a:p>
            <a:pPr algn="l">
              <a:lnSpc>
                <a:spcPct val="120000"/>
              </a:lnSpc>
            </a:pPr>
            <a:endParaRPr lang="es-ES_tradnl" sz="1400" dirty="0"/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8035EFA6-236A-B09D-E904-7B56B0FDC780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7" name="Onlinebild-Platzhalter 6">
            <a:extLst>
              <a:ext uri="{FF2B5EF4-FFF2-40B4-BE49-F238E27FC236}">
                <a16:creationId xmlns:a16="http://schemas.microsoft.com/office/drawing/2014/main" id="{E0A7FC73-1091-DBA6-1884-C955EB1BC6C0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20700" y="2231013"/>
            <a:ext cx="5365750" cy="384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617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2DF81-0D1A-728D-8B84-8ED1B5318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9F0A2D-7B9A-FBEF-72E7-A719962B97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señal. o1sp=45°</a:t>
            </a:r>
          </a:p>
          <a:p>
            <a:endParaRPr lang="es-ES_tradnl" dirty="0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25B905A1-567D-272A-0FEE-36E67AAD84C3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05021749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35.91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-5.51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-12.23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9.09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13.03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164.49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140.00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2.68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41.06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14.84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30.93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35.93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-3.78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-8.40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9.07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13.10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163.92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172.00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2.74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43.07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15.06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35.59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35.91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-1.78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-3.95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9.09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13.20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164.01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161.00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45.67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15.29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44.09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  <a:endParaRPr lang="de-DE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5EE9B4F-6203-9C6B-767D-A79B76EEB48F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dirty="0"/>
              <a:t>En la respuesta temporal, el sistema mantiene estabilidad y convergencia en los tres casos. El retardo produce solo una degradación moderada del transitorio, reflejada en un ligero aumento del RMSE (13.03° → 13.20°) y del esfuerzo de control, sin afectar de forma significativa el error estacionario.</a:t>
            </a:r>
          </a:p>
        </p:txBody>
      </p:sp>
      <p:pic>
        <p:nvPicPr>
          <p:cNvPr id="9" name="Onlinebild-Platzhalter 8">
            <a:extLst>
              <a:ext uri="{FF2B5EF4-FFF2-40B4-BE49-F238E27FC236}">
                <a16:creationId xmlns:a16="http://schemas.microsoft.com/office/drawing/2014/main" id="{93A6ADD2-EED9-5C11-EC2E-8B758DFA2F80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668487" y="2098675"/>
            <a:ext cx="6498770" cy="2506663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A3D25D8E-5D52-A83B-46C7-C5BB66347F89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801352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21285-0DE8-BDAF-9BDE-B84260339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797BA6-49AA-106E-97C3-1B46D80C6B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</a:t>
            </a:r>
          </a:p>
          <a:p>
            <a:endParaRPr lang="es-ES_tradnl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B592006-2B41-54F3-7476-73F3ED8BDA5F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do1ini= (-0.5, 0, 0.5) [rad/s]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=-10°, o1ini= 0°, Retardo=0ms </a:t>
            </a:r>
            <a:endParaRPr lang="es-ES_tradnl" dirty="0"/>
          </a:p>
          <a:p>
            <a:endParaRPr lang="es-ES_tradnl" b="1" dirty="0"/>
          </a:p>
          <a:p>
            <a:endParaRPr lang="es-ES_tradnl" dirty="0"/>
          </a:p>
        </p:txBody>
      </p:sp>
      <p:sp>
        <p:nvSpPr>
          <p:cNvPr id="9" name="Inhaltsplatzhalter 1">
            <a:extLst>
              <a:ext uri="{FF2B5EF4-FFF2-40B4-BE49-F238E27FC236}">
                <a16:creationId xmlns:a16="http://schemas.microsoft.com/office/drawing/2014/main" id="{342C0F83-8B1F-83FD-8996-A0A793200CF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1503764"/>
          </a:xfrm>
        </p:spPr>
        <p:txBody>
          <a:bodyPr>
            <a:noAutofit/>
          </a:bodyPr>
          <a:lstStyle/>
          <a:p>
            <a:pPr algn="l"/>
            <a:r>
              <a:rPr lang="es-ES_tradnl" sz="1400" dirty="0"/>
              <a:t>La velocidad angular inicial introduce distorsiones asimétricas en el RMSE, manteniendo la continuidad pero con una clara dependencia del signo de do1ini. Se observa un incremento del error hasta 34.97°, frente a 30.31°–31.50° en condiciones menos exigentes.</a:t>
            </a:r>
          </a:p>
          <a:p>
            <a:pPr algn="l">
              <a:lnSpc>
                <a:spcPct val="120000"/>
              </a:lnSpc>
            </a:pPr>
            <a:endParaRPr lang="es-ES_tradnl" sz="1400" dirty="0"/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51AEBD85-0E88-AB95-4406-5E18B7D92621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7" name="Onlinebild-Platzhalter 6">
            <a:extLst>
              <a:ext uri="{FF2B5EF4-FFF2-40B4-BE49-F238E27FC236}">
                <a16:creationId xmlns:a16="http://schemas.microsoft.com/office/drawing/2014/main" id="{5400D3B3-B51A-4D5B-F321-3353CD34DD9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20700" y="2231013"/>
            <a:ext cx="5365750" cy="384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1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CDEEB-DF16-4621-C609-BA98DE1D5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77B0237-F8E9-92AB-7C3E-55020ECE37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 o1sp=45°</a:t>
            </a:r>
          </a:p>
          <a:p>
            <a:endParaRPr lang="es-ES_tradnl" dirty="0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DB70FC2B-5BF4-F311-44C2-921169B33358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692264347"/>
              </p:ext>
            </p:extLst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35.91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-3.76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-8.36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9.09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11.43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163.55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0.28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137.00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2.55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36.91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14.35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31.75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35.91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-5.51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-12.23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9.09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13.03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164.49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2.68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41.06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14.84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30.93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-3.14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35.91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-4.99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-11.09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9.09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16.82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167.28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126.00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45.34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15.38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59.32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  <a:endParaRPr lang="de-DE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3EB5F1F5-D59D-CDFA-5266-7972933FE2DD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64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dirty="0"/>
              <a:t>El sistema mantiene la convergencia en todos los casos, pero la velocidad inicial modifica el transitorio, generando variaciones en el RMSE (11.43° → 16.82°) y en el esfuerzo de control, sin afectar el error estacionario.</a:t>
            </a:r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9176FCBC-CC98-584C-B960-307BADA6ED5C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9" name="Onlinebild-Platzhalter 8">
            <a:extLst>
              <a:ext uri="{FF2B5EF4-FFF2-40B4-BE49-F238E27FC236}">
                <a16:creationId xmlns:a16="http://schemas.microsoft.com/office/drawing/2014/main" id="{DC180E20-0DD6-5AAF-EB5C-6EEF30BB6925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449171" y="2078038"/>
            <a:ext cx="6078070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45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59005-85D8-6318-B9FC-F01A11E6F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F4EB4D-8262-DDD2-2CD1-43C8DD1F2A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Influencias de las perturbaciones en plataforma plana</a:t>
            </a:r>
          </a:p>
          <a:p>
            <a:endParaRPr lang="es-ES_tradnl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011B0D6-CE03-4DC4-3971-3FDB9F94051D}"/>
              </a:ext>
            </a:extLst>
          </p:cNvPr>
          <p:cNvSpPr txBox="1"/>
          <p:nvPr/>
        </p:nvSpPr>
        <p:spPr>
          <a:xfrm>
            <a:off x="1220412" y="5002600"/>
            <a:ext cx="15326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o1ini: (-90, 0 , 90) [°]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780B6BC-6C56-0C43-48FD-8C47E9F9D0D1}"/>
              </a:ext>
            </a:extLst>
          </p:cNvPr>
          <p:cNvSpPr txBox="1"/>
          <p:nvPr/>
        </p:nvSpPr>
        <p:spPr>
          <a:xfrm>
            <a:off x="5069907" y="5008526"/>
            <a:ext cx="1685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Retardo: (0, 0.01, 0.02) [ms]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0DF2D25-B0AD-9E22-2CCE-D37391EFBF3B}"/>
              </a:ext>
            </a:extLst>
          </p:cNvPr>
          <p:cNvSpPr txBox="1"/>
          <p:nvPr/>
        </p:nvSpPr>
        <p:spPr>
          <a:xfrm>
            <a:off x="9040777" y="5002227"/>
            <a:ext cx="15069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do1ini: (-0.5, 0, 0.5)[rad/s]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503A256-9A44-CABB-E6B4-51438901EC07}"/>
              </a:ext>
            </a:extLst>
          </p:cNvPr>
          <p:cNvSpPr txBox="1"/>
          <p:nvPr/>
        </p:nvSpPr>
        <p:spPr>
          <a:xfrm>
            <a:off x="376884" y="5440095"/>
            <a:ext cx="1160917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agente mantiene la continuidad del RMSE, pero con pérdida de simetría y aumento del error global bajo inclinación.</a:t>
            </a:r>
          </a:p>
          <a:p>
            <a:pPr algn="ctr"/>
            <a:endParaRPr lang="es-ES_tradnl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retardo tiene un impacto mínimo, mientras que las condiciones iniciales —especialmente la velocidad— generan distorsiones y degradaciones en el transitorio, evidenciando limitaciones en la generalización bajo carga gravitacional</a:t>
            </a:r>
          </a:p>
          <a:p>
            <a:pPr algn="ctr"/>
            <a:endParaRPr lang="es-ES_tradnl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nlinebild-Platzhalter 7">
            <a:extLst>
              <a:ext uri="{FF2B5EF4-FFF2-40B4-BE49-F238E27FC236}">
                <a16:creationId xmlns:a16="http://schemas.microsoft.com/office/drawing/2014/main" id="{DE912F3C-DBBC-DB12-FC76-F68192F85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62" y="2283299"/>
            <a:ext cx="3578647" cy="2737914"/>
          </a:xfrm>
          <a:prstGeom prst="rect">
            <a:avLst/>
          </a:prstGeom>
        </p:spPr>
      </p:pic>
      <p:pic>
        <p:nvPicPr>
          <p:cNvPr id="9" name="Onlinebild-Platzhalter 4">
            <a:extLst>
              <a:ext uri="{FF2B5EF4-FFF2-40B4-BE49-F238E27FC236}">
                <a16:creationId xmlns:a16="http://schemas.microsoft.com/office/drawing/2014/main" id="{6C66AF91-51FE-5F5D-B4EA-2D75A257351A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3"/>
          <a:stretch>
            <a:fillRect/>
          </a:stretch>
        </p:blipFill>
        <p:spPr>
          <a:xfrm>
            <a:off x="4185854" y="2283300"/>
            <a:ext cx="3598656" cy="2753222"/>
          </a:xfrm>
          <a:prstGeom prst="rect">
            <a:avLst/>
          </a:prstGeom>
        </p:spPr>
      </p:pic>
      <p:pic>
        <p:nvPicPr>
          <p:cNvPr id="10" name="Onlinebild-Platzhalter 7">
            <a:extLst>
              <a:ext uri="{FF2B5EF4-FFF2-40B4-BE49-F238E27FC236}">
                <a16:creationId xmlns:a16="http://schemas.microsoft.com/office/drawing/2014/main" id="{2ECA99CD-8CB8-C71C-4A21-EA6CE152C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856" y="2283300"/>
            <a:ext cx="3598656" cy="2753222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D7252E2A-D73D-EFDE-DF37-388D5E7B05D5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759236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924</Words>
  <Application>Microsoft Macintosh PowerPoint</Application>
  <PresentationFormat>Breitbild</PresentationFormat>
  <Paragraphs>224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2</cp:revision>
  <dcterms:created xsi:type="dcterms:W3CDTF">2026-03-29T07:44:01Z</dcterms:created>
  <dcterms:modified xsi:type="dcterms:W3CDTF">2026-04-11T19:07:11Z</dcterms:modified>
</cp:coreProperties>
</file>