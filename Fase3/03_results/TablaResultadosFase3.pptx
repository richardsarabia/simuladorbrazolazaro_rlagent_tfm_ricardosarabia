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729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35"/>
  </p:normalViewPr>
  <p:slideViewPr>
    <p:cSldViewPr snapToGrid="0">
      <p:cViewPr varScale="1">
        <p:scale>
          <a:sx n="101" d="100"/>
          <a:sy n="101" d="100"/>
        </p:scale>
        <p:origin x="1192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A8C416-A711-9740-B5CE-6E44CE021455}" type="datetimeFigureOut">
              <a:rPr lang="es-ES_tradnl" smtClean="0"/>
              <a:t>7/4/26</a:t>
            </a:fld>
            <a:endParaRPr lang="es-ES_tradnl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_tradnl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9C50B6-6298-7742-A7E2-3FB9072B9E69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021079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7DB69C-A69C-E70C-86D9-658309E56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D226BAD0-F709-D950-AB96-FD48ADA30C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s-ES_tradnl" dirty="0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53654B79-506A-C02A-B35A-F2287542DA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82CA8F9-5448-31A9-A487-C10D9704FD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4785C0-5D3C-044C-86BD-FEC1FEF91D7D}" type="slidenum">
              <a:rPr lang="es-ES_tradnl" smtClean="0"/>
              <a:t>1</a:t>
            </a:fld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30826278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B27B6CE-6FE6-BF1E-FF75-BA77B55EF8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F050777-766B-E27A-F2D2-D3D4321AD7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6C67D06-D535-5D8A-54D3-8586CA16E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AC20D-DFF4-0343-AD0F-8D530974BF87}" type="datetimeFigureOut">
              <a:rPr lang="es-ES_tradnl" smtClean="0"/>
              <a:t>7/4/26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2CBD15A-25A5-25CF-ADA0-CB26513EC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6B6FB3C-7FEF-F5DC-F3CC-D2970A349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A6EBC-2132-AB48-ADCA-A446BBA13F90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1500818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A0ACC61-36CC-2AB0-7D5A-5F4BA1E2E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BC1A123-1E2D-97B1-3DCE-8897488B23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65A0FB9-96D9-ED3F-2094-21B825930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AC20D-DFF4-0343-AD0F-8D530974BF87}" type="datetimeFigureOut">
              <a:rPr lang="es-ES_tradnl" smtClean="0"/>
              <a:t>7/4/26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26B2D0C-F311-60F6-29DC-753FF2199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861FD17-07CB-7558-3558-288D78985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A6EBC-2132-AB48-ADCA-A446BBA13F90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6377231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816D8E8-D911-A6D0-D7C3-2166CD7196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574A02D-6AE9-7131-4154-C0B4B0E855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FC3F1B1-CCB1-AD2D-306D-222EB941A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AC20D-DFF4-0343-AD0F-8D530974BF87}" type="datetimeFigureOut">
              <a:rPr lang="es-ES_tradnl" smtClean="0"/>
              <a:t>7/4/26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28F3682-88EE-8768-B9E4-E8E53AA7F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A6BDB5C-58BE-E583-456D-483D66217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A6EBC-2132-AB48-ADCA-A446BBA13F90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0097551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7E31C04-8B0B-0AA0-741F-8E0C5FA94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478848-9B26-2804-0F85-849CC65D66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D23A0CE-68D3-E5F1-EFE9-1B8A6F9C4C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DA9C4AB-2E2D-2778-C007-3D6F1156B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AC20D-DFF4-0343-AD0F-8D530974BF87}" type="datetimeFigureOut">
              <a:rPr lang="es-ES_tradnl" smtClean="0"/>
              <a:t>7/4/26</a:t>
            </a:fld>
            <a:endParaRPr lang="es-ES_tradnl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E60D500-78DD-E32A-68D6-3C3E73A5D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E1CE76F-AF20-52A4-1D6F-232F33D0B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A6EBC-2132-AB48-ADCA-A446BBA13F90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606237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326598-B7A1-A97F-2C8F-259410533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AF4B9B2-5452-C0BF-5420-BEFB40410D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896AE87-04B1-26FE-03AA-EB7F795D61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1D04BEDA-B166-B4F2-CD21-AD26BB47FD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B28D15DB-D1E8-DECA-52B1-2E655EE457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AA3D971B-D5CC-CF77-3C40-BF4A186C6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AC20D-DFF4-0343-AD0F-8D530974BF87}" type="datetimeFigureOut">
              <a:rPr lang="es-ES_tradnl" smtClean="0"/>
              <a:t>7/4/26</a:t>
            </a:fld>
            <a:endParaRPr lang="es-ES_tradnl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02AB26DF-CE05-650B-E3E2-49D2329C8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A9D4CCE2-FEB7-A8F8-3143-ECEEC3543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A6EBC-2132-AB48-ADCA-A446BBA13F90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627825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97AC149-A99B-0485-BC19-1B8DE82CC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B9D40F1-2C5D-837D-BDC9-264A02BB4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AC20D-DFF4-0343-AD0F-8D530974BF87}" type="datetimeFigureOut">
              <a:rPr lang="es-ES_tradnl" smtClean="0"/>
              <a:t>7/4/26</a:t>
            </a:fld>
            <a:endParaRPr lang="es-ES_tradnl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A76FB8A-0539-2EB4-249A-12CC3C541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85FBB5C-96CD-2AC3-FC5A-52B1DD249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A6EBC-2132-AB48-ADCA-A446BBA13F90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010675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0C0C93BB-D7A3-C3A6-27E2-1C6798EED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AC20D-DFF4-0343-AD0F-8D530974BF87}" type="datetimeFigureOut">
              <a:rPr lang="es-ES_tradnl" smtClean="0"/>
              <a:t>7/4/26</a:t>
            </a:fld>
            <a:endParaRPr lang="es-ES_tradnl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4782D78-0B6E-72E1-8E3B-8EF2C87E3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5E65571-7941-C058-EAC4-8C3E59F73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A6EBC-2132-AB48-ADCA-A446BBA13F90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3212350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3621217-35E3-C73D-9765-AED03CE16F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C0C42E6-AAFC-C665-4981-8408FF1DDE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E48BD63-7C95-B8FD-8F6C-0FD3AD9D38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C5B461C-9129-69FB-2DC6-5C76CB443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AC20D-DFF4-0343-AD0F-8D530974BF87}" type="datetimeFigureOut">
              <a:rPr lang="es-ES_tradnl" smtClean="0"/>
              <a:t>7/4/26</a:t>
            </a:fld>
            <a:endParaRPr lang="es-ES_tradnl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DF736B3-F614-4CC6-5ED9-9D8F8AEFE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5557C24-A141-6AD3-0A47-377C22E69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A6EBC-2132-AB48-ADCA-A446BBA13F90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7945118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4D5186-B049-41B0-A747-A8A9251C70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36F09F47-16B4-1C36-F312-966D4B2BAB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1FFCD92-87C7-BEAC-C3CF-FF4D9DB189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C8B89FE-E241-37C7-7C31-3CF0D3C90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AC20D-DFF4-0343-AD0F-8D530974BF87}" type="datetimeFigureOut">
              <a:rPr lang="es-ES_tradnl" smtClean="0"/>
              <a:t>7/4/26</a:t>
            </a:fld>
            <a:endParaRPr lang="es-ES_tradnl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6377ED2-C6C6-6432-C53C-62A0D5AFF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41CA7D6-2D91-2085-59F2-FC34021B0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A6EBC-2132-AB48-ADCA-A446BBA13F90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7619533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5D5C5C6-F24E-FDCC-EEDE-027B932E6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DB5719A-7ACC-8B86-A884-530E592EF8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CA08720-5B24-DBA8-E1B0-19C97F562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AC20D-DFF4-0343-AD0F-8D530974BF87}" type="datetimeFigureOut">
              <a:rPr lang="es-ES_tradnl" smtClean="0"/>
              <a:t>7/4/26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94ACD80-6F77-8F66-188A-68C7B92BD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0AFA23A-6CB4-223C-8BCF-B429B380B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A6EBC-2132-AB48-ADCA-A446BBA13F90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232282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4E5A8141-ED2B-BFFC-80E4-FC3DFD0173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54D8BEF-EC32-6C8C-A651-5236092C0A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4EE21D0-E7FE-97E5-3B23-D02E0421A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AC20D-DFF4-0343-AD0F-8D530974BF87}" type="datetimeFigureOut">
              <a:rPr lang="es-ES_tradnl" smtClean="0"/>
              <a:t>7/4/26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37BC077-F42B-4F95-A1CE-290E8FF40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95945C1-0059-8F2E-7ADC-5C5F862BC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A6EBC-2132-AB48-ADCA-A446BBA13F90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2768761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D651788E-406C-34B5-D90C-E31F347279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B3611A7-4D37-599D-8525-2DD6FBC0A0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33DB879-5CA1-194A-07E7-F43FCEF11C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AAC20D-DFF4-0343-AD0F-8D530974BF87}" type="datetimeFigureOut">
              <a:rPr lang="es-ES_tradnl" smtClean="0"/>
              <a:t>7/4/26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DF89AC6-05B2-A560-8EF8-2C9EB72091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C3F0175-6CDA-B2E9-E39F-AABF362084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1A6EBC-2132-AB48-ADCA-A446BBA13F90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1407146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102980-EA8D-57C2-B821-E361B07AE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hteck 34">
            <a:extLst>
              <a:ext uri="{FF2B5EF4-FFF2-40B4-BE49-F238E27FC236}">
                <a16:creationId xmlns:a16="http://schemas.microsoft.com/office/drawing/2014/main" id="{244FCD96-291B-2C4F-7836-28E9BA0E4E8E}"/>
              </a:ext>
            </a:extLst>
          </p:cNvPr>
          <p:cNvSpPr/>
          <p:nvPr/>
        </p:nvSpPr>
        <p:spPr>
          <a:xfrm>
            <a:off x="-3818" y="-7820"/>
            <a:ext cx="12195818" cy="1134716"/>
          </a:xfrm>
          <a:prstGeom prst="rect">
            <a:avLst/>
          </a:prstGeom>
          <a:solidFill>
            <a:srgbClr val="7F7F7F">
              <a:alpha val="2392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pic>
        <p:nvPicPr>
          <p:cNvPr id="16" name="Imagen3">
            <a:extLst>
              <a:ext uri="{FF2B5EF4-FFF2-40B4-BE49-F238E27FC236}">
                <a16:creationId xmlns:a16="http://schemas.microsoft.com/office/drawing/2014/main" id="{810D9334-56C6-0FFF-3CCB-C599504DA2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9727160" y="198439"/>
            <a:ext cx="1732790" cy="866395"/>
          </a:xfrm>
          <a:prstGeom prst="rect">
            <a:avLst/>
          </a:prstGeom>
        </p:spPr>
      </p:pic>
      <p:graphicFrame>
        <p:nvGraphicFramePr>
          <p:cNvPr id="6" name="Tabelle 5">
            <a:extLst>
              <a:ext uri="{FF2B5EF4-FFF2-40B4-BE49-F238E27FC236}">
                <a16:creationId xmlns:a16="http://schemas.microsoft.com/office/drawing/2014/main" id="{0B6A1897-66F8-97F2-F2A2-0478444978A0}"/>
              </a:ext>
            </a:extLst>
          </p:cNvPr>
          <p:cNvGraphicFramePr>
            <a:graphicFrameLocks noGrp="1"/>
          </p:cNvGraphicFramePr>
          <p:nvPr/>
        </p:nvGraphicFramePr>
        <p:xfrm>
          <a:off x="383894" y="1428173"/>
          <a:ext cx="11424212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6572">
                  <a:extLst>
                    <a:ext uri="{9D8B030D-6E8A-4147-A177-3AD203B41FA5}">
                      <a16:colId xmlns:a16="http://schemas.microsoft.com/office/drawing/2014/main" val="3222668626"/>
                    </a:ext>
                  </a:extLst>
                </a:gridCol>
                <a:gridCol w="2162754">
                  <a:extLst>
                    <a:ext uri="{9D8B030D-6E8A-4147-A177-3AD203B41FA5}">
                      <a16:colId xmlns:a16="http://schemas.microsoft.com/office/drawing/2014/main" val="1590234807"/>
                    </a:ext>
                  </a:extLst>
                </a:gridCol>
                <a:gridCol w="2337684">
                  <a:extLst>
                    <a:ext uri="{9D8B030D-6E8A-4147-A177-3AD203B41FA5}">
                      <a16:colId xmlns:a16="http://schemas.microsoft.com/office/drawing/2014/main" val="718619757"/>
                    </a:ext>
                  </a:extLst>
                </a:gridCol>
                <a:gridCol w="2345635">
                  <a:extLst>
                    <a:ext uri="{9D8B030D-6E8A-4147-A177-3AD203B41FA5}">
                      <a16:colId xmlns:a16="http://schemas.microsoft.com/office/drawing/2014/main" val="1330888711"/>
                    </a:ext>
                  </a:extLst>
                </a:gridCol>
                <a:gridCol w="3091567">
                  <a:extLst>
                    <a:ext uri="{9D8B030D-6E8A-4147-A177-3AD203B41FA5}">
                      <a16:colId xmlns:a16="http://schemas.microsoft.com/office/drawing/2014/main" val="2235848883"/>
                    </a:ext>
                  </a:extLst>
                </a:gridCol>
              </a:tblGrid>
              <a:tr h="261733">
                <a:tc>
                  <a:txBody>
                    <a:bodyPr/>
                    <a:lstStyle/>
                    <a:p>
                      <a:pPr algn="ctr"/>
                      <a:endParaRPr lang="es-ES_tradnl" sz="1200" b="1" noProof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200" b="1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Seguimiento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_tradnl" sz="1200" b="1" noProof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200" b="1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Esfuerzo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_tradnl" sz="1200" b="1" noProof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7382554"/>
                  </a:ext>
                </a:extLst>
              </a:tr>
              <a:tr h="261733">
                <a:tc>
                  <a:txBody>
                    <a:bodyPr/>
                    <a:lstStyle/>
                    <a:p>
                      <a:pPr algn="ctr"/>
                      <a:endParaRPr lang="es-ES_tradnl" sz="1200" b="1" noProof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200" b="1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Plataforma plana [RMSE]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200" b="1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Plataforma Inclinada [RMSE]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200" b="1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Plataforma plana [U_energy]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200" b="1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Plataforma Inclinada [U_energy]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82579"/>
                  </a:ext>
                </a:extLst>
              </a:tr>
              <a:tr h="1326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Retardo=0ms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31.72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31.78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31.28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43.68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1514076"/>
                  </a:ext>
                </a:extLst>
              </a:tr>
              <a:tr h="1326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Retardo=0.01ms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32.02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32.03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37.07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46.90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7453723"/>
                  </a:ext>
                </a:extLst>
              </a:tr>
              <a:tr h="2192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Reatardo=0.02ms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32.18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32.25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63.07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65.63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69689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o1ini=-90°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30.40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29.25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29.57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41.45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04255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o1ini= 0°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31.72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31.78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31.28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43.88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49678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o1ini=90°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30.16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31.91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34.22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53.75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74109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do1ini = -0.5rad/s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31.07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30.36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29.48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40.94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03790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do1ini = 0rad/s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31.72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31.78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31.28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43.88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48140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do1ini = 0.5rad/s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33.72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34.37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33.07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47.58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5956704"/>
                  </a:ext>
                </a:extLst>
              </a:tr>
            </a:tbl>
          </a:graphicData>
        </a:graphic>
      </p:graphicFrame>
      <p:sp>
        <p:nvSpPr>
          <p:cNvPr id="8" name="Textfeld 7">
            <a:extLst>
              <a:ext uri="{FF2B5EF4-FFF2-40B4-BE49-F238E27FC236}">
                <a16:creationId xmlns:a16="http://schemas.microsoft.com/office/drawing/2014/main" id="{30027B36-A6F8-95FC-46EB-14E9DE0B6ECA}"/>
              </a:ext>
            </a:extLst>
          </p:cNvPr>
          <p:cNvSpPr txBox="1"/>
          <p:nvPr/>
        </p:nvSpPr>
        <p:spPr>
          <a:xfrm>
            <a:off x="201414" y="110727"/>
            <a:ext cx="93205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_tradnl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Tabla de Resultados. Fase 3 – Controlador RL </a:t>
            </a:r>
          </a:p>
        </p:txBody>
      </p:sp>
      <p:sp>
        <p:nvSpPr>
          <p:cNvPr id="3" name="Fußzeilenplatzhalter 1">
            <a:extLst>
              <a:ext uri="{FF2B5EF4-FFF2-40B4-BE49-F238E27FC236}">
                <a16:creationId xmlns:a16="http://schemas.microsoft.com/office/drawing/2014/main" id="{781585DE-F6E6-4E39-BFC3-7DB6539DD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2012" y="6356350"/>
            <a:ext cx="11282082" cy="365125"/>
          </a:xfrm>
        </p:spPr>
        <p:txBody>
          <a:bodyPr/>
          <a:lstStyle/>
          <a:p>
            <a:r>
              <a:rPr lang="es-ES_tradnl" sz="1000" noProof="1">
                <a:solidFill>
                  <a:schemeClr val="tx1"/>
                </a:solidFill>
              </a:rPr>
              <a:t>TFM – Master Inteligencia Artificial – Control Monoarticular aplicado en manipuladores móviles utilizando aprendizaje por refuerzo  –  Ricardo Enrique  Sarabia Palacio</a:t>
            </a:r>
          </a:p>
        </p:txBody>
      </p:sp>
    </p:spTree>
    <p:extLst>
      <p:ext uri="{BB962C8B-B14F-4D97-AF65-F5344CB8AC3E}">
        <p14:creationId xmlns:p14="http://schemas.microsoft.com/office/powerpoint/2010/main" val="29793754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130</Words>
  <Application>Microsoft Macintosh PowerPoint</Application>
  <PresentationFormat>Breitbild</PresentationFormat>
  <Paragraphs>54</Paragraphs>
  <Slides>1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ricardo sarabia</dc:creator>
  <cp:lastModifiedBy>ricardo sarabia</cp:lastModifiedBy>
  <cp:revision>3</cp:revision>
  <dcterms:created xsi:type="dcterms:W3CDTF">2026-04-07T19:53:39Z</dcterms:created>
  <dcterms:modified xsi:type="dcterms:W3CDTF">2026-04-07T19:55:40Z</dcterms:modified>
</cp:coreProperties>
</file>