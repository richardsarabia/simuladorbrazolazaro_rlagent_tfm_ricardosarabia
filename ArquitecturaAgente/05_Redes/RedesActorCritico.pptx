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697" r:id="rId2"/>
    <p:sldId id="696" r:id="rId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04"/>
    <p:restoredTop sz="94687"/>
  </p:normalViewPr>
  <p:slideViewPr>
    <p:cSldViewPr snapToGrid="0">
      <p:cViewPr>
        <p:scale>
          <a:sx n="110" d="100"/>
          <a:sy n="110" d="100"/>
        </p:scale>
        <p:origin x="776" y="4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FBF7888-BC83-90E5-2130-399E2399B5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724D068F-AF1C-6542-BD55-DC3B591C3E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9C1DA53-0CAC-E008-E1DD-C594ADD1C7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63AAA-1C5B-4446-A76A-ED47572ACAD6}" type="datetimeFigureOut">
              <a:rPr lang="es-ES_tradnl" smtClean="0"/>
              <a:t>11/4/26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0BC8A50-EE48-B1D5-A000-60BA22589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48AA906-CEE9-EB3E-856E-2BD240AFAE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35B67-4870-C24B-B160-C2A88E6DDBA1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2739732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09C35B-1C37-D442-E1FF-983542690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DBDE4EA-37A4-F2BE-F8EA-ECC5D52657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E99ADB9-5BAE-57CC-FE97-3A1AF6840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63AAA-1C5B-4446-A76A-ED47572ACAD6}" type="datetimeFigureOut">
              <a:rPr lang="es-ES_tradnl" smtClean="0"/>
              <a:t>11/4/26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771F32F-AE3A-BE59-260C-12B963EA8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7FA16E-CAB0-E299-F7E3-237A7F6FB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35B67-4870-C24B-B160-C2A88E6DDBA1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7640822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ED7F0E-246D-0906-DCCF-5C9528D350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751A385-BEE5-020A-E6C6-06942D4034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5428CCA-7D9F-87EF-8474-99BF1C6514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63AAA-1C5B-4446-A76A-ED47572ACAD6}" type="datetimeFigureOut">
              <a:rPr lang="es-ES_tradnl" smtClean="0"/>
              <a:t>11/4/26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1D6748A-2908-4095-C396-2831B19F2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82FF3D7-9714-399F-9B97-A7CEEAA19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35B67-4870-C24B-B160-C2A88E6DDBA1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2903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89943A-1336-80D3-13E4-BE2A64253B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8967B7-B403-A39C-8B10-75E9832B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8C2A533-50D0-7041-96B1-EF81C5E308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D6406E3-6B75-41FA-DB45-3EE3AA767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63AAA-1C5B-4446-A76A-ED47572ACAD6}" type="datetimeFigureOut">
              <a:rPr lang="es-ES_tradnl" smtClean="0"/>
              <a:t>11/4/26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B655196-9707-E8D5-16AF-AEA408C5D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6DF7869-D9BE-7A24-094E-E7780A6B3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35B67-4870-C24B-B160-C2A88E6DDBA1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9939795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9AB5F8-3D54-99B9-8C64-151A2AA19B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2FAFC3D-1C19-9FA8-563F-A3F3F204E1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258E496-D98A-626A-314E-32A87BBB1A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59CEAACA-2258-02D9-CAC0-C4AB2CD33D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4524DC3-E78C-C48B-6DEC-03C847DB01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7BD4592-6464-B7FE-7E98-5E861C98F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63AAA-1C5B-4446-A76A-ED47572ACAD6}" type="datetimeFigureOut">
              <a:rPr lang="es-ES_tradnl" smtClean="0"/>
              <a:t>11/4/26</a:t>
            </a:fld>
            <a:endParaRPr lang="es-ES_tradnl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EEC7754F-9DE3-FF19-2C72-4AE8CC5D23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2F407EF-7B1F-F870-4216-1F79BC096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35B67-4870-C24B-B160-C2A88E6DDBA1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4432949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217545-3CB5-CA55-986D-6ED612B7D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3753144-E9E5-6FA4-BBA8-A8B5AF3496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63AAA-1C5B-4446-A76A-ED47572ACAD6}" type="datetimeFigureOut">
              <a:rPr lang="es-ES_tradnl" smtClean="0"/>
              <a:t>11/4/26</a:t>
            </a:fld>
            <a:endParaRPr lang="es-ES_tradnl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1434849-5A1C-12AC-3B44-786C83357C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2DD1E1B-BFF1-41EE-C12E-C7B7E41BD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35B67-4870-C24B-B160-C2A88E6DDBA1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0097516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BB0A970-35B1-F129-FE9D-3883564B8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63AAA-1C5B-4446-A76A-ED47572ACAD6}" type="datetimeFigureOut">
              <a:rPr lang="es-ES_tradnl" smtClean="0"/>
              <a:t>11/4/26</a:t>
            </a:fld>
            <a:endParaRPr lang="es-ES_tradnl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6F67300-E298-F0DD-FC1A-515A1385F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204A8B5-4FE1-3084-7C32-39483726E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35B67-4870-C24B-B160-C2A88E6DDBA1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138705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EEB25FA-C128-F6E0-FCAB-4CBCB28CF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133C3A8-43C9-FF75-8FB7-F73C9DA20E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F01B0A2-FB70-4779-23D6-CDB3408F25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0F3D23A-1B18-D450-AB68-C8A52EA15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63AAA-1C5B-4446-A76A-ED47572ACAD6}" type="datetimeFigureOut">
              <a:rPr lang="es-ES_tradnl" smtClean="0"/>
              <a:t>11/4/26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E8CFFEA-E881-0E90-14AB-BE03A92A7D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E59EF7E-9517-4369-3D59-2F098C8D9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35B67-4870-C24B-B160-C2A88E6DDBA1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375235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CB05E81-F783-A57D-1A65-3C530055F0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58610781-5217-7752-F6A6-3D155F9134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_tradnl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BAB6564-2A85-1AD1-F8BA-3433026F58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722692C-C256-2E36-1B01-4068BDF0C3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63AAA-1C5B-4446-A76A-ED47572ACAD6}" type="datetimeFigureOut">
              <a:rPr lang="es-ES_tradnl" smtClean="0"/>
              <a:t>11/4/26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6E3BAFB-78F1-9375-FC3C-E034283D5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FE3243D-500C-E48C-8C32-1AFE0D912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35B67-4870-C24B-B160-C2A88E6DDBA1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8048892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4802EA-C540-5C69-767D-1211B7633F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38F3C98-F953-02A8-3F8C-510B0E77D6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2527925-049E-720D-191D-B4B5C90BE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63AAA-1C5B-4446-A76A-ED47572ACAD6}" type="datetimeFigureOut">
              <a:rPr lang="es-ES_tradnl" smtClean="0"/>
              <a:t>11/4/26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3051713-C20F-2690-9141-658FED901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3037D88-589F-966E-AD8C-2DF952184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35B67-4870-C24B-B160-C2A88E6DDBA1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0303530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183B21DE-848F-CBD4-183A-71A50F23C4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ACA74F1-4A8C-9A0F-B27F-6ECAABD474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6155938-FFDD-0FAF-197A-744ED8CB9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63AAA-1C5B-4446-A76A-ED47572ACAD6}" type="datetimeFigureOut">
              <a:rPr lang="es-ES_tradnl" smtClean="0"/>
              <a:t>11/4/26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D20BF90-47FC-9C43-793A-E8ECF84D1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8DC390D-AA9D-C4F7-3DFE-5143BFDF3E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35B67-4870-C24B-B160-C2A88E6DDBA1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9809830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C5408FFE-A7A8-FF0F-BD2A-B1EB52B961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6997FFE-E109-9B9D-BE48-87069B6C31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3D21A84-06C2-727B-A784-9FB6A8EAFF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B63AAA-1C5B-4446-A76A-ED47572ACAD6}" type="datetimeFigureOut">
              <a:rPr lang="es-ES_tradnl" smtClean="0"/>
              <a:t>11/4/26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1EA9EC5-0343-63D8-94EA-EF57ECCC77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49A422E-222D-27D4-CC10-0321C41108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135B67-4870-C24B-B160-C2A88E6DDBA1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9865145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152A25-FD19-686F-8EDE-3DBADB5DF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hteck 34">
            <a:extLst>
              <a:ext uri="{FF2B5EF4-FFF2-40B4-BE49-F238E27FC236}">
                <a16:creationId xmlns:a16="http://schemas.microsoft.com/office/drawing/2014/main" id="{7DA4CE4B-1F6D-4A2C-E115-51371B025687}"/>
              </a:ext>
            </a:extLst>
          </p:cNvPr>
          <p:cNvSpPr/>
          <p:nvPr/>
        </p:nvSpPr>
        <p:spPr>
          <a:xfrm>
            <a:off x="-3818" y="-7820"/>
            <a:ext cx="12195818" cy="1134716"/>
          </a:xfrm>
          <a:prstGeom prst="rect">
            <a:avLst/>
          </a:prstGeom>
          <a:solidFill>
            <a:srgbClr val="7F7F7F">
              <a:alpha val="2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1"/>
          </a:p>
        </p:txBody>
      </p:sp>
      <p:pic>
        <p:nvPicPr>
          <p:cNvPr id="16" name="Imagen3">
            <a:extLst>
              <a:ext uri="{FF2B5EF4-FFF2-40B4-BE49-F238E27FC236}">
                <a16:creationId xmlns:a16="http://schemas.microsoft.com/office/drawing/2014/main" id="{4F9E1EF3-97F5-6434-5002-C133C282CA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727160" y="198439"/>
            <a:ext cx="1732790" cy="866395"/>
          </a:xfrm>
          <a:prstGeom prst="rect">
            <a:avLst/>
          </a:prstGeom>
        </p:spPr>
      </p:pic>
      <p:sp>
        <p:nvSpPr>
          <p:cNvPr id="28" name="Textfeld 27">
            <a:extLst>
              <a:ext uri="{FF2B5EF4-FFF2-40B4-BE49-F238E27FC236}">
                <a16:creationId xmlns:a16="http://schemas.microsoft.com/office/drawing/2014/main" id="{ECFF022A-71C1-F7E6-2B01-93B5908E3EFF}"/>
              </a:ext>
            </a:extLst>
          </p:cNvPr>
          <p:cNvSpPr txBox="1"/>
          <p:nvPr/>
        </p:nvSpPr>
        <p:spPr>
          <a:xfrm>
            <a:off x="313005" y="269778"/>
            <a:ext cx="8271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800" b="1" noProof="1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Arquitectura TD3. Red del Actor </a:t>
            </a:r>
          </a:p>
        </p:txBody>
      </p:sp>
      <p:sp>
        <p:nvSpPr>
          <p:cNvPr id="20" name="Fußzeilenplatzhalter 2">
            <a:extLst>
              <a:ext uri="{FF2B5EF4-FFF2-40B4-BE49-F238E27FC236}">
                <a16:creationId xmlns:a16="http://schemas.microsoft.com/office/drawing/2014/main" id="{F6734EE4-19E2-64D0-93C8-7F3ACC0CB917}"/>
              </a:ext>
            </a:extLst>
          </p:cNvPr>
          <p:cNvSpPr txBox="1">
            <a:spLocks/>
          </p:cNvSpPr>
          <p:nvPr/>
        </p:nvSpPr>
        <p:spPr>
          <a:xfrm>
            <a:off x="313004" y="6528756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  <p:sp>
        <p:nvSpPr>
          <p:cNvPr id="240" name="Textfeld 239">
            <a:extLst>
              <a:ext uri="{FF2B5EF4-FFF2-40B4-BE49-F238E27FC236}">
                <a16:creationId xmlns:a16="http://schemas.microsoft.com/office/drawing/2014/main" id="{E9F145B7-E780-0394-F235-449E077A929D}"/>
              </a:ext>
            </a:extLst>
          </p:cNvPr>
          <p:cNvSpPr txBox="1"/>
          <p:nvPr/>
        </p:nvSpPr>
        <p:spPr>
          <a:xfrm>
            <a:off x="8478952" y="5336253"/>
            <a:ext cx="2295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900" b="1" dirty="0">
                <a:cs typeface="Times New Roman" panose="02020603050405020304" pitchFamily="18" charset="0"/>
              </a:rPr>
              <a:t>69.8k </a:t>
            </a:r>
          </a:p>
          <a:p>
            <a:r>
              <a:rPr lang="es-ES_tradnl" sz="900" b="1" dirty="0">
                <a:cs typeface="Times New Roman" panose="02020603050405020304" pitchFamily="18" charset="0"/>
              </a:rPr>
              <a:t>Hiperparámetros entrenables</a:t>
            </a:r>
          </a:p>
        </p:txBody>
      </p:sp>
      <p:grpSp>
        <p:nvGrpSpPr>
          <p:cNvPr id="241" name="Gruppieren 240">
            <a:extLst>
              <a:ext uri="{FF2B5EF4-FFF2-40B4-BE49-F238E27FC236}">
                <a16:creationId xmlns:a16="http://schemas.microsoft.com/office/drawing/2014/main" id="{9FA53B7C-BE32-F67A-DA93-0680261C3FDB}"/>
              </a:ext>
            </a:extLst>
          </p:cNvPr>
          <p:cNvGrpSpPr/>
          <p:nvPr/>
        </p:nvGrpSpPr>
        <p:grpSpPr>
          <a:xfrm>
            <a:off x="313004" y="1192675"/>
            <a:ext cx="1039143" cy="1043040"/>
            <a:chOff x="7793778" y="-23609"/>
            <a:chExt cx="1275466" cy="1149452"/>
          </a:xfrm>
        </p:grpSpPr>
        <p:pic>
          <p:nvPicPr>
            <p:cNvPr id="242" name="Grafik 241">
              <a:extLst>
                <a:ext uri="{FF2B5EF4-FFF2-40B4-BE49-F238E27FC236}">
                  <a16:creationId xmlns:a16="http://schemas.microsoft.com/office/drawing/2014/main" id="{50966908-804A-2421-10D6-77CFA62B32C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2679" t="14811" r="19766" b="18544"/>
            <a:stretch>
              <a:fillRect/>
            </a:stretch>
          </p:blipFill>
          <p:spPr>
            <a:xfrm>
              <a:off x="7793778" y="-23609"/>
              <a:ext cx="1275466" cy="1149452"/>
            </a:xfrm>
            <a:prstGeom prst="rect">
              <a:avLst/>
            </a:prstGeom>
          </p:spPr>
        </p:pic>
        <p:sp>
          <p:nvSpPr>
            <p:cNvPr id="243" name="Textfeld 242">
              <a:extLst>
                <a:ext uri="{FF2B5EF4-FFF2-40B4-BE49-F238E27FC236}">
                  <a16:creationId xmlns:a16="http://schemas.microsoft.com/office/drawing/2014/main" id="{B0AD86A5-1950-22E2-4C9A-AAB10AC43E35}"/>
                </a:ext>
              </a:extLst>
            </p:cNvPr>
            <p:cNvSpPr txBox="1"/>
            <p:nvPr/>
          </p:nvSpPr>
          <p:spPr>
            <a:xfrm>
              <a:off x="8402980" y="809204"/>
              <a:ext cx="622143" cy="2883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100" noProof="1"/>
                <a:t>(TD3)</a:t>
              </a:r>
            </a:p>
          </p:txBody>
        </p:sp>
      </p:grpSp>
      <p:pic>
        <p:nvPicPr>
          <p:cNvPr id="2" name="Grafik 1">
            <a:extLst>
              <a:ext uri="{FF2B5EF4-FFF2-40B4-BE49-F238E27FC236}">
                <a16:creationId xmlns:a16="http://schemas.microsoft.com/office/drawing/2014/main" id="{FC89765F-006E-446F-C5E0-73B113073A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5826" y="2209999"/>
            <a:ext cx="3073400" cy="2044700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9A721209-764B-1440-E0F7-4817EC270BF5}"/>
              </a:ext>
            </a:extLst>
          </p:cNvPr>
          <p:cNvSpPr txBox="1"/>
          <p:nvPr/>
        </p:nvSpPr>
        <p:spPr>
          <a:xfrm>
            <a:off x="3110483" y="2980338"/>
            <a:ext cx="9508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200" dirty="0"/>
              <a:t>Estado (</a:t>
            </a:r>
            <a:r>
              <a:rPr lang="es-ES_tradnl" sz="1200" dirty="0">
                <a:solidFill>
                  <a:srgbClr val="0070C0"/>
                </a:solidFill>
              </a:rPr>
              <a:t>14</a:t>
            </a:r>
            <a:r>
              <a:rPr lang="es-ES_tradnl" sz="1200" dirty="0"/>
              <a:t>)</a:t>
            </a: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039C85EC-2A3A-ED2F-5D4B-B759EAC8A1B4}"/>
              </a:ext>
            </a:extLst>
          </p:cNvPr>
          <p:cNvCxnSpPr>
            <a:cxnSpLocks/>
          </p:cNvCxnSpPr>
          <p:nvPr/>
        </p:nvCxnSpPr>
        <p:spPr>
          <a:xfrm>
            <a:off x="4130748" y="3118838"/>
            <a:ext cx="374609" cy="0"/>
          </a:xfrm>
          <a:prstGeom prst="straightConnector1">
            <a:avLst/>
          </a:prstGeom>
          <a:ln>
            <a:solidFill>
              <a:srgbClr val="0070C0"/>
            </a:solidFill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E743151C-5E16-9461-7AA3-2E29967028FD}"/>
              </a:ext>
            </a:extLst>
          </p:cNvPr>
          <p:cNvSpPr txBox="1"/>
          <p:nvPr/>
        </p:nvSpPr>
        <p:spPr>
          <a:xfrm>
            <a:off x="3430537" y="2547785"/>
            <a:ext cx="13084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100" dirty="0"/>
              <a:t>Entrada</a:t>
            </a:r>
          </a:p>
        </p:txBody>
      </p:sp>
      <p:cxnSp>
        <p:nvCxnSpPr>
          <p:cNvPr id="6" name="Gerade Verbindung 5">
            <a:extLst>
              <a:ext uri="{FF2B5EF4-FFF2-40B4-BE49-F238E27FC236}">
                <a16:creationId xmlns:a16="http://schemas.microsoft.com/office/drawing/2014/main" id="{0D25D4A9-DE78-79BF-1323-6485BA29550D}"/>
              </a:ext>
            </a:extLst>
          </p:cNvPr>
          <p:cNvCxnSpPr>
            <a:cxnSpLocks/>
          </p:cNvCxnSpPr>
          <p:nvPr/>
        </p:nvCxnSpPr>
        <p:spPr>
          <a:xfrm>
            <a:off x="4692415" y="2691754"/>
            <a:ext cx="0" cy="288584"/>
          </a:xfrm>
          <a:prstGeom prst="line">
            <a:avLst/>
          </a:prstGeom>
          <a:ln w="952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feld 6">
            <a:extLst>
              <a:ext uri="{FF2B5EF4-FFF2-40B4-BE49-F238E27FC236}">
                <a16:creationId xmlns:a16="http://schemas.microsoft.com/office/drawing/2014/main" id="{30B41C95-6B3E-2320-F67C-4A4808B93170}"/>
              </a:ext>
            </a:extLst>
          </p:cNvPr>
          <p:cNvSpPr txBox="1"/>
          <p:nvPr/>
        </p:nvSpPr>
        <p:spPr>
          <a:xfrm>
            <a:off x="3969854" y="4315808"/>
            <a:ext cx="14816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100" dirty="0"/>
              <a:t>1ra Capa oculta</a:t>
            </a:r>
          </a:p>
          <a:p>
            <a:pPr algn="r"/>
            <a:r>
              <a:rPr lang="es-ES_tradnl" sz="1100" dirty="0"/>
              <a:t>256 neuronas</a:t>
            </a:r>
          </a:p>
          <a:p>
            <a:pPr algn="r"/>
            <a:r>
              <a:rPr lang="es-ES_tradnl" sz="1100" dirty="0"/>
              <a:t>(ReLu) </a:t>
            </a:r>
          </a:p>
        </p:txBody>
      </p:sp>
      <p:cxnSp>
        <p:nvCxnSpPr>
          <p:cNvPr id="8" name="Gerade Verbindung 7">
            <a:extLst>
              <a:ext uri="{FF2B5EF4-FFF2-40B4-BE49-F238E27FC236}">
                <a16:creationId xmlns:a16="http://schemas.microsoft.com/office/drawing/2014/main" id="{C925511B-708C-AADD-517D-76A8A405D518}"/>
              </a:ext>
            </a:extLst>
          </p:cNvPr>
          <p:cNvCxnSpPr>
            <a:cxnSpLocks/>
          </p:cNvCxnSpPr>
          <p:nvPr/>
        </p:nvCxnSpPr>
        <p:spPr>
          <a:xfrm>
            <a:off x="5265739" y="3785865"/>
            <a:ext cx="0" cy="538695"/>
          </a:xfrm>
          <a:prstGeom prst="line">
            <a:avLst/>
          </a:prstGeom>
          <a:ln w="952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45FC2F7E-AAF4-3FEE-7DCC-1201C582C709}"/>
              </a:ext>
            </a:extLst>
          </p:cNvPr>
          <p:cNvSpPr txBox="1"/>
          <p:nvPr/>
        </p:nvSpPr>
        <p:spPr>
          <a:xfrm>
            <a:off x="5993507" y="4311833"/>
            <a:ext cx="14816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100" dirty="0"/>
              <a:t>2da Capa oculta</a:t>
            </a:r>
          </a:p>
          <a:p>
            <a:r>
              <a:rPr lang="es-ES_tradnl" sz="1100" dirty="0"/>
              <a:t>256 neuronas</a:t>
            </a:r>
          </a:p>
          <a:p>
            <a:r>
              <a:rPr lang="es-ES_tradnl" sz="1100" dirty="0"/>
              <a:t>(ReLu) </a:t>
            </a:r>
          </a:p>
        </p:txBody>
      </p:sp>
      <p:cxnSp>
        <p:nvCxnSpPr>
          <p:cNvPr id="10" name="Gerade Verbindung 9">
            <a:extLst>
              <a:ext uri="{FF2B5EF4-FFF2-40B4-BE49-F238E27FC236}">
                <a16:creationId xmlns:a16="http://schemas.microsoft.com/office/drawing/2014/main" id="{F27E00C5-56DD-8149-ACC7-8CE917BB498D}"/>
              </a:ext>
            </a:extLst>
          </p:cNvPr>
          <p:cNvCxnSpPr>
            <a:cxnSpLocks/>
          </p:cNvCxnSpPr>
          <p:nvPr/>
        </p:nvCxnSpPr>
        <p:spPr>
          <a:xfrm>
            <a:off x="6161851" y="3749242"/>
            <a:ext cx="0" cy="538695"/>
          </a:xfrm>
          <a:prstGeom prst="line">
            <a:avLst/>
          </a:prstGeom>
          <a:ln w="952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FC76891C-8400-7543-EB5D-DFB6445D84CD}"/>
              </a:ext>
            </a:extLst>
          </p:cNvPr>
          <p:cNvSpPr txBox="1"/>
          <p:nvPr/>
        </p:nvSpPr>
        <p:spPr>
          <a:xfrm>
            <a:off x="6810027" y="2574436"/>
            <a:ext cx="6651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100" dirty="0"/>
              <a:t>Salida</a:t>
            </a:r>
          </a:p>
        </p:txBody>
      </p:sp>
      <p:cxnSp>
        <p:nvCxnSpPr>
          <p:cNvPr id="12" name="Gerade Verbindung 11">
            <a:extLst>
              <a:ext uri="{FF2B5EF4-FFF2-40B4-BE49-F238E27FC236}">
                <a16:creationId xmlns:a16="http://schemas.microsoft.com/office/drawing/2014/main" id="{792E75D5-C58C-BFAB-AC7F-6376E4A7CD93}"/>
              </a:ext>
            </a:extLst>
          </p:cNvPr>
          <p:cNvCxnSpPr>
            <a:cxnSpLocks/>
          </p:cNvCxnSpPr>
          <p:nvPr/>
        </p:nvCxnSpPr>
        <p:spPr>
          <a:xfrm>
            <a:off x="6810027" y="2691754"/>
            <a:ext cx="0" cy="404518"/>
          </a:xfrm>
          <a:prstGeom prst="line">
            <a:avLst/>
          </a:prstGeom>
          <a:ln w="952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1A61CCEF-1E07-EEAA-7144-B9A2FA1CAB72}"/>
              </a:ext>
            </a:extLst>
          </p:cNvPr>
          <p:cNvSpPr txBox="1"/>
          <p:nvPr/>
        </p:nvSpPr>
        <p:spPr>
          <a:xfrm>
            <a:off x="6536545" y="2717438"/>
            <a:ext cx="22935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1100" dirty="0"/>
              <a:t>( activación de salida tanh)  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80DD1F79-4678-C79F-15B9-1D9748C4F109}"/>
              </a:ext>
            </a:extLst>
          </p:cNvPr>
          <p:cNvSpPr txBox="1"/>
          <p:nvPr/>
        </p:nvSpPr>
        <p:spPr>
          <a:xfrm>
            <a:off x="7565706" y="3043478"/>
            <a:ext cx="18361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200" dirty="0"/>
              <a:t>Acción [-1, 1]</a:t>
            </a: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6D4AAE5D-B2BC-2039-2471-634FB825DA6F}"/>
              </a:ext>
            </a:extLst>
          </p:cNvPr>
          <p:cNvCxnSpPr>
            <a:cxnSpLocks/>
          </p:cNvCxnSpPr>
          <p:nvPr/>
        </p:nvCxnSpPr>
        <p:spPr>
          <a:xfrm>
            <a:off x="7091921" y="3184185"/>
            <a:ext cx="374609" cy="0"/>
          </a:xfrm>
          <a:prstGeom prst="straightConnector1">
            <a:avLst/>
          </a:prstGeom>
          <a:ln>
            <a:solidFill>
              <a:srgbClr val="0070C0"/>
            </a:solidFill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Textfeld 28">
            <a:extLst>
              <a:ext uri="{FF2B5EF4-FFF2-40B4-BE49-F238E27FC236}">
                <a16:creationId xmlns:a16="http://schemas.microsoft.com/office/drawing/2014/main" id="{32DB6543-9427-39FA-76F3-73F7823BBC3D}"/>
              </a:ext>
            </a:extLst>
          </p:cNvPr>
          <p:cNvSpPr txBox="1"/>
          <p:nvPr/>
        </p:nvSpPr>
        <p:spPr>
          <a:xfrm>
            <a:off x="3404533" y="5390114"/>
            <a:ext cx="53724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100" dirty="0"/>
              <a:t> [Input 14] </a:t>
            </a:r>
            <a:r>
              <a:rPr lang="es-ES_tradnl" sz="1100" dirty="0">
                <a:sym typeface="Wingdings" pitchFamily="2" charset="2"/>
              </a:rPr>
              <a:t> </a:t>
            </a:r>
            <a:r>
              <a:rPr lang="es-ES_tradnl" sz="1100" dirty="0"/>
              <a:t> [FC 256] </a:t>
            </a:r>
            <a:r>
              <a:rPr lang="es-ES_tradnl" sz="1100" dirty="0">
                <a:sym typeface="Wingdings" pitchFamily="2" charset="2"/>
              </a:rPr>
              <a:t> </a:t>
            </a:r>
            <a:r>
              <a:rPr lang="es-ES_tradnl" sz="1100" dirty="0"/>
              <a:t> [ReLu] </a:t>
            </a:r>
            <a:r>
              <a:rPr lang="es-ES_tradnl" sz="1100" dirty="0">
                <a:sym typeface="Wingdings" pitchFamily="2" charset="2"/>
              </a:rPr>
              <a:t></a:t>
            </a:r>
            <a:r>
              <a:rPr lang="es-ES_tradnl" sz="1100" dirty="0"/>
              <a:t> [FC 256] </a:t>
            </a:r>
            <a:r>
              <a:rPr lang="es-ES_tradnl" sz="1100" dirty="0">
                <a:sym typeface="Wingdings" pitchFamily="2" charset="2"/>
              </a:rPr>
              <a:t> </a:t>
            </a:r>
            <a:r>
              <a:rPr lang="es-ES_tradnl" sz="1100" dirty="0"/>
              <a:t> [ReLu] </a:t>
            </a:r>
            <a:r>
              <a:rPr lang="es-ES_tradnl" sz="1100" dirty="0">
                <a:sym typeface="Wingdings" pitchFamily="2" charset="2"/>
              </a:rPr>
              <a:t></a:t>
            </a:r>
            <a:r>
              <a:rPr lang="es-ES_tradnl" sz="1100" dirty="0"/>
              <a:t> [output 1] </a:t>
            </a:r>
            <a:r>
              <a:rPr lang="es-ES_tradnl" sz="1100" dirty="0">
                <a:sym typeface="Wingdings" pitchFamily="2" charset="2"/>
              </a:rPr>
              <a:t> </a:t>
            </a:r>
            <a:r>
              <a:rPr lang="es-ES_tradnl" sz="1100" dirty="0"/>
              <a:t>[tanh] </a:t>
            </a:r>
          </a:p>
        </p:txBody>
      </p:sp>
    </p:spTree>
    <p:extLst>
      <p:ext uri="{BB962C8B-B14F-4D97-AF65-F5344CB8AC3E}">
        <p14:creationId xmlns:p14="http://schemas.microsoft.com/office/powerpoint/2010/main" val="26451189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B1AC3-73A2-6F71-3B2A-C24CD682B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rafik 41">
            <a:extLst>
              <a:ext uri="{FF2B5EF4-FFF2-40B4-BE49-F238E27FC236}">
                <a16:creationId xmlns:a16="http://schemas.microsoft.com/office/drawing/2014/main" id="{42DBA4CD-BDE7-D7EA-E650-1FE62D718B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439" y="2182258"/>
            <a:ext cx="3810000" cy="2667000"/>
          </a:xfrm>
          <a:prstGeom prst="rect">
            <a:avLst/>
          </a:prstGeom>
        </p:spPr>
      </p:pic>
      <p:sp>
        <p:nvSpPr>
          <p:cNvPr id="35" name="Rechteck 34">
            <a:extLst>
              <a:ext uri="{FF2B5EF4-FFF2-40B4-BE49-F238E27FC236}">
                <a16:creationId xmlns:a16="http://schemas.microsoft.com/office/drawing/2014/main" id="{A1E888BE-C539-748C-5A3B-4C5040857F91}"/>
              </a:ext>
            </a:extLst>
          </p:cNvPr>
          <p:cNvSpPr/>
          <p:nvPr/>
        </p:nvSpPr>
        <p:spPr>
          <a:xfrm>
            <a:off x="-3818" y="-7820"/>
            <a:ext cx="12195818" cy="1134716"/>
          </a:xfrm>
          <a:prstGeom prst="rect">
            <a:avLst/>
          </a:prstGeom>
          <a:solidFill>
            <a:srgbClr val="7F7F7F">
              <a:alpha val="2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1"/>
          </a:p>
        </p:txBody>
      </p:sp>
      <p:pic>
        <p:nvPicPr>
          <p:cNvPr id="16" name="Imagen3">
            <a:extLst>
              <a:ext uri="{FF2B5EF4-FFF2-40B4-BE49-F238E27FC236}">
                <a16:creationId xmlns:a16="http://schemas.microsoft.com/office/drawing/2014/main" id="{8E516F40-015E-2AB1-C892-38CCCFB0DC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727160" y="198439"/>
            <a:ext cx="1732790" cy="866395"/>
          </a:xfrm>
          <a:prstGeom prst="rect">
            <a:avLst/>
          </a:prstGeom>
        </p:spPr>
      </p:pic>
      <p:sp>
        <p:nvSpPr>
          <p:cNvPr id="28" name="Textfeld 27">
            <a:extLst>
              <a:ext uri="{FF2B5EF4-FFF2-40B4-BE49-F238E27FC236}">
                <a16:creationId xmlns:a16="http://schemas.microsoft.com/office/drawing/2014/main" id="{A60C90CA-4726-FD1E-880B-EFC31962FA97}"/>
              </a:ext>
            </a:extLst>
          </p:cNvPr>
          <p:cNvSpPr txBox="1"/>
          <p:nvPr/>
        </p:nvSpPr>
        <p:spPr>
          <a:xfrm>
            <a:off x="313005" y="269778"/>
            <a:ext cx="8271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800" b="1" noProof="1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Arquitectura TD3. Red del Crítico</a:t>
            </a:r>
          </a:p>
        </p:txBody>
      </p:sp>
      <p:sp>
        <p:nvSpPr>
          <p:cNvPr id="20" name="Fußzeilenplatzhalter 2">
            <a:extLst>
              <a:ext uri="{FF2B5EF4-FFF2-40B4-BE49-F238E27FC236}">
                <a16:creationId xmlns:a16="http://schemas.microsoft.com/office/drawing/2014/main" id="{0497636F-D2A4-4C9A-344B-EC5BB137618E}"/>
              </a:ext>
            </a:extLst>
          </p:cNvPr>
          <p:cNvSpPr txBox="1">
            <a:spLocks/>
          </p:cNvSpPr>
          <p:nvPr/>
        </p:nvSpPr>
        <p:spPr>
          <a:xfrm>
            <a:off x="313004" y="6528756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  <p:sp>
        <p:nvSpPr>
          <p:cNvPr id="540" name="Textfeld 539">
            <a:extLst>
              <a:ext uri="{FF2B5EF4-FFF2-40B4-BE49-F238E27FC236}">
                <a16:creationId xmlns:a16="http://schemas.microsoft.com/office/drawing/2014/main" id="{CA9CB9B1-8811-28CD-EA95-07DF37629FBF}"/>
              </a:ext>
            </a:extLst>
          </p:cNvPr>
          <p:cNvSpPr txBox="1"/>
          <p:nvPr/>
        </p:nvSpPr>
        <p:spPr>
          <a:xfrm>
            <a:off x="8951868" y="6101964"/>
            <a:ext cx="2295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900" b="1" dirty="0">
                <a:cs typeface="Times New Roman" panose="02020603050405020304" pitchFamily="18" charset="0"/>
              </a:rPr>
              <a:t>135.9k </a:t>
            </a:r>
          </a:p>
          <a:p>
            <a:r>
              <a:rPr lang="es-ES_tradnl" sz="900" b="1" dirty="0">
                <a:cs typeface="Times New Roman" panose="02020603050405020304" pitchFamily="18" charset="0"/>
              </a:rPr>
              <a:t>Hiperparámetros entrenables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1F10733D-12F1-55F2-4729-87DA6B50C145}"/>
              </a:ext>
            </a:extLst>
          </p:cNvPr>
          <p:cNvSpPr txBox="1"/>
          <p:nvPr/>
        </p:nvSpPr>
        <p:spPr>
          <a:xfrm>
            <a:off x="3101339" y="2854628"/>
            <a:ext cx="9508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200" dirty="0"/>
              <a:t>Estado (</a:t>
            </a:r>
            <a:r>
              <a:rPr lang="es-ES_tradnl" sz="1200" dirty="0">
                <a:solidFill>
                  <a:srgbClr val="0070C0"/>
                </a:solidFill>
              </a:rPr>
              <a:t>14</a:t>
            </a:r>
            <a:r>
              <a:rPr lang="es-ES_tradnl" sz="1200" dirty="0"/>
              <a:t>)</a:t>
            </a: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38B7EB25-7C97-ED0E-0BE7-8C07863757B9}"/>
              </a:ext>
            </a:extLst>
          </p:cNvPr>
          <p:cNvCxnSpPr>
            <a:cxnSpLocks/>
          </p:cNvCxnSpPr>
          <p:nvPr/>
        </p:nvCxnSpPr>
        <p:spPr>
          <a:xfrm>
            <a:off x="4121604" y="2993128"/>
            <a:ext cx="374609" cy="0"/>
          </a:xfrm>
          <a:prstGeom prst="straightConnector1">
            <a:avLst/>
          </a:prstGeom>
          <a:ln>
            <a:solidFill>
              <a:srgbClr val="0070C0"/>
            </a:solidFill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FF653E63-A0FC-90BE-FCAE-A81EA22FAB21}"/>
              </a:ext>
            </a:extLst>
          </p:cNvPr>
          <p:cNvSpPr txBox="1"/>
          <p:nvPr/>
        </p:nvSpPr>
        <p:spPr>
          <a:xfrm>
            <a:off x="3203397" y="3895717"/>
            <a:ext cx="918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200" dirty="0"/>
              <a:t>Acción (</a:t>
            </a:r>
            <a:r>
              <a:rPr lang="es-ES_tradnl" sz="1200" dirty="0">
                <a:solidFill>
                  <a:srgbClr val="FFC000"/>
                </a:solidFill>
              </a:rPr>
              <a:t>1</a:t>
            </a:r>
            <a:r>
              <a:rPr lang="es-ES_tradnl" sz="1200" dirty="0"/>
              <a:t>)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9D6682E2-C7E1-2975-C4D3-889170EF0CC2}"/>
              </a:ext>
            </a:extLst>
          </p:cNvPr>
          <p:cNvCxnSpPr>
            <a:cxnSpLocks/>
          </p:cNvCxnSpPr>
          <p:nvPr/>
        </p:nvCxnSpPr>
        <p:spPr>
          <a:xfrm>
            <a:off x="4121603" y="4034217"/>
            <a:ext cx="374609" cy="0"/>
          </a:xfrm>
          <a:prstGeom prst="straightConnector1">
            <a:avLst/>
          </a:prstGeom>
          <a:ln>
            <a:solidFill>
              <a:srgbClr val="0070C0"/>
            </a:solidFill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feld 30">
            <a:extLst>
              <a:ext uri="{FF2B5EF4-FFF2-40B4-BE49-F238E27FC236}">
                <a16:creationId xmlns:a16="http://schemas.microsoft.com/office/drawing/2014/main" id="{5A156F3A-42D4-2E1B-2D1D-014F949C975B}"/>
              </a:ext>
            </a:extLst>
          </p:cNvPr>
          <p:cNvSpPr txBox="1"/>
          <p:nvPr/>
        </p:nvSpPr>
        <p:spPr>
          <a:xfrm>
            <a:off x="3849123" y="1641588"/>
            <a:ext cx="14816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100" dirty="0"/>
              <a:t>1ra Capa oculta</a:t>
            </a:r>
          </a:p>
          <a:p>
            <a:pPr algn="r"/>
            <a:r>
              <a:rPr lang="es-ES_tradnl" sz="1100" dirty="0"/>
              <a:t>256 neuronas</a:t>
            </a:r>
          </a:p>
          <a:p>
            <a:pPr algn="r"/>
            <a:r>
              <a:rPr lang="es-ES_tradnl" sz="1100" dirty="0"/>
              <a:t>(ReLu) </a:t>
            </a: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A67B3550-9935-7816-CD2A-670E16F723F3}"/>
              </a:ext>
            </a:extLst>
          </p:cNvPr>
          <p:cNvSpPr txBox="1"/>
          <p:nvPr/>
        </p:nvSpPr>
        <p:spPr>
          <a:xfrm>
            <a:off x="3942422" y="5091384"/>
            <a:ext cx="14816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100" dirty="0"/>
              <a:t>1ra Capa oculta</a:t>
            </a:r>
          </a:p>
          <a:p>
            <a:pPr algn="r"/>
            <a:r>
              <a:rPr lang="es-ES_tradnl" sz="1100" dirty="0"/>
              <a:t>256 neuronas</a:t>
            </a:r>
          </a:p>
          <a:p>
            <a:pPr algn="r"/>
            <a:r>
              <a:rPr lang="es-ES_tradnl" sz="1100" dirty="0"/>
              <a:t>(ReLu) 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A9F1369C-ECDA-EF5D-043B-9BE4FBE05630}"/>
              </a:ext>
            </a:extLst>
          </p:cNvPr>
          <p:cNvSpPr txBox="1"/>
          <p:nvPr/>
        </p:nvSpPr>
        <p:spPr>
          <a:xfrm>
            <a:off x="5984795" y="5078570"/>
            <a:ext cx="1308496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100" dirty="0"/>
              <a:t>2da Capa oculta</a:t>
            </a:r>
          </a:p>
          <a:p>
            <a:r>
              <a:rPr lang="es-ES_tradnl" sz="1100" dirty="0"/>
              <a:t>512 neuronas</a:t>
            </a:r>
          </a:p>
          <a:p>
            <a:r>
              <a:rPr lang="es-ES_tradnl" sz="1100" dirty="0"/>
              <a:t>(ReLu) </a:t>
            </a:r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26A08CA7-802A-9DEE-3B07-969004DBA08F}"/>
              </a:ext>
            </a:extLst>
          </p:cNvPr>
          <p:cNvSpPr txBox="1"/>
          <p:nvPr/>
        </p:nvSpPr>
        <p:spPr>
          <a:xfrm>
            <a:off x="6639043" y="1653299"/>
            <a:ext cx="14816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100" dirty="0"/>
              <a:t>3ra Capa oculta</a:t>
            </a:r>
          </a:p>
          <a:p>
            <a:r>
              <a:rPr lang="es-ES_tradnl" sz="1100" dirty="0"/>
              <a:t>256  neuronas</a:t>
            </a:r>
          </a:p>
          <a:p>
            <a:r>
              <a:rPr lang="es-ES_tradnl" sz="1100" dirty="0"/>
              <a:t>(ReLu)  </a:t>
            </a:r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C7853601-2510-5117-F831-C9C3AEEBFFC5}"/>
              </a:ext>
            </a:extLst>
          </p:cNvPr>
          <p:cNvSpPr txBox="1"/>
          <p:nvPr/>
        </p:nvSpPr>
        <p:spPr>
          <a:xfrm>
            <a:off x="7501051" y="4285330"/>
            <a:ext cx="13084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100" dirty="0"/>
              <a:t>Salida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B8E999DB-24C7-BA96-7DB8-0AF75423747A}"/>
              </a:ext>
            </a:extLst>
          </p:cNvPr>
          <p:cNvSpPr txBox="1"/>
          <p:nvPr/>
        </p:nvSpPr>
        <p:spPr>
          <a:xfrm>
            <a:off x="3421393" y="2422075"/>
            <a:ext cx="13084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100" dirty="0"/>
              <a:t>Entrada</a:t>
            </a:r>
          </a:p>
        </p:txBody>
      </p:sp>
      <p:cxnSp>
        <p:nvCxnSpPr>
          <p:cNvPr id="51" name="Gerade Verbindung 50">
            <a:extLst>
              <a:ext uri="{FF2B5EF4-FFF2-40B4-BE49-F238E27FC236}">
                <a16:creationId xmlns:a16="http://schemas.microsoft.com/office/drawing/2014/main" id="{E73CA541-B63A-0CCA-0FCD-49E0C89CD0F8}"/>
              </a:ext>
            </a:extLst>
          </p:cNvPr>
          <p:cNvCxnSpPr>
            <a:cxnSpLocks/>
            <a:endCxn id="47" idx="1"/>
          </p:cNvCxnSpPr>
          <p:nvPr/>
        </p:nvCxnSpPr>
        <p:spPr>
          <a:xfrm>
            <a:off x="7501051" y="3714069"/>
            <a:ext cx="0" cy="702066"/>
          </a:xfrm>
          <a:prstGeom prst="line">
            <a:avLst/>
          </a:prstGeom>
          <a:ln w="952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8" name="Gerade Verbindung 447">
            <a:extLst>
              <a:ext uri="{FF2B5EF4-FFF2-40B4-BE49-F238E27FC236}">
                <a16:creationId xmlns:a16="http://schemas.microsoft.com/office/drawing/2014/main" id="{8F4EA6B1-BDA1-1F14-73E9-0666F2360A46}"/>
              </a:ext>
            </a:extLst>
          </p:cNvPr>
          <p:cNvCxnSpPr>
            <a:cxnSpLocks/>
          </p:cNvCxnSpPr>
          <p:nvPr/>
        </p:nvCxnSpPr>
        <p:spPr>
          <a:xfrm>
            <a:off x="6821546" y="2232146"/>
            <a:ext cx="0" cy="838777"/>
          </a:xfrm>
          <a:prstGeom prst="line">
            <a:avLst/>
          </a:prstGeom>
          <a:ln w="952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Gerade Verbindung 448">
            <a:extLst>
              <a:ext uri="{FF2B5EF4-FFF2-40B4-BE49-F238E27FC236}">
                <a16:creationId xmlns:a16="http://schemas.microsoft.com/office/drawing/2014/main" id="{9F814DBD-988A-E7E9-48E8-B7F8F0527684}"/>
              </a:ext>
            </a:extLst>
          </p:cNvPr>
          <p:cNvCxnSpPr>
            <a:cxnSpLocks/>
          </p:cNvCxnSpPr>
          <p:nvPr/>
        </p:nvCxnSpPr>
        <p:spPr>
          <a:xfrm>
            <a:off x="6094091" y="2566044"/>
            <a:ext cx="1909" cy="2512526"/>
          </a:xfrm>
          <a:prstGeom prst="line">
            <a:avLst/>
          </a:prstGeom>
          <a:ln w="952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1" name="Gerade Verbindung 450">
            <a:extLst>
              <a:ext uri="{FF2B5EF4-FFF2-40B4-BE49-F238E27FC236}">
                <a16:creationId xmlns:a16="http://schemas.microsoft.com/office/drawing/2014/main" id="{0D47A2E8-59BD-B7C7-A355-776FD7451D04}"/>
              </a:ext>
            </a:extLst>
          </p:cNvPr>
          <p:cNvCxnSpPr>
            <a:cxnSpLocks/>
          </p:cNvCxnSpPr>
          <p:nvPr/>
        </p:nvCxnSpPr>
        <p:spPr>
          <a:xfrm>
            <a:off x="5238307" y="4561441"/>
            <a:ext cx="0" cy="538695"/>
          </a:xfrm>
          <a:prstGeom prst="line">
            <a:avLst/>
          </a:prstGeom>
          <a:ln w="952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2" name="Gerade Verbindung 451">
            <a:extLst>
              <a:ext uri="{FF2B5EF4-FFF2-40B4-BE49-F238E27FC236}">
                <a16:creationId xmlns:a16="http://schemas.microsoft.com/office/drawing/2014/main" id="{0AB92EEC-D7EB-221A-CFD3-1EA35DBAF8DA}"/>
              </a:ext>
            </a:extLst>
          </p:cNvPr>
          <p:cNvCxnSpPr>
            <a:cxnSpLocks/>
          </p:cNvCxnSpPr>
          <p:nvPr/>
        </p:nvCxnSpPr>
        <p:spPr>
          <a:xfrm>
            <a:off x="5238307" y="2232146"/>
            <a:ext cx="0" cy="288584"/>
          </a:xfrm>
          <a:prstGeom prst="line">
            <a:avLst/>
          </a:prstGeom>
          <a:ln w="952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4" name="Gerade Verbindung 453">
            <a:extLst>
              <a:ext uri="{FF2B5EF4-FFF2-40B4-BE49-F238E27FC236}">
                <a16:creationId xmlns:a16="http://schemas.microsoft.com/office/drawing/2014/main" id="{60A2A53D-EA42-2437-3434-DE625C2A46E4}"/>
              </a:ext>
            </a:extLst>
          </p:cNvPr>
          <p:cNvCxnSpPr>
            <a:cxnSpLocks/>
          </p:cNvCxnSpPr>
          <p:nvPr/>
        </p:nvCxnSpPr>
        <p:spPr>
          <a:xfrm>
            <a:off x="4683271" y="2566044"/>
            <a:ext cx="0" cy="288584"/>
          </a:xfrm>
          <a:prstGeom prst="line">
            <a:avLst/>
          </a:prstGeom>
          <a:ln w="952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5" name="Textfeld 454">
            <a:extLst>
              <a:ext uri="{FF2B5EF4-FFF2-40B4-BE49-F238E27FC236}">
                <a16:creationId xmlns:a16="http://schemas.microsoft.com/office/drawing/2014/main" id="{471EE442-CB1C-3782-E8D4-AB4DD657765D}"/>
              </a:ext>
            </a:extLst>
          </p:cNvPr>
          <p:cNvSpPr txBox="1"/>
          <p:nvPr/>
        </p:nvSpPr>
        <p:spPr>
          <a:xfrm>
            <a:off x="3360573" y="4336930"/>
            <a:ext cx="13084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100" dirty="0"/>
              <a:t>Entrada</a:t>
            </a:r>
          </a:p>
        </p:txBody>
      </p:sp>
      <p:cxnSp>
        <p:nvCxnSpPr>
          <p:cNvPr id="456" name="Gerade Verbindung 455">
            <a:extLst>
              <a:ext uri="{FF2B5EF4-FFF2-40B4-BE49-F238E27FC236}">
                <a16:creationId xmlns:a16="http://schemas.microsoft.com/office/drawing/2014/main" id="{748E08D8-A238-68AC-1A16-0B3036231C68}"/>
              </a:ext>
            </a:extLst>
          </p:cNvPr>
          <p:cNvCxnSpPr>
            <a:cxnSpLocks/>
          </p:cNvCxnSpPr>
          <p:nvPr/>
        </p:nvCxnSpPr>
        <p:spPr>
          <a:xfrm>
            <a:off x="4690949" y="4204469"/>
            <a:ext cx="0" cy="288584"/>
          </a:xfrm>
          <a:prstGeom prst="line">
            <a:avLst/>
          </a:prstGeom>
          <a:ln w="952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1" name="Textfeld 460">
            <a:extLst>
              <a:ext uri="{FF2B5EF4-FFF2-40B4-BE49-F238E27FC236}">
                <a16:creationId xmlns:a16="http://schemas.microsoft.com/office/drawing/2014/main" id="{5E27F342-4701-32C9-2C42-C9759CB0EEA4}"/>
              </a:ext>
            </a:extLst>
          </p:cNvPr>
          <p:cNvSpPr txBox="1"/>
          <p:nvPr/>
        </p:nvSpPr>
        <p:spPr>
          <a:xfrm>
            <a:off x="8001000" y="3397684"/>
            <a:ext cx="9508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200" dirty="0"/>
              <a:t>Q (s,</a:t>
            </a:r>
            <a:r>
              <a:rPr lang="es-ES_tradnl" sz="1200" dirty="0">
                <a:solidFill>
                  <a:srgbClr val="FFC000"/>
                </a:solidFill>
              </a:rPr>
              <a:t>a</a:t>
            </a:r>
            <a:r>
              <a:rPr lang="es-ES_tradnl" sz="1200" dirty="0"/>
              <a:t>)</a:t>
            </a:r>
          </a:p>
        </p:txBody>
      </p:sp>
      <p:cxnSp>
        <p:nvCxnSpPr>
          <p:cNvPr id="463" name="Gerade Verbindung mit Pfeil 462">
            <a:extLst>
              <a:ext uri="{FF2B5EF4-FFF2-40B4-BE49-F238E27FC236}">
                <a16:creationId xmlns:a16="http://schemas.microsoft.com/office/drawing/2014/main" id="{B79D0CA8-961C-C655-90D6-0316B1E64C75}"/>
              </a:ext>
            </a:extLst>
          </p:cNvPr>
          <p:cNvCxnSpPr>
            <a:cxnSpLocks/>
          </p:cNvCxnSpPr>
          <p:nvPr/>
        </p:nvCxnSpPr>
        <p:spPr>
          <a:xfrm>
            <a:off x="7626391" y="3536184"/>
            <a:ext cx="374609" cy="0"/>
          </a:xfrm>
          <a:prstGeom prst="straightConnector1">
            <a:avLst/>
          </a:prstGeom>
          <a:ln>
            <a:solidFill>
              <a:srgbClr val="0070C0"/>
            </a:solidFill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6" name="Textfeld 465">
            <a:extLst>
              <a:ext uri="{FF2B5EF4-FFF2-40B4-BE49-F238E27FC236}">
                <a16:creationId xmlns:a16="http://schemas.microsoft.com/office/drawing/2014/main" id="{300CF219-D42E-4BA9-4EB2-3A5E1ED24B5C}"/>
              </a:ext>
            </a:extLst>
          </p:cNvPr>
          <p:cNvSpPr txBox="1"/>
          <p:nvPr/>
        </p:nvSpPr>
        <p:spPr>
          <a:xfrm>
            <a:off x="3720831" y="6009631"/>
            <a:ext cx="27790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200" dirty="0"/>
              <a:t> [Input 14] </a:t>
            </a:r>
            <a:r>
              <a:rPr lang="es-ES_tradnl" sz="1200" dirty="0">
                <a:sym typeface="Wingdings" pitchFamily="2" charset="2"/>
              </a:rPr>
              <a:t> </a:t>
            </a:r>
            <a:r>
              <a:rPr lang="es-ES_tradnl" sz="1200" dirty="0"/>
              <a:t> [FC 256] </a:t>
            </a:r>
            <a:r>
              <a:rPr lang="es-ES_tradnl" sz="1200" dirty="0">
                <a:sym typeface="Wingdings" pitchFamily="2" charset="2"/>
              </a:rPr>
              <a:t> </a:t>
            </a:r>
            <a:r>
              <a:rPr lang="es-ES_tradnl" sz="1200" dirty="0"/>
              <a:t> [ReLu] </a:t>
            </a:r>
            <a:r>
              <a:rPr lang="es-ES_tradnl" sz="1200" dirty="0">
                <a:sym typeface="Wingdings" pitchFamily="2" charset="2"/>
              </a:rPr>
              <a:t></a:t>
            </a:r>
            <a:endParaRPr lang="es-ES_tradnl" sz="1200" dirty="0"/>
          </a:p>
        </p:txBody>
      </p:sp>
      <p:sp>
        <p:nvSpPr>
          <p:cNvPr id="467" name="Textfeld 466">
            <a:extLst>
              <a:ext uri="{FF2B5EF4-FFF2-40B4-BE49-F238E27FC236}">
                <a16:creationId xmlns:a16="http://schemas.microsoft.com/office/drawing/2014/main" id="{21CCDE3C-3149-35D8-51B8-AF26F5238AE1}"/>
              </a:ext>
            </a:extLst>
          </p:cNvPr>
          <p:cNvSpPr txBox="1"/>
          <p:nvPr/>
        </p:nvSpPr>
        <p:spPr>
          <a:xfrm>
            <a:off x="3750182" y="6249634"/>
            <a:ext cx="256521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200" dirty="0"/>
              <a:t>   [Input 1] </a:t>
            </a:r>
            <a:r>
              <a:rPr lang="es-ES_tradnl" sz="1200" dirty="0">
                <a:sym typeface="Wingdings" pitchFamily="2" charset="2"/>
              </a:rPr>
              <a:t> </a:t>
            </a:r>
            <a:r>
              <a:rPr lang="es-ES_tradnl" sz="1200" dirty="0"/>
              <a:t> [FC 256] </a:t>
            </a:r>
            <a:r>
              <a:rPr lang="es-ES_tradnl" sz="1200" dirty="0">
                <a:sym typeface="Wingdings" pitchFamily="2" charset="2"/>
              </a:rPr>
              <a:t> </a:t>
            </a:r>
            <a:r>
              <a:rPr lang="es-ES_tradnl" sz="1200" dirty="0"/>
              <a:t> [ReLu] </a:t>
            </a:r>
            <a:r>
              <a:rPr lang="es-ES_tradnl" sz="1200" dirty="0">
                <a:sym typeface="Wingdings" pitchFamily="2" charset="2"/>
              </a:rPr>
              <a:t></a:t>
            </a:r>
            <a:endParaRPr lang="es-ES_tradnl" sz="1200" dirty="0"/>
          </a:p>
        </p:txBody>
      </p:sp>
      <p:sp>
        <p:nvSpPr>
          <p:cNvPr id="469" name="Textfeld 468">
            <a:extLst>
              <a:ext uri="{FF2B5EF4-FFF2-40B4-BE49-F238E27FC236}">
                <a16:creationId xmlns:a16="http://schemas.microsoft.com/office/drawing/2014/main" id="{7022240E-D51B-A58F-4E85-2A933D0495B4}"/>
              </a:ext>
            </a:extLst>
          </p:cNvPr>
          <p:cNvSpPr txBox="1"/>
          <p:nvPr/>
        </p:nvSpPr>
        <p:spPr>
          <a:xfrm>
            <a:off x="6142273" y="6163265"/>
            <a:ext cx="280959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1100" dirty="0"/>
              <a:t>[FC 512] </a:t>
            </a:r>
            <a:r>
              <a:rPr lang="es-ES_tradnl" sz="1100" dirty="0">
                <a:sym typeface="Wingdings" pitchFamily="2" charset="2"/>
              </a:rPr>
              <a:t> </a:t>
            </a:r>
            <a:r>
              <a:rPr lang="es-ES_tradnl" sz="1100" dirty="0"/>
              <a:t> [ReLu] </a:t>
            </a:r>
            <a:r>
              <a:rPr lang="es-ES_tradnl" sz="1100" dirty="0">
                <a:sym typeface="Wingdings" pitchFamily="2" charset="2"/>
              </a:rPr>
              <a:t></a:t>
            </a:r>
            <a:r>
              <a:rPr lang="es-ES_tradnl" sz="1100" dirty="0"/>
              <a:t> [FC 256] </a:t>
            </a:r>
            <a:r>
              <a:rPr lang="es-ES_tradnl" sz="1100" dirty="0">
                <a:sym typeface="Wingdings" pitchFamily="2" charset="2"/>
              </a:rPr>
              <a:t></a:t>
            </a:r>
            <a:r>
              <a:rPr lang="es-ES_tradnl" sz="1100" dirty="0"/>
              <a:t>[output 1]</a:t>
            </a:r>
          </a:p>
        </p:txBody>
      </p:sp>
      <p:sp>
        <p:nvSpPr>
          <p:cNvPr id="470" name="Textfeld 469">
            <a:extLst>
              <a:ext uri="{FF2B5EF4-FFF2-40B4-BE49-F238E27FC236}">
                <a16:creationId xmlns:a16="http://schemas.microsoft.com/office/drawing/2014/main" id="{47D998F6-052B-D3C4-EE82-86E3DE6B4CB6}"/>
              </a:ext>
            </a:extLst>
          </p:cNvPr>
          <p:cNvSpPr txBox="1"/>
          <p:nvPr/>
        </p:nvSpPr>
        <p:spPr>
          <a:xfrm>
            <a:off x="5509845" y="2322713"/>
            <a:ext cx="138392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900" dirty="0"/>
              <a:t>Concatenación (</a:t>
            </a:r>
            <a:r>
              <a:rPr lang="es-ES_tradnl" sz="900" dirty="0">
                <a:solidFill>
                  <a:srgbClr val="0070C0"/>
                </a:solidFill>
              </a:rPr>
              <a:t>s</a:t>
            </a:r>
            <a:r>
              <a:rPr lang="es-ES_tradnl" sz="900" dirty="0"/>
              <a:t>,</a:t>
            </a:r>
            <a:r>
              <a:rPr lang="es-ES_tradnl" sz="900" dirty="0">
                <a:solidFill>
                  <a:srgbClr val="FFC000"/>
                </a:solidFill>
              </a:rPr>
              <a:t>a</a:t>
            </a:r>
            <a:r>
              <a:rPr lang="es-ES_tradnl" sz="900" dirty="0"/>
              <a:t>)</a:t>
            </a:r>
          </a:p>
        </p:txBody>
      </p:sp>
      <p:grpSp>
        <p:nvGrpSpPr>
          <p:cNvPr id="473" name="Gruppieren 472">
            <a:extLst>
              <a:ext uri="{FF2B5EF4-FFF2-40B4-BE49-F238E27FC236}">
                <a16:creationId xmlns:a16="http://schemas.microsoft.com/office/drawing/2014/main" id="{1F04F228-6914-A4E2-1657-2668EA289176}"/>
              </a:ext>
            </a:extLst>
          </p:cNvPr>
          <p:cNvGrpSpPr/>
          <p:nvPr/>
        </p:nvGrpSpPr>
        <p:grpSpPr>
          <a:xfrm>
            <a:off x="313004" y="1192675"/>
            <a:ext cx="1039143" cy="1043040"/>
            <a:chOff x="7793778" y="-23609"/>
            <a:chExt cx="1275466" cy="1149452"/>
          </a:xfrm>
        </p:grpSpPr>
        <p:pic>
          <p:nvPicPr>
            <p:cNvPr id="474" name="Grafik 473">
              <a:extLst>
                <a:ext uri="{FF2B5EF4-FFF2-40B4-BE49-F238E27FC236}">
                  <a16:creationId xmlns:a16="http://schemas.microsoft.com/office/drawing/2014/main" id="{72F3E5F9-7901-EAD2-09A2-FAF52B9733B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2679" t="14811" r="19766" b="18544"/>
            <a:stretch>
              <a:fillRect/>
            </a:stretch>
          </p:blipFill>
          <p:spPr>
            <a:xfrm>
              <a:off x="7793778" y="-23609"/>
              <a:ext cx="1275466" cy="1149452"/>
            </a:xfrm>
            <a:prstGeom prst="rect">
              <a:avLst/>
            </a:prstGeom>
          </p:spPr>
        </p:pic>
        <p:sp>
          <p:nvSpPr>
            <p:cNvPr id="476" name="Textfeld 475">
              <a:extLst>
                <a:ext uri="{FF2B5EF4-FFF2-40B4-BE49-F238E27FC236}">
                  <a16:creationId xmlns:a16="http://schemas.microsoft.com/office/drawing/2014/main" id="{5C48F55B-4643-0F44-51F6-A0AA8D806AB3}"/>
                </a:ext>
              </a:extLst>
            </p:cNvPr>
            <p:cNvSpPr txBox="1"/>
            <p:nvPr/>
          </p:nvSpPr>
          <p:spPr>
            <a:xfrm>
              <a:off x="8402980" y="809204"/>
              <a:ext cx="622143" cy="2883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100" noProof="1"/>
                <a:t>(TD3)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965096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235</Words>
  <Application>Microsoft Macintosh PowerPoint</Application>
  <PresentationFormat>Breitbild</PresentationFormat>
  <Paragraphs>44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8" baseType="lpstr">
      <vt:lpstr>Aptos</vt:lpstr>
      <vt:lpstr>Aptos Display</vt:lpstr>
      <vt:lpstr>Arial</vt:lpstr>
      <vt:lpstr>Times New Roman</vt:lpstr>
      <vt:lpstr>Wingdings</vt:lpstr>
      <vt:lpstr>Office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ricardo sarabia</dc:creator>
  <cp:lastModifiedBy>ricardo sarabia</cp:lastModifiedBy>
  <cp:revision>4</cp:revision>
  <dcterms:created xsi:type="dcterms:W3CDTF">2026-03-30T18:47:06Z</dcterms:created>
  <dcterms:modified xsi:type="dcterms:W3CDTF">2026-04-11T09:37:31Z</dcterms:modified>
</cp:coreProperties>
</file>