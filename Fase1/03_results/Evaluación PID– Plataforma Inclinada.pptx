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535" r:id="rId2"/>
    <p:sldId id="536" r:id="rId3"/>
    <p:sldId id="537" r:id="rId4"/>
    <p:sldId id="538" r:id="rId5"/>
    <p:sldId id="539" r:id="rId6"/>
    <p:sldId id="540" r:id="rId7"/>
    <p:sldId id="54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18"/>
  </p:normalViewPr>
  <p:slideViewPr>
    <p:cSldViewPr snapToGrid="0">
      <p:cViewPr>
        <p:scale>
          <a:sx n="160" d="100"/>
          <a:sy n="160" d="100"/>
        </p:scale>
        <p:origin x="-240" y="-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61F89-5454-8843-B889-F1738EEE3083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7C9876-5068-4E41-BCE7-584DAC63F06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458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5C44-2F6D-D6FF-1955-EFAEFF4F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009827-D00F-7C20-393B-423C8086B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5009219-98AF-6040-49A5-E27A03A0D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E4DC4E-3D7A-C9ED-65AC-1DB09E998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6950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68E0D-E9DE-9641-5800-345A34FE8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6FDC62-BC7A-BE84-0E7C-CA94442B8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E984D7-524A-4D13-3889-48A03525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F57AED-EB01-4FAD-5215-89707EEC0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4F3504-AE57-BD7C-7990-BDBE11C9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106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7AFAD4-3E06-3EED-5EF1-AE66AE9A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7C9546-8F41-AAC6-5D23-186C04D85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F75F70-CC14-E179-C7EF-9B046D1B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A4EBBC-41EF-3295-EF8F-1C2D49AF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805504-1D41-E3D5-5F4C-A876BFAE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4452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0916A-B0BD-43A3-93A3-CF8E4711A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26D8C8-8831-E108-796E-5B765C65C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2C16A8-0896-B7A5-4127-C9610F28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2CB754-CFDA-E52B-731B-E6EA995D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C80C67-1178-CDA4-BECD-27629318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360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D6B346-6421-603D-DAA2-B906C1DE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98566-4FC9-98EB-D799-B955C3425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D4C18B-46B4-6ABD-5D54-65698C7C7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BDC40D-E46F-4C9B-FBEF-C32F39AC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EA4511-DF29-D546-764D-2CD944D9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8E986D-CC17-D311-B772-75201930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9054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CD022-060D-04C9-5C26-9F9BF3409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EECCFB-A67C-B258-B1BB-ABBEF3494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47F67-B4CC-8E80-3795-1E1BFC390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EEEE317-797D-0947-18E1-E70BFADED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EF15A9-7755-BC38-FCA5-9F36A2287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5725E7-8015-6B65-89B1-E69B7A6E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8F1ABD-3E9D-95D6-6203-9FEEFA47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35F084-DEDE-2867-DFEA-53B326E3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7682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FC01D6-C66E-8047-47C2-8E3DA98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43EDD5-E078-BADC-F4C7-CD074AB74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C4616B-4D9D-F60B-58D0-2BABBD86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E187A4-DFCF-F7D2-DC18-12261BA3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4047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FAA00C-0CF9-446A-FFD4-F2D40CC0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45E9E7E-25C0-F9B1-E417-466C0A0F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733CE4-3E21-1C71-E0AD-77E31B4B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95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95F33-159E-6F19-B834-05981D28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648FF8-D830-45B7-5918-0F1343EF0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AB7D13-2270-6A4B-D8A8-73AE3FE39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6024A5-84EC-CD89-28E1-72AD4422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5C481F-1C7F-36F6-5FFF-ECFA45A6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237C08-D229-C589-BC6F-50BE00D5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635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1975A8-C9EE-4C38-A376-9F85AA72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74E21F-D952-DAED-D6BF-264C42C1C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0E2720-E1E7-2EBC-B6A4-7DE197AD9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939FB6-3FDF-9849-F5A9-7F8686B5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29A304-8FCE-CB66-4BA3-D7B36F00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BEE558-E753-79F6-0348-DD856472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1567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257A2-0073-10A2-2AF4-BD92CBF3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9843F3-EDE9-ED0C-07BE-959813A00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28BFE8-4E67-ABB1-5EF9-A9932424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7F591B-90E0-6136-3D37-801E6B7A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7D9962-6C48-B698-A09C-A09A8B9A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439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B66DEEB-7FF5-4B09-2C83-9DF6D8B6D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B94B20-4D20-E0C1-B3E4-8E9E43461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1B77EF-E748-027B-6633-55A023CF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B9ACE2-692C-BA54-E20C-E3D56459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0D1B6E-4976-C146-0C51-B176FA92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952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PI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PID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8109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PID_Señ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PID en la Simulación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86245"/>
            <a:ext cx="2793751" cy="1278328"/>
          </a:xfrm>
        </p:spPr>
        <p:txBody>
          <a:bodyPr/>
          <a:lstStyle/>
          <a:p>
            <a:endParaRPr lang="es-ES_tradnl"/>
          </a:p>
        </p:txBody>
      </p:sp>
      <p:sp>
        <p:nvSpPr>
          <p:cNvPr id="15" name="Onlinebild-Platzhalter 13">
            <a:extLst>
              <a:ext uri="{FF2B5EF4-FFF2-40B4-BE49-F238E27FC236}">
                <a16:creationId xmlns:a16="http://schemas.microsoft.com/office/drawing/2014/main" id="{B6B5ED52-F232-2831-C6BE-35BA5927233A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520862" y="3743459"/>
            <a:ext cx="2793751" cy="1278328"/>
          </a:xfrm>
        </p:spPr>
        <p:txBody>
          <a:bodyPr/>
          <a:lstStyle/>
          <a:p>
            <a:endParaRPr lang="es-ES_tradnl"/>
          </a:p>
        </p:txBody>
      </p:sp>
      <p:sp>
        <p:nvSpPr>
          <p:cNvPr id="16" name="Onlinebild-Platzhalter 13">
            <a:extLst>
              <a:ext uri="{FF2B5EF4-FFF2-40B4-BE49-F238E27FC236}">
                <a16:creationId xmlns:a16="http://schemas.microsoft.com/office/drawing/2014/main" id="{4C638931-10E1-DC5C-399E-7B6D57B18239}"/>
              </a:ext>
            </a:extLst>
          </p:cNvPr>
          <p:cNvSpPr>
            <a:spLocks noGrp="1"/>
          </p:cNvSpPr>
          <p:nvPr>
            <p:ph type="clipArt" sz="quarter" idx="17"/>
          </p:nvPr>
        </p:nvSpPr>
        <p:spPr>
          <a:xfrm>
            <a:off x="520862" y="5198616"/>
            <a:ext cx="2793751" cy="1278328"/>
          </a:xfrm>
        </p:spPr>
        <p:txBody>
          <a:bodyPr/>
          <a:lstStyle/>
          <a:p>
            <a:endParaRPr lang="es-ES_tradnl"/>
          </a:p>
        </p:txBody>
      </p:sp>
      <p:sp>
        <p:nvSpPr>
          <p:cNvPr id="17" name="Inhaltsplatzhalter 28">
            <a:extLst>
              <a:ext uri="{FF2B5EF4-FFF2-40B4-BE49-F238E27FC236}">
                <a16:creationId xmlns:a16="http://schemas.microsoft.com/office/drawing/2014/main" id="{15612892-1A9C-C3F2-8108-BC8EDD0143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91062" y="2181237"/>
            <a:ext cx="8273590" cy="1323467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Inhaltsplatzhalter 28">
            <a:extLst>
              <a:ext uri="{FF2B5EF4-FFF2-40B4-BE49-F238E27FC236}">
                <a16:creationId xmlns:a16="http://schemas.microsoft.com/office/drawing/2014/main" id="{EFE5A65A-C045-3040-AE46-5568740D238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50797" y="3743459"/>
            <a:ext cx="8273590" cy="1323467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Inhaltsplatzhalter 28">
            <a:extLst>
              <a:ext uri="{FF2B5EF4-FFF2-40B4-BE49-F238E27FC236}">
                <a16:creationId xmlns:a16="http://schemas.microsoft.com/office/drawing/2014/main" id="{176B0BA9-1632-E729-18E1-6C3B8CFF0BA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550797" y="5198616"/>
            <a:ext cx="8273590" cy="1323467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3801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BCC68E-C6C7-811C-3AC4-1A729F4C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817500-F1D9-4920-35F4-804FEBEF6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22C003-5226-0411-8634-5B6E330A6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EE5DA-C0C3-A543-8CAD-339D583E7A0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9F35E8-2498-9C73-AE91-5135B3CD7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44E973-8D0F-8670-D0F6-21D30D852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1B421-074F-2144-92F5-F0720D6983D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3029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1.png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CF22-89C6-D400-55DB-57553609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F6F808-F937-D157-FF47-06E296CCF6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B56EBC6-C13D-A66B-1CAD-C1831FA92210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xfrm>
            <a:off x="6390198" y="5092979"/>
            <a:ext cx="5377732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200" dirty="0"/>
              <a:t>El RMSE del controlador PID mantiene una forma consistente a lo largo del dominio angular, evidenciando nuevamente un desplazamiento de la curva en función de la referencia. Sin embargo, se observa un incremento generalizado del error, alcanzando valores de aproximadamente </a:t>
            </a:r>
            <a:r>
              <a:rPr lang="es-ES_tradnl" sz="1200" b="1" dirty="0"/>
              <a:t>27.97°, 30.25° y hasta 57.02°</a:t>
            </a:r>
            <a:r>
              <a:rPr lang="es-ES_tradnl" sz="1200" dirty="0"/>
              <a:t>, lo que indica una mayor degradación del desempeño respecto al caso de plataforma plana.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20B2EEC-F31B-D984-AF57-739A5604668B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dirty="0"/>
          </a:p>
          <a:p>
            <a:pPr algn="l"/>
            <a:endParaRPr lang="es-ES_tradnl" sz="1400" b="1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11F56A0-A8DA-3059-EC1E-9EA992689B8A}"/>
              </a:ext>
            </a:extLst>
          </p:cNvPr>
          <p:cNvSpPr txBox="1">
            <a:spLocks/>
          </p:cNvSpPr>
          <p:nvPr/>
        </p:nvSpPr>
        <p:spPr>
          <a:xfrm>
            <a:off x="278030" y="6356350"/>
            <a:ext cx="11777612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/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4CCD5CE6-F0A8-38A0-1C7F-FF2956DC8CCD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7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63F35-77BE-CAEF-0501-73DD75400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88FF7FE-6A80-4C87-5953-0AAF38F64C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17" name="Inhaltsplatzhalter 5">
            <a:extLst>
              <a:ext uri="{FF2B5EF4-FFF2-40B4-BE49-F238E27FC236}">
                <a16:creationId xmlns:a16="http://schemas.microsoft.com/office/drawing/2014/main" id="{AC5B6CE2-8A22-D70F-90C2-BAA079D30F4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56109059"/>
              </p:ext>
            </p:extLst>
          </p:nvPr>
        </p:nvGraphicFramePr>
        <p:xfrm>
          <a:off x="815975" y="4749800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71.66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27.48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61.07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26.66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27.97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481.29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28.91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12.61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10.81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30.25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35.64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14.43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4.57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74.70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29.70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556.86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58.24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11.84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44E57457-D926-47D6-61C3-EEB8D22E58CF}"/>
              </a:ext>
            </a:extLst>
          </p:cNvPr>
          <p:cNvSpPr txBox="1"/>
          <p:nvPr/>
        </p:nvSpPr>
        <p:spPr>
          <a:xfrm>
            <a:off x="520862" y="2140208"/>
            <a:ext cx="281622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sistema presenta una </a:t>
            </a:r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incapacidad para converger exactamente a la referencia de 45°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manteniendo desviaciones persistentes en el estado estacionario. Aunque el sistema conserva estabilidad, el deterioro en precisión y esfuerzo de control es claramente más severo en comparación con la plataforma plana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DF23559-A65B-F2DA-AF1D-90C7146A6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684" y="1983835"/>
            <a:ext cx="5424376" cy="2471207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E95175-54E3-7579-5C43-E441F02E2655}"/>
              </a:ext>
            </a:extLst>
          </p:cNvPr>
          <p:cNvSpPr txBox="1">
            <a:spLocks/>
          </p:cNvSpPr>
          <p:nvPr/>
        </p:nvSpPr>
        <p:spPr>
          <a:xfrm>
            <a:off x="278030" y="6356350"/>
            <a:ext cx="11777612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97601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5D44-3EBC-7FCF-8301-00C244E4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1AB3392-16F9-8427-5085-2550E90BDE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239310" cy="1066521"/>
          </a:xfrm>
        </p:spPr>
        <p:txBody>
          <a:bodyPr>
            <a:noAutofit/>
          </a:bodyPr>
          <a:lstStyle/>
          <a:p>
            <a:pPr algn="l"/>
            <a:r>
              <a:rPr lang="es-ES_tradnl" sz="1200" dirty="0"/>
              <a:t>El retardo de señal no modifica la forma estructural del RMSE, pero incrementa ligeramente el error en todo el dominio angular, situándose aproximadamente entre </a:t>
            </a:r>
            <a:r>
              <a:rPr lang="es-ES_tradnl" sz="1200" b="1" dirty="0"/>
              <a:t>40° y 42°</a:t>
            </a:r>
            <a:r>
              <a:rPr lang="es-ES_tradnl" sz="1200" dirty="0"/>
              <a:t>, lo que confirma una penalización uniforme del desempeño bajo condiciones de inclinación</a:t>
            </a:r>
          </a:p>
          <a:p>
            <a:pPr algn="l">
              <a:lnSpc>
                <a:spcPct val="120000"/>
              </a:lnSpc>
            </a:pPr>
            <a:endParaRPr lang="es-ES_tradnl" sz="1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1E7F0E-2B61-B3D0-F1BF-30398A2E85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86EF66D-F4AC-B2BB-8F91-C98237AA956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A68C9386-C830-EBC6-2DC4-DC85BA428331}"/>
              </a:ext>
            </a:extLst>
          </p:cNvPr>
          <p:cNvSpPr txBox="1">
            <a:spLocks/>
          </p:cNvSpPr>
          <p:nvPr/>
        </p:nvSpPr>
        <p:spPr>
          <a:xfrm>
            <a:off x="278030" y="6356350"/>
            <a:ext cx="11777612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72362894-FA6B-B9C2-852B-5DD4EB4D028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3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6B2F-1492-6EBC-9B86-703D9131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17B72A9-9399-2E39-6D50-75E1A2B9CD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dirty="0"/>
          </a:p>
        </p:txBody>
      </p:sp>
      <p:graphicFrame>
        <p:nvGraphicFramePr>
          <p:cNvPr id="17" name="Inhaltsplatzhalter 5">
            <a:extLst>
              <a:ext uri="{FF2B5EF4-FFF2-40B4-BE49-F238E27FC236}">
                <a16:creationId xmlns:a16="http://schemas.microsoft.com/office/drawing/2014/main" id="{0414E7D4-20E2-E74A-D254-887299A7BF6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76472325"/>
              </p:ext>
            </p:extLst>
          </p:nvPr>
        </p:nvGraphicFramePr>
        <p:xfrm>
          <a:off x="815975" y="4749800"/>
          <a:ext cx="10532960" cy="9634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2204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405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71.28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27.05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60.11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26.28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27.23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474.86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28.50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33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71.66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26.66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481.29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28.91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12.61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10.81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33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71.75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27.84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61.86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26.75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485.64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29.62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12.77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12.22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33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33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FEC39266-6F33-D44E-9246-95A6EE1C11F3}"/>
              </a:ext>
            </a:extLst>
          </p:cNvPr>
          <p:cNvSpPr txBox="1"/>
          <p:nvPr/>
        </p:nvSpPr>
        <p:spPr>
          <a:xfrm>
            <a:off x="520862" y="2428108"/>
            <a:ext cx="28162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respuesta temporal muestra variaciones leves en el transitorio, manteniendo estabilidad en todos los casos. Sin embargo, el sistema presenta un 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estacionario elevado (~26°)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alcanza la consigna de 45°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evidenciando limitaciones del controlador bajo perturbaciones gravitacionales.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CACEDB-A650-3309-A095-93F0C8C62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166" y="2108199"/>
            <a:ext cx="6695047" cy="2485065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97F5B71-0F38-16E7-A572-2E1FC79FD6F3}"/>
              </a:ext>
            </a:extLst>
          </p:cNvPr>
          <p:cNvSpPr txBox="1">
            <a:spLocks/>
          </p:cNvSpPr>
          <p:nvPr/>
        </p:nvSpPr>
        <p:spPr>
          <a:xfrm>
            <a:off x="278030" y="6356350"/>
            <a:ext cx="11777612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21213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0123-8C96-796B-86BD-E78418E7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8EEB183-6205-8BDA-E685-AA66BE5A26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8772" y="4968637"/>
            <a:ext cx="4763355" cy="1190863"/>
          </a:xfrm>
        </p:spPr>
        <p:txBody>
          <a:bodyPr>
            <a:noAutofit/>
          </a:bodyPr>
          <a:lstStyle/>
          <a:p>
            <a:pPr algn="l"/>
            <a:r>
              <a:rPr lang="es-ES_tradnl" sz="1200" dirty="0"/>
              <a:t>A diferencia de otros factores, la velocidad angular inicial no solo desplaza, sino que también </a:t>
            </a:r>
            <a:r>
              <a:rPr lang="es-ES_tradnl" sz="1200" b="1" dirty="0"/>
              <a:t>distorsiona la distribución del RMSE</a:t>
            </a:r>
            <a:r>
              <a:rPr lang="es-ES_tradnl" sz="1200" dirty="0"/>
              <a:t>, con valores que oscilan aproximadamente entre </a:t>
            </a:r>
            <a:r>
              <a:rPr lang="es-ES_tradnl" sz="1200" b="1" dirty="0"/>
              <a:t>39.7° y 43.2°</a:t>
            </a:r>
            <a:r>
              <a:rPr lang="es-ES_tradnl" sz="1200" dirty="0"/>
              <a:t>, evidenciando una mayor degradación del desempeño bajo condiciones de inclinación.</a:t>
            </a:r>
          </a:p>
          <a:p>
            <a:pPr algn="l"/>
            <a:r>
              <a:rPr lang="es-ES_tradnl" sz="1200" dirty="0"/>
              <a:t>Este comportamiento confirma una </a:t>
            </a:r>
            <a:r>
              <a:rPr lang="es-ES_tradnl" sz="1200" b="1" dirty="0"/>
              <a:t>alta sensibilidad del controlador al estado inicial dinámico</a:t>
            </a:r>
            <a:r>
              <a:rPr lang="es-ES_tradnl" sz="1200" dirty="0"/>
              <a:t>, intensificada por los efectos gravitacionales.</a:t>
            </a:r>
          </a:p>
          <a:p>
            <a:pPr algn="l">
              <a:lnSpc>
                <a:spcPct val="120000"/>
              </a:lnSpc>
            </a:pPr>
            <a:endParaRPr lang="es-ES_tradnl" sz="1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0E10C5-EB56-D3F7-F851-68F6EBDF9F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F655020-6D16-3F2D-4D7D-3AF2FB32967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8772" y="4275350"/>
            <a:ext cx="4571997" cy="4656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dirty="0"/>
          </a:p>
          <a:p>
            <a:endParaRPr lang="es-ES_tradnl" b="1" dirty="0"/>
          </a:p>
          <a:p>
            <a:endParaRPr lang="es-ES_tradnl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05C02F49-C984-BAA2-1D8A-FA52BE79733E}"/>
              </a:ext>
            </a:extLst>
          </p:cNvPr>
          <p:cNvSpPr txBox="1">
            <a:spLocks/>
          </p:cNvSpPr>
          <p:nvPr/>
        </p:nvSpPr>
        <p:spPr>
          <a:xfrm>
            <a:off x="278030" y="6356350"/>
            <a:ext cx="11777612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12" name="Onlinebild-Platzhalter 11">
            <a:extLst>
              <a:ext uri="{FF2B5EF4-FFF2-40B4-BE49-F238E27FC236}">
                <a16:creationId xmlns:a16="http://schemas.microsoft.com/office/drawing/2014/main" id="{A875EEDA-C6A7-AC00-1E9B-CADF00A1CEC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6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D843D-79B2-F158-C5FF-6185E037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9BA16AB-7C02-483B-7190-DC9F291DAE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8633771" cy="449263"/>
          </a:xfrm>
        </p:spPr>
        <p:txBody>
          <a:bodyPr>
            <a:norm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dirty="0"/>
          </a:p>
        </p:txBody>
      </p:sp>
      <p:graphicFrame>
        <p:nvGraphicFramePr>
          <p:cNvPr id="17" name="Inhaltsplatzhalter 5">
            <a:extLst>
              <a:ext uri="{FF2B5EF4-FFF2-40B4-BE49-F238E27FC236}">
                <a16:creationId xmlns:a16="http://schemas.microsoft.com/office/drawing/2014/main" id="{27F283F5-076E-C2C0-3F8B-B919AB57018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067020210"/>
              </p:ext>
            </p:extLst>
          </p:nvPr>
        </p:nvGraphicFramePr>
        <p:xfrm>
          <a:off x="815975" y="4749800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71.66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27.48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61.07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26.66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27.97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481.29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28.91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12.61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10.81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28.52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490.86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30.81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13.66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62.12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484.59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31.31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15.73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C5D037D9-7B6D-0390-0F6C-8E6BCCF0B349}"/>
              </a:ext>
            </a:extLst>
          </p:cNvPr>
          <p:cNvSpPr txBox="1"/>
          <p:nvPr/>
        </p:nvSpPr>
        <p:spPr>
          <a:xfrm>
            <a:off x="520862" y="2079762"/>
            <a:ext cx="2816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respuesta temporal muestra variaciones significativas en el régimen transitorio, con cambios en el sobreimpulso y el esfuerzo de control según la velocidad inicial. Además, el sistema presenta un 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estacionario elevado (~26°)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alcanza la consigna de 45°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ninguno de los casos.</a:t>
            </a:r>
          </a:p>
          <a:p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Aunque el sistema mantiene estabilidad, este escenario confirma que la 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velocidad angular inicial es el factor más crítico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especialmente en presencia de inclinación.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677AC9-1FF2-A583-7E9C-2693BB96F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545" y="2108200"/>
            <a:ext cx="5559311" cy="2426435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69A069BB-929C-3F9A-A131-996E9450296A}"/>
              </a:ext>
            </a:extLst>
          </p:cNvPr>
          <p:cNvSpPr txBox="1">
            <a:spLocks/>
          </p:cNvSpPr>
          <p:nvPr/>
        </p:nvSpPr>
        <p:spPr>
          <a:xfrm>
            <a:off x="278030" y="6356350"/>
            <a:ext cx="11777612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76928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7B7F9-F8D7-69A0-815B-894EC59F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40F2BDC7-5FC7-257A-D757-E6204AB7EB59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15EF12B9-AAAF-25D4-9CCE-45EAA80B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B1D13B60-0F60-EA1C-1126-ED2245895C5D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Influencias de las perturbaciones en plataforma inclinada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C181BBB7-695E-25E6-4712-4961304C87E6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F2CC966-24F6-6118-FA84-5F6A645CEC49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PID– Plataforma Inclinada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69CE979-7BA1-BEFC-BEB3-AA4233496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7B58CFA-7AE8-3574-F323-D75DB7AB65F6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3B15C53-1505-02C7-191A-8DB975B86D74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D1BAF2C-13B9-84EE-0F2E-880F3AF968F3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774F125-450C-25A3-6DCE-0E2570C52F41}"/>
              </a:ext>
            </a:extLst>
          </p:cNvPr>
          <p:cNvSpPr txBox="1"/>
          <p:nvPr/>
        </p:nvSpPr>
        <p:spPr>
          <a:xfrm>
            <a:off x="372931" y="5529946"/>
            <a:ext cx="11079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análisis en plataforma inclinada evidencia que, aunque el PID conserva su forma de respuesta, su desempeño se degrada significativamente: el error aumenta, se introduce un error estacionario elevado y el sistema no alcanza la consigna. La sensibilidad al estado inicial, especialmente a la velocidad angular, se intensifica bajo efectos gravitacionales, confirmando la falta de robustez del controlador.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018238-BA8B-CA4A-FC4A-717AF295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030" y="6356350"/>
            <a:ext cx="11777612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4" name="Onlinebild-Platzhalter 8">
            <a:extLst>
              <a:ext uri="{FF2B5EF4-FFF2-40B4-BE49-F238E27FC236}">
                <a16:creationId xmlns:a16="http://schemas.microsoft.com/office/drawing/2014/main" id="{5F830F12-C052-184B-2C6F-5B3F84741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05" y="2262758"/>
            <a:ext cx="3562965" cy="2725916"/>
          </a:xfrm>
          <a:prstGeom prst="rect">
            <a:avLst/>
          </a:prstGeom>
        </p:spPr>
      </p:pic>
      <p:pic>
        <p:nvPicPr>
          <p:cNvPr id="7" name="Onlinebild-Platzhalter 13">
            <a:extLst>
              <a:ext uri="{FF2B5EF4-FFF2-40B4-BE49-F238E27FC236}">
                <a16:creationId xmlns:a16="http://schemas.microsoft.com/office/drawing/2014/main" id="{FB049F47-EBC2-3D1B-024C-2895F0B5F8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4684" y="2262758"/>
            <a:ext cx="3541212" cy="2709274"/>
          </a:xfrm>
          <a:prstGeom prst="rect">
            <a:avLst/>
          </a:prstGeom>
        </p:spPr>
      </p:pic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E903FFFF-CB6D-E9DC-AF74-E95928E1CE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4610" y="2256459"/>
            <a:ext cx="3541212" cy="270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34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Macintosh PowerPoint</Application>
  <PresentationFormat>Breitbild</PresentationFormat>
  <Paragraphs>226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4</cp:revision>
  <dcterms:created xsi:type="dcterms:W3CDTF">2026-03-28T07:46:16Z</dcterms:created>
  <dcterms:modified xsi:type="dcterms:W3CDTF">2026-04-06T17:04:40Z</dcterms:modified>
</cp:coreProperties>
</file>