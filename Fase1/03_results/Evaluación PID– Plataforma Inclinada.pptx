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535" r:id="rId2"/>
    <p:sldId id="536" r:id="rId3"/>
    <p:sldId id="537" r:id="rId4"/>
    <p:sldId id="538" r:id="rId5"/>
    <p:sldId id="539" r:id="rId6"/>
    <p:sldId id="540" r:id="rId7"/>
    <p:sldId id="541" r:id="rId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6" d="100"/>
          <a:sy n="106" d="100"/>
        </p:scale>
        <p:origin x="133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761F89-5454-8843-B889-F1738EEE3083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7C9876-5068-4E41-BCE7-584DAC63F064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7745882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5C44-2F6D-D6FF-1955-EFAEFF4F7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63009827-D00F-7C20-393B-423C8086BC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  <p:txBody>
          <a:bodyPr/>
          <a:lstStyle/>
          <a:p>
            <a:endParaRPr lang="es-ES_tradnl"/>
          </a:p>
        </p:txBody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E5009219-98AF-6040-49A5-E27A03A0D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E4DC4E-3D7A-C9ED-65AC-1DB09E9987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4785C0-5D3C-044C-86BD-FEC1FEF91D7D}" type="slidenum">
              <a:rPr lang="es-ES_tradnl" smtClean="0"/>
              <a:t>7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69505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068E0D-E9DE-9641-5800-345A34FE8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96FDC62-BC7A-BE84-0E7C-CA94442B81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E984D7-524A-4D13-3889-48A035257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F57AED-EB01-4FAD-5215-89707EEC0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4F3504-AE57-BD7C-7990-BDBE11C94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21060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7AFAD4-3E06-3EED-5EF1-AE66AE9AC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7C9546-8F41-AAC6-5D23-186C04D85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9F75F70-CC14-E179-C7EF-9B046D1B04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A4EBBC-41EF-3295-EF8F-1C2D49AF2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805504-1D41-E3D5-5F4C-A876BFAE8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44520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40916A-B0BD-43A3-93A3-CF8E4711A3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226D8C8-8831-E108-796E-5B765C65C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2C16A8-0896-B7A5-4127-C9610F281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2CB754-CFDA-E52B-731B-E6EA995DC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1C80C67-1178-CDA4-BECD-276293186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63603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D6B346-6421-603D-DAA2-B906C1DEA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98566-4FC9-98EB-D799-B955C34250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D4C18B-46B4-6ABD-5D54-65698C7C7E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CBDC40D-E46F-4C9B-FBEF-C32F39AC2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CEA4511-DF29-D546-764D-2CD944D94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C8E986D-CC17-D311-B772-7520193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619054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CD022-060D-04C9-5C26-9F9BF3409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5EECCFB-A67C-B258-B1BB-ABBEF3494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D47F67-B4CC-8E80-3795-1E1BFC3902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EEEE317-797D-0947-18E1-E70BFADED9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DEF15A9-7755-BC38-FCA5-9F36A22877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85725E7-8015-6B65-89B1-E69B7A6E5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D8F1ABD-3E9D-95D6-6203-9FEEFA474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7635F084-DEDE-2867-DFEA-53B326E3C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676821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FC01D6-C66E-8047-47C2-8E3DA98FE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343EDD5-E078-BADC-F4C7-CD074AB74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8C4616B-4D9D-F60B-58D0-2BABBD864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E187A4-DFCF-F7D2-DC18-12261BA3F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44047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9FAA00C-0CF9-446A-FFD4-F2D40CC09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45E9E7E-25C0-F9B1-E417-466C0A0F1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733CE4-3E21-1C71-E0AD-77E31B4BA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9952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95F33-159E-6F19-B834-05981D284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648FF8-D830-45B7-5918-0F1343EF0C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AB7D13-2270-6A4B-D8A8-73AE3FE396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56024A5-84EC-CD89-28E1-72AD44220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F5C481F-1C7F-36F6-5FFF-ECFA45A68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237C08-D229-C589-BC6F-50BE00D5F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463543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1975A8-C9EE-4C38-A376-9F85AA72F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D74E21F-D952-DAED-D6BF-264C42C1C2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A0E2720-E1E7-2EBC-B6A4-7DE197AD91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6939FB6-3FDF-9849-F5A9-7F8686B5F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029A304-8FCE-CB66-4BA3-D7B36F008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2BEE558-E753-79F6-0348-DD8564728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1567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E257A2-0073-10A2-2AF4-BD92CBF3F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C9843F3-EDE9-ED0C-07BE-959813A009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28BFE8-4E67-ABB1-5EF9-A99324248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7F591B-90E0-6136-3D37-801E6B7A3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7D9962-6C48-B698-A09C-A09A8B9AE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284395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B66DEEB-7FF5-4B09-2C83-9DF6D8B6D9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6B94B20-4D20-E0C1-B3E4-8E9E434612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81B77EF-E748-027B-6633-55A023CF1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B9ACE2-692C-BA54-E20C-E3D56459C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0D1B6E-4976-C146-0C51-B176FA929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029528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PI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 en la Simulación</a:t>
            </a:r>
          </a:p>
        </p:txBody>
      </p:sp>
      <p:sp>
        <p:nvSpPr>
          <p:cNvPr id="29" name="Inhaltsplatzhalter 28">
            <a:extLst>
              <a:ext uri="{FF2B5EF4-FFF2-40B4-BE49-F238E27FC236}">
                <a16:creationId xmlns:a16="http://schemas.microsoft.com/office/drawing/2014/main" id="{529551D1-5D3F-5303-A7C7-338F40CEA02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4534893" cy="636457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50672"/>
            <a:ext cx="5365750" cy="4008437"/>
          </a:xfrm>
        </p:spPr>
        <p:txBody>
          <a:bodyPr/>
          <a:lstStyle/>
          <a:p>
            <a:endParaRPr lang="es-ES_tradnl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95360E26-BFAE-B334-4899-0F825BFBC34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353093" y="2077326"/>
            <a:ext cx="2721697" cy="2147028"/>
          </a:xfrm>
          <a:prstGeom prst="rect">
            <a:avLst/>
          </a:prstGeom>
        </p:spPr>
      </p:pic>
      <p:sp>
        <p:nvSpPr>
          <p:cNvPr id="22" name="Inhaltsplatzhalter 28">
            <a:extLst>
              <a:ext uri="{FF2B5EF4-FFF2-40B4-BE49-F238E27FC236}">
                <a16:creationId xmlns:a16="http://schemas.microsoft.com/office/drawing/2014/main" id="{BE6DE186-B408-4201-17FA-17FDB7A4014C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53093" y="4424206"/>
            <a:ext cx="4571997" cy="465600"/>
          </a:xfrm>
        </p:spPr>
        <p:txBody>
          <a:bodyPr/>
          <a:lstStyle>
            <a:lvl1pPr marL="0" indent="0" algn="ctr"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81091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valuacion_PID_Seña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3">
            <a:extLst>
              <a:ext uri="{FF2B5EF4-FFF2-40B4-BE49-F238E27FC236}">
                <a16:creationId xmlns:a16="http://schemas.microsoft.com/office/drawing/2014/main" id="{A2703B11-D662-0761-2C28-295674204D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9727159" y="198437"/>
            <a:ext cx="1732790" cy="86639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B04077B-F64E-73B0-DB6F-6D6069A174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640054" y="1307035"/>
            <a:ext cx="1465024" cy="1057511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5D959E84-1BDC-3415-5E5F-2481B8EF4336}"/>
              </a:ext>
            </a:extLst>
          </p:cNvPr>
          <p:cNvSpPr/>
          <p:nvPr userDrawn="1"/>
        </p:nvSpPr>
        <p:spPr>
          <a:xfrm>
            <a:off x="-3818" y="-7818"/>
            <a:ext cx="12195818" cy="976185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sz="180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41B35AC-5FD2-0498-0C0B-3C9BC3F79BD3}"/>
              </a:ext>
            </a:extLst>
          </p:cNvPr>
          <p:cNvSpPr txBox="1"/>
          <p:nvPr userDrawn="1"/>
        </p:nvSpPr>
        <p:spPr>
          <a:xfrm>
            <a:off x="374790" y="256347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 en la Simulación</a:t>
            </a:r>
          </a:p>
        </p:txBody>
      </p:sp>
      <p:cxnSp>
        <p:nvCxnSpPr>
          <p:cNvPr id="2" name="Gerade Verbindung 1">
            <a:extLst>
              <a:ext uri="{FF2B5EF4-FFF2-40B4-BE49-F238E27FC236}">
                <a16:creationId xmlns:a16="http://schemas.microsoft.com/office/drawing/2014/main" id="{E823874B-BE42-6B9C-CBCF-8EFCB6AD8788}"/>
              </a:ext>
            </a:extLst>
          </p:cNvPr>
          <p:cNvCxnSpPr>
            <a:cxnSpLocks/>
          </p:cNvCxnSpPr>
          <p:nvPr userDrawn="1"/>
        </p:nvCxnSpPr>
        <p:spPr>
          <a:xfrm>
            <a:off x="520862" y="1850693"/>
            <a:ext cx="9945312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platzhalter 23">
            <a:extLst>
              <a:ext uri="{FF2B5EF4-FFF2-40B4-BE49-F238E27FC236}">
                <a16:creationId xmlns:a16="http://schemas.microsoft.com/office/drawing/2014/main" id="{90D1329D-A0BF-1FBB-6936-392FA8034A0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6994505" cy="449263"/>
          </a:xfrm>
        </p:spPr>
        <p:txBody>
          <a:bodyPr/>
          <a:lstStyle>
            <a:lvl1pPr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s-ES_tradnl" sz="2000" dirty="0">
              <a:solidFill>
                <a:schemeClr val="tx1">
                  <a:lumMod val="75000"/>
                  <a:lumOff val="2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Onlinebild-Platzhalter 13">
            <a:extLst>
              <a:ext uri="{FF2B5EF4-FFF2-40B4-BE49-F238E27FC236}">
                <a16:creationId xmlns:a16="http://schemas.microsoft.com/office/drawing/2014/main" id="{FD9EF390-3AFD-9D64-1273-017BE22D9A62}"/>
              </a:ext>
            </a:extLst>
          </p:cNvPr>
          <p:cNvSpPr>
            <a:spLocks noGrp="1"/>
          </p:cNvSpPr>
          <p:nvPr>
            <p:ph type="clipArt" sz="quarter" idx="15"/>
          </p:nvPr>
        </p:nvSpPr>
        <p:spPr>
          <a:xfrm>
            <a:off x="520862" y="2186245"/>
            <a:ext cx="2793751" cy="1278328"/>
          </a:xfrm>
        </p:spPr>
        <p:txBody>
          <a:bodyPr/>
          <a:lstStyle/>
          <a:p>
            <a:endParaRPr lang="es-ES_tradnl"/>
          </a:p>
        </p:txBody>
      </p:sp>
      <p:sp>
        <p:nvSpPr>
          <p:cNvPr id="15" name="Onlinebild-Platzhalter 13">
            <a:extLst>
              <a:ext uri="{FF2B5EF4-FFF2-40B4-BE49-F238E27FC236}">
                <a16:creationId xmlns:a16="http://schemas.microsoft.com/office/drawing/2014/main" id="{B6B5ED52-F232-2831-C6BE-35BA5927233A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520862" y="3743459"/>
            <a:ext cx="2793751" cy="1278328"/>
          </a:xfrm>
        </p:spPr>
        <p:txBody>
          <a:bodyPr/>
          <a:lstStyle/>
          <a:p>
            <a:endParaRPr lang="es-ES_tradnl"/>
          </a:p>
        </p:txBody>
      </p:sp>
      <p:sp>
        <p:nvSpPr>
          <p:cNvPr id="16" name="Onlinebild-Platzhalter 13">
            <a:extLst>
              <a:ext uri="{FF2B5EF4-FFF2-40B4-BE49-F238E27FC236}">
                <a16:creationId xmlns:a16="http://schemas.microsoft.com/office/drawing/2014/main" id="{4C638931-10E1-DC5C-399E-7B6D57B18239}"/>
              </a:ext>
            </a:extLst>
          </p:cNvPr>
          <p:cNvSpPr>
            <a:spLocks noGrp="1"/>
          </p:cNvSpPr>
          <p:nvPr>
            <p:ph type="clipArt" sz="quarter" idx="17"/>
          </p:nvPr>
        </p:nvSpPr>
        <p:spPr>
          <a:xfrm>
            <a:off x="520862" y="5198616"/>
            <a:ext cx="2793751" cy="1278328"/>
          </a:xfrm>
        </p:spPr>
        <p:txBody>
          <a:bodyPr/>
          <a:lstStyle/>
          <a:p>
            <a:endParaRPr lang="es-ES_tradnl"/>
          </a:p>
        </p:txBody>
      </p:sp>
      <p:sp>
        <p:nvSpPr>
          <p:cNvPr id="17" name="Inhaltsplatzhalter 28">
            <a:extLst>
              <a:ext uri="{FF2B5EF4-FFF2-40B4-BE49-F238E27FC236}">
                <a16:creationId xmlns:a16="http://schemas.microsoft.com/office/drawing/2014/main" id="{15612892-1A9C-C3F2-8108-BC8EDD01438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591062" y="2181237"/>
            <a:ext cx="8273590" cy="1323467"/>
          </a:xfrm>
        </p:spPr>
        <p:txBody>
          <a:bodyPr/>
          <a:lstStyle>
            <a:lvl1pPr algn="ctr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Inhaltsplatzhalter 28">
            <a:extLst>
              <a:ext uri="{FF2B5EF4-FFF2-40B4-BE49-F238E27FC236}">
                <a16:creationId xmlns:a16="http://schemas.microsoft.com/office/drawing/2014/main" id="{EFE5A65A-C045-3040-AE46-5568740D238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50797" y="3743459"/>
            <a:ext cx="8273590" cy="1323467"/>
          </a:xfrm>
        </p:spPr>
        <p:txBody>
          <a:bodyPr/>
          <a:lstStyle>
            <a:lvl1pPr algn="ctr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Inhaltsplatzhalter 28">
            <a:extLst>
              <a:ext uri="{FF2B5EF4-FFF2-40B4-BE49-F238E27FC236}">
                <a16:creationId xmlns:a16="http://schemas.microsoft.com/office/drawing/2014/main" id="{176B0BA9-1632-E729-18E1-6C3B8CFF0BA2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550797" y="5198616"/>
            <a:ext cx="8273590" cy="1323467"/>
          </a:xfrm>
        </p:spPr>
        <p:txBody>
          <a:bodyPr/>
          <a:lstStyle>
            <a:lvl1pPr algn="ctr"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38010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5BCC68E-C6C7-811C-3AC4-1A729F4C7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s-ES_tradnl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F817500-F1D9-4920-35F4-804FEBEF68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s-ES_tradnl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22C003-5226-0411-8634-5B6E330A6F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9EE5DA-C0C3-A543-8CAD-339D583E7A01}" type="datetimeFigureOut">
              <a:rPr lang="es-ES_tradnl" smtClean="0"/>
              <a:t>28/3/26</a:t>
            </a:fld>
            <a:endParaRPr lang="es-ES_tradnl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9F35E8-2498-9C73-AE91-5135B3CD7D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_tradnl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44E973-8D0F-8670-D0F6-21D30D8525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01B421-074F-2144-92F5-F0720D6983D7}" type="slidenum">
              <a:rPr lang="es-ES_tradnl" smtClean="0"/>
              <a:t>‹Nr.›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30298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emf"/><Relationship Id="rId3" Type="http://schemas.openxmlformats.org/officeDocument/2006/relationships/image" Target="../media/image1.png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emf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E5CF22-89C6-D400-55DB-575536093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6F6F808-F937-D157-FF47-06E296CCF6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</a:t>
            </a:r>
          </a:p>
          <a:p>
            <a:endParaRPr lang="es-ES_tradnl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B56EBC6-C13D-A66B-1CAD-C1831FA92210}"/>
              </a:ext>
            </a:extLst>
          </p:cNvPr>
          <p:cNvSpPr txBox="1">
            <a:spLocks noGrp="1"/>
          </p:cNvSpPr>
          <p:nvPr>
            <p:ph sz="quarter" idx="14"/>
          </p:nvPr>
        </p:nvSpPr>
        <p:spPr>
          <a:xfrm>
            <a:off x="6390198" y="5092979"/>
            <a:ext cx="5377732" cy="10156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ES_tradnl" sz="1200" dirty="0"/>
              <a:t>El RMSE del controlador PID mantiene una forma consistente a lo largo del dominio angular, evidenciando nuevamente un desplazamiento de la curva en función de la referencia. Sin embargo, se observa un incremento generalizado del error, alcanzando valores de aproximadamente </a:t>
            </a:r>
            <a:r>
              <a:rPr lang="es-ES_tradnl" sz="1200" b="1" dirty="0"/>
              <a:t>27.97°, 30.25° y hasta 57.02°</a:t>
            </a:r>
            <a:r>
              <a:rPr lang="es-ES_tradnl" sz="1200" dirty="0"/>
              <a:t>, lo que indica una mayor degradación del desempeño respecto al caso de plataforma plana.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20B2EEC-F31B-D984-AF57-739A5604668B}"/>
              </a:ext>
            </a:extLst>
          </p:cNvPr>
          <p:cNvSpPr txBox="1">
            <a:spLocks noGrp="1"/>
          </p:cNvSpPr>
          <p:nvPr>
            <p:ph sz="quarter" idx="16"/>
          </p:nvPr>
        </p:nvSpPr>
        <p:spPr>
          <a:xfrm>
            <a:off x="6353093" y="4424206"/>
            <a:ext cx="4571997" cy="67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s-ES_tradnl" sz="1400" b="1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o1ini: (-90°, 0°, 90°)</a:t>
            </a:r>
          </a:p>
          <a:p>
            <a:pPr algn="l"/>
            <a:r>
              <a:rPr lang="es-ES_tradnl" sz="14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do1ini= 0°, Retardo=0ms </a:t>
            </a:r>
            <a:endParaRPr lang="es-ES_tradnl" sz="1400" dirty="0"/>
          </a:p>
          <a:p>
            <a:pPr algn="l"/>
            <a:endParaRPr lang="es-ES_tradnl" sz="1400" b="1" dirty="0"/>
          </a:p>
        </p:txBody>
      </p:sp>
      <p:pic>
        <p:nvPicPr>
          <p:cNvPr id="9" name="Onlinebild-Platzhalter 8">
            <a:extLst>
              <a:ext uri="{FF2B5EF4-FFF2-40B4-BE49-F238E27FC236}">
                <a16:creationId xmlns:a16="http://schemas.microsoft.com/office/drawing/2014/main" id="{B806082D-AABA-41D0-9534-F15D93096D16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2" name="Fußzeilenplatzhalter 2">
            <a:extLst>
              <a:ext uri="{FF2B5EF4-FFF2-40B4-BE49-F238E27FC236}">
                <a16:creationId xmlns:a16="http://schemas.microsoft.com/office/drawing/2014/main" id="{711F56A0-A8DA-3059-EC1E-9EA992689B8A}"/>
              </a:ext>
            </a:extLst>
          </p:cNvPr>
          <p:cNvSpPr txBox="1">
            <a:spLocks/>
          </p:cNvSpPr>
          <p:nvPr/>
        </p:nvSpPr>
        <p:spPr>
          <a:xfrm>
            <a:off x="278030" y="6356350"/>
            <a:ext cx="11777612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/>
              <a:t>TFM – Master Inteligencia Artificial – Control Monoarticular aplicado en manipuladores móviles utilizando aprendizaje por refuerzo  –  Ricardo Enrique  Sarabia Palacio</a:t>
            </a:r>
            <a:endParaRPr lang="es-ES_tradnl" sz="900" dirty="0"/>
          </a:p>
        </p:txBody>
      </p:sp>
    </p:spTree>
    <p:extLst>
      <p:ext uri="{BB962C8B-B14F-4D97-AF65-F5344CB8AC3E}">
        <p14:creationId xmlns:p14="http://schemas.microsoft.com/office/powerpoint/2010/main" val="1056576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63F35-77BE-CAEF-0501-73DD75400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988FF7FE-6A80-4C87-5953-0AAF38F64C7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o1ini,  Angulo de operación inicial. o1sp=45°</a:t>
            </a:r>
          </a:p>
          <a:p>
            <a:endParaRPr lang="es-ES_tradnl" dirty="0"/>
          </a:p>
        </p:txBody>
      </p:sp>
      <p:graphicFrame>
        <p:nvGraphicFramePr>
          <p:cNvPr id="17" name="Inhaltsplatzhalter 5">
            <a:extLst>
              <a:ext uri="{FF2B5EF4-FFF2-40B4-BE49-F238E27FC236}">
                <a16:creationId xmlns:a16="http://schemas.microsoft.com/office/drawing/2014/main" id="{AC5B6CE2-8A22-D70F-90C2-BAA079D30F4D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265517814"/>
              </p:ext>
            </p:extLst>
          </p:nvPr>
        </p:nvGraphicFramePr>
        <p:xfrm>
          <a:off x="815975" y="4749800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71.66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27.48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61.07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26.66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27.97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481.29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186.26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168.98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70.48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100.00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30.25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29.13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190.63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17.93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160.04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-90.00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74.70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31.01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68.91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29.70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57.02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556.86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483.02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88.25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1409.19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23.48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492.26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44E57457-D926-47D6-61C3-EEB8D22E58CF}"/>
              </a:ext>
            </a:extLst>
          </p:cNvPr>
          <p:cNvSpPr txBox="1"/>
          <p:nvPr/>
        </p:nvSpPr>
        <p:spPr>
          <a:xfrm>
            <a:off x="520862" y="2140208"/>
            <a:ext cx="281622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sistema presenta una </a:t>
            </a:r>
            <a:r>
              <a:rPr lang="es-ES_tradnl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incapacidad para converger exactamente a la referencia de 45°</a:t>
            </a:r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manteniendo desviaciones persistentes en el estado estacionario. Aunque el sistema conserva estabilidad, el deterioro en precisión y esfuerzo de control es claramente más severo en comparación con la plataforma plana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DF23559-A65B-F2DA-AF1D-90C7146A61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684" y="1983835"/>
            <a:ext cx="5424376" cy="2471207"/>
          </a:xfrm>
          <a:prstGeom prst="rect">
            <a:avLst/>
          </a:prstGeom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CAE95175-54E3-7579-5C43-E441F02E2655}"/>
              </a:ext>
            </a:extLst>
          </p:cNvPr>
          <p:cNvSpPr txBox="1">
            <a:spLocks/>
          </p:cNvSpPr>
          <p:nvPr/>
        </p:nvSpPr>
        <p:spPr>
          <a:xfrm>
            <a:off x="278030" y="6356350"/>
            <a:ext cx="11777612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976019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5D44-3EBC-7FCF-8301-00C244E4B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31AB3392-16F9-8427-5085-2550E90BDEF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90198" y="5092979"/>
            <a:ext cx="5239310" cy="1066521"/>
          </a:xfrm>
        </p:spPr>
        <p:txBody>
          <a:bodyPr>
            <a:noAutofit/>
          </a:bodyPr>
          <a:lstStyle/>
          <a:p>
            <a:pPr algn="l"/>
            <a:r>
              <a:rPr lang="es-ES_tradnl" sz="1200" dirty="0"/>
              <a:t>El retardo de señal no modifica la forma estructural del RMSE, pero incrementa ligeramente el error en todo el dominio angular, situándose aproximadamente entre </a:t>
            </a:r>
            <a:r>
              <a:rPr lang="es-ES_tradnl" sz="1200" b="1" dirty="0"/>
              <a:t>40° y 42°</a:t>
            </a:r>
            <a:r>
              <a:rPr lang="es-ES_tradnl" sz="1200" dirty="0"/>
              <a:t>, lo que confirma una penalización uniforme del desempeño bajo condiciones de inclinación</a:t>
            </a:r>
          </a:p>
          <a:p>
            <a:pPr algn="l">
              <a:lnSpc>
                <a:spcPct val="120000"/>
              </a:lnSpc>
            </a:pPr>
            <a:endParaRPr lang="es-ES_tradnl" sz="12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11E7F0E-2B61-B3D0-F1BF-30398A2E85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B86EF66D-F4AC-B2BB-8F91-C98237AA9560}"/>
              </a:ext>
            </a:extLst>
          </p:cNvPr>
          <p:cNvSpPr>
            <a:spLocks noGrp="1"/>
          </p:cNvSpPr>
          <p:nvPr>
            <p:ph sz="quarter" idx="16"/>
          </p:nvPr>
        </p:nvSpPr>
        <p:spPr/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Retardo: (0, 10, 20)[ms]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do1ini= 0° </a:t>
            </a:r>
            <a:endParaRPr lang="es-ES_tradnl" dirty="0"/>
          </a:p>
        </p:txBody>
      </p:sp>
      <p:pic>
        <p:nvPicPr>
          <p:cNvPr id="14" name="Onlinebild-Platzhalter 13">
            <a:extLst>
              <a:ext uri="{FF2B5EF4-FFF2-40B4-BE49-F238E27FC236}">
                <a16:creationId xmlns:a16="http://schemas.microsoft.com/office/drawing/2014/main" id="{080015F6-2AE3-061D-0430-B31637B73715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A68C9386-C830-EBC6-2DC4-DC85BA428331}"/>
              </a:ext>
            </a:extLst>
          </p:cNvPr>
          <p:cNvSpPr txBox="1">
            <a:spLocks/>
          </p:cNvSpPr>
          <p:nvPr/>
        </p:nvSpPr>
        <p:spPr>
          <a:xfrm>
            <a:off x="278030" y="6356350"/>
            <a:ext cx="11777612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6074398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16B2F-1492-6EBC-9B86-703D91310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117B72A9-9399-2E39-6D50-75E1A2B9CD2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Retardo de señal. o1sp=45°</a:t>
            </a:r>
          </a:p>
          <a:p>
            <a:endParaRPr lang="es-ES_tradnl" dirty="0"/>
          </a:p>
        </p:txBody>
      </p:sp>
      <p:graphicFrame>
        <p:nvGraphicFramePr>
          <p:cNvPr id="17" name="Inhaltsplatzhalter 5">
            <a:extLst>
              <a:ext uri="{FF2B5EF4-FFF2-40B4-BE49-F238E27FC236}">
                <a16:creationId xmlns:a16="http://schemas.microsoft.com/office/drawing/2014/main" id="{0414E7D4-20E2-E74A-D254-887299A7BF60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1550770265"/>
              </p:ext>
            </p:extLst>
          </p:nvPr>
        </p:nvGraphicFramePr>
        <p:xfrm>
          <a:off x="815975" y="4749800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71.28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27.05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60.11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26.28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27.23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474.86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74.00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25.03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186.02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16.83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167.99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71.66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61.07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26.66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27.97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481.29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186.26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168.98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71.75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27.84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61.86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26.75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27.99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485.64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26.48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187.95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17.17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167.98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FEC39266-6F33-D44E-9246-95A6EE1C11F3}"/>
              </a:ext>
            </a:extLst>
          </p:cNvPr>
          <p:cNvSpPr txBox="1"/>
          <p:nvPr/>
        </p:nvSpPr>
        <p:spPr>
          <a:xfrm>
            <a:off x="520862" y="2428108"/>
            <a:ext cx="281622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respuesta temporal muestra variaciones leves en el transitorio, manteniendo estabilidad en todos los casos. Sin embargo, el sistema presenta un </a:t>
            </a:r>
            <a:r>
              <a:rPr lang="es-ES_tradnl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estacionario elevado (~26°)</a:t>
            </a: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s-ES_tradnl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alcanza la consigna de 45°</a:t>
            </a: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evidenciando limitaciones del controlador bajo perturbaciones gravitacionales.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7CACEDB-A650-3309-A095-93F0C8C62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166" y="2108199"/>
            <a:ext cx="6695047" cy="2485065"/>
          </a:xfrm>
          <a:prstGeom prst="rect">
            <a:avLst/>
          </a:prstGeom>
        </p:spPr>
      </p:pic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97F5B71-0F38-16E7-A572-2E1FC79FD6F3}"/>
              </a:ext>
            </a:extLst>
          </p:cNvPr>
          <p:cNvSpPr txBox="1">
            <a:spLocks/>
          </p:cNvSpPr>
          <p:nvPr/>
        </p:nvSpPr>
        <p:spPr>
          <a:xfrm>
            <a:off x="278030" y="6356350"/>
            <a:ext cx="11777612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32121306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40123-8C96-796B-86BD-E78418E72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C8EEB183-6205-8BDA-E685-AA66BE5A267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68772" y="4968637"/>
            <a:ext cx="4763355" cy="1190863"/>
          </a:xfrm>
        </p:spPr>
        <p:txBody>
          <a:bodyPr>
            <a:noAutofit/>
          </a:bodyPr>
          <a:lstStyle/>
          <a:p>
            <a:pPr algn="l"/>
            <a:r>
              <a:rPr lang="es-ES_tradnl" sz="1200" dirty="0"/>
              <a:t>A diferencia de otros factores, la velocidad angular inicial no solo desplaza, sino que también </a:t>
            </a:r>
            <a:r>
              <a:rPr lang="es-ES_tradnl" sz="1200" b="1" dirty="0"/>
              <a:t>distorsiona la distribución del RMSE</a:t>
            </a:r>
            <a:r>
              <a:rPr lang="es-ES_tradnl" sz="1200" dirty="0"/>
              <a:t>, con valores que oscilan aproximadamente entre </a:t>
            </a:r>
            <a:r>
              <a:rPr lang="es-ES_tradnl" sz="1200" b="1" dirty="0"/>
              <a:t>39.7° y 43.2°</a:t>
            </a:r>
            <a:r>
              <a:rPr lang="es-ES_tradnl" sz="1200" dirty="0"/>
              <a:t>, evidenciando una mayor degradación del desempeño bajo condiciones de inclinación.</a:t>
            </a:r>
          </a:p>
          <a:p>
            <a:pPr algn="l"/>
            <a:r>
              <a:rPr lang="es-ES_tradnl" sz="1200" dirty="0"/>
              <a:t>Este comportamiento confirma una </a:t>
            </a:r>
            <a:r>
              <a:rPr lang="es-ES_tradnl" sz="1200" b="1" dirty="0"/>
              <a:t>alta sensibilidad del controlador al estado inicial dinámico</a:t>
            </a:r>
            <a:r>
              <a:rPr lang="es-ES_tradnl" sz="1200" dirty="0"/>
              <a:t>, intensificada por los efectos gravitacionales.</a:t>
            </a:r>
          </a:p>
          <a:p>
            <a:pPr algn="l">
              <a:lnSpc>
                <a:spcPct val="120000"/>
              </a:lnSpc>
            </a:pPr>
            <a:endParaRPr lang="es-ES_tradnl" sz="1200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C0E10C5-EB56-D3F7-F851-68F6EBDF9F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</a:t>
            </a:r>
          </a:p>
          <a:p>
            <a:endParaRPr lang="es-ES_tradnl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FF655020-6D16-3F2D-4D7D-3AF2FB32967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8772" y="4275350"/>
            <a:ext cx="4571997" cy="465600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s-ES_tradnl" b="1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do1ini= (-0.5, 0, 0.5) [rad/s]</a:t>
            </a:r>
          </a:p>
          <a:p>
            <a:pPr algn="l"/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Pitch, Roll =-10°, o1ini= 0°, Retardo=0ms </a:t>
            </a:r>
            <a:endParaRPr lang="es-ES_tradnl" dirty="0"/>
          </a:p>
          <a:p>
            <a:endParaRPr lang="es-ES_tradnl" b="1" dirty="0"/>
          </a:p>
          <a:p>
            <a:endParaRPr lang="es-ES_tradnl" dirty="0"/>
          </a:p>
        </p:txBody>
      </p:sp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F115421E-D74F-4BF4-8101-BECDF76DAD2E}"/>
              </a:ext>
            </a:extLst>
          </p:cNvPr>
          <p:cNvPicPr>
            <a:picLocks noGrp="1" noChangeAspect="1"/>
          </p:cNvPicPr>
          <p:nvPr>
            <p:ph type="clipArt" sz="quarter" idx="15"/>
          </p:nvPr>
        </p:nvPicPr>
        <p:blipFill>
          <a:blip r:embed="rId2"/>
          <a:stretch>
            <a:fillRect/>
          </a:stretch>
        </p:blipFill>
        <p:spPr>
          <a:xfrm>
            <a:off x="583920" y="2151063"/>
            <a:ext cx="5239310" cy="4008437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05C02F49-C984-BAA2-1D8A-FA52BE79733E}"/>
              </a:ext>
            </a:extLst>
          </p:cNvPr>
          <p:cNvSpPr txBox="1">
            <a:spLocks/>
          </p:cNvSpPr>
          <p:nvPr/>
        </p:nvSpPr>
        <p:spPr>
          <a:xfrm>
            <a:off x="278030" y="6356350"/>
            <a:ext cx="11777612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24612617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D843D-79B2-F158-C5FF-6185E0379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B9BA16AB-7C02-483B-7190-DC9F291DAED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0862" y="1446792"/>
            <a:ext cx="8633771" cy="449263"/>
          </a:xfrm>
        </p:spPr>
        <p:txBody>
          <a:bodyPr>
            <a:normAutofit/>
          </a:bodyPr>
          <a:lstStyle/>
          <a:p>
            <a:r>
              <a:rPr lang="es-ES_tradnl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Bajo perturbaciones. do1ini. Velocidad angular inicial. o1sp=45°</a:t>
            </a:r>
          </a:p>
          <a:p>
            <a:endParaRPr lang="es-ES_tradnl" dirty="0"/>
          </a:p>
        </p:txBody>
      </p:sp>
      <p:graphicFrame>
        <p:nvGraphicFramePr>
          <p:cNvPr id="17" name="Inhaltsplatzhalter 5">
            <a:extLst>
              <a:ext uri="{FF2B5EF4-FFF2-40B4-BE49-F238E27FC236}">
                <a16:creationId xmlns:a16="http://schemas.microsoft.com/office/drawing/2014/main" id="{27F283F5-076E-C2C0-3F8B-B919AB57018F}"/>
              </a:ext>
            </a:extLst>
          </p:cNvPr>
          <p:cNvGraphicFramePr>
            <a:graphicFrameLocks noGrp="1"/>
          </p:cNvGraphicFramePr>
          <p:nvPr>
            <p:ph sz="quarter" idx="14"/>
            <p:extLst>
              <p:ext uri="{D42A27DB-BD31-4B8C-83A1-F6EECF244321}">
                <p14:modId xmlns:p14="http://schemas.microsoft.com/office/powerpoint/2010/main" val="39684778"/>
              </p:ext>
            </p:extLst>
          </p:nvPr>
        </p:nvGraphicFramePr>
        <p:xfrm>
          <a:off x="815975" y="4749800"/>
          <a:ext cx="10532960" cy="121094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36839">
                  <a:extLst>
                    <a:ext uri="{9D8B030D-6E8A-4147-A177-3AD203B41FA5}">
                      <a16:colId xmlns:a16="http://schemas.microsoft.com/office/drawing/2014/main" val="824630556"/>
                    </a:ext>
                  </a:extLst>
                </a:gridCol>
                <a:gridCol w="538332">
                  <a:extLst>
                    <a:ext uri="{9D8B030D-6E8A-4147-A177-3AD203B41FA5}">
                      <a16:colId xmlns:a16="http://schemas.microsoft.com/office/drawing/2014/main" val="469466284"/>
                    </a:ext>
                  </a:extLst>
                </a:gridCol>
                <a:gridCol w="865365">
                  <a:extLst>
                    <a:ext uri="{9D8B030D-6E8A-4147-A177-3AD203B41FA5}">
                      <a16:colId xmlns:a16="http://schemas.microsoft.com/office/drawing/2014/main" val="4121467693"/>
                    </a:ext>
                  </a:extLst>
                </a:gridCol>
                <a:gridCol w="823553">
                  <a:extLst>
                    <a:ext uri="{9D8B030D-6E8A-4147-A177-3AD203B41FA5}">
                      <a16:colId xmlns:a16="http://schemas.microsoft.com/office/drawing/2014/main" val="4078333586"/>
                    </a:ext>
                  </a:extLst>
                </a:gridCol>
                <a:gridCol w="728729">
                  <a:extLst>
                    <a:ext uri="{9D8B030D-6E8A-4147-A177-3AD203B41FA5}">
                      <a16:colId xmlns:a16="http://schemas.microsoft.com/office/drawing/2014/main" val="2383919902"/>
                    </a:ext>
                  </a:extLst>
                </a:gridCol>
                <a:gridCol w="644357">
                  <a:extLst>
                    <a:ext uri="{9D8B030D-6E8A-4147-A177-3AD203B41FA5}">
                      <a16:colId xmlns:a16="http://schemas.microsoft.com/office/drawing/2014/main" val="4156923515"/>
                    </a:ext>
                  </a:extLst>
                </a:gridCol>
                <a:gridCol w="757101">
                  <a:extLst>
                    <a:ext uri="{9D8B030D-6E8A-4147-A177-3AD203B41FA5}">
                      <a16:colId xmlns:a16="http://schemas.microsoft.com/office/drawing/2014/main" val="1749238962"/>
                    </a:ext>
                  </a:extLst>
                </a:gridCol>
                <a:gridCol w="752620">
                  <a:extLst>
                    <a:ext uri="{9D8B030D-6E8A-4147-A177-3AD203B41FA5}">
                      <a16:colId xmlns:a16="http://schemas.microsoft.com/office/drawing/2014/main" val="2536129472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431686169"/>
                    </a:ext>
                  </a:extLst>
                </a:gridCol>
                <a:gridCol w="477855">
                  <a:extLst>
                    <a:ext uri="{9D8B030D-6E8A-4147-A177-3AD203B41FA5}">
                      <a16:colId xmlns:a16="http://schemas.microsoft.com/office/drawing/2014/main" val="3755756144"/>
                    </a:ext>
                  </a:extLst>
                </a:gridCol>
                <a:gridCol w="453962">
                  <a:extLst>
                    <a:ext uri="{9D8B030D-6E8A-4147-A177-3AD203B41FA5}">
                      <a16:colId xmlns:a16="http://schemas.microsoft.com/office/drawing/2014/main" val="3926235026"/>
                    </a:ext>
                  </a:extLst>
                </a:gridCol>
                <a:gridCol w="682435">
                  <a:extLst>
                    <a:ext uri="{9D8B030D-6E8A-4147-A177-3AD203B41FA5}">
                      <a16:colId xmlns:a16="http://schemas.microsoft.com/office/drawing/2014/main" val="3826450058"/>
                    </a:ext>
                  </a:extLst>
                </a:gridCol>
                <a:gridCol w="617479">
                  <a:extLst>
                    <a:ext uri="{9D8B030D-6E8A-4147-A177-3AD203B41FA5}">
                      <a16:colId xmlns:a16="http://schemas.microsoft.com/office/drawing/2014/main" val="2782763862"/>
                    </a:ext>
                  </a:extLst>
                </a:gridCol>
                <a:gridCol w="821312">
                  <a:extLst>
                    <a:ext uri="{9D8B030D-6E8A-4147-A177-3AD203B41FA5}">
                      <a16:colId xmlns:a16="http://schemas.microsoft.com/office/drawing/2014/main" val="4235403215"/>
                    </a:ext>
                  </a:extLst>
                </a:gridCol>
                <a:gridCol w="621958">
                  <a:extLst>
                    <a:ext uri="{9D8B030D-6E8A-4147-A177-3AD203B41FA5}">
                      <a16:colId xmlns:a16="http://schemas.microsoft.com/office/drawing/2014/main" val="2153124820"/>
                    </a:ext>
                  </a:extLst>
                </a:gridCol>
                <a:gridCol w="589105">
                  <a:extLst>
                    <a:ext uri="{9D8B030D-6E8A-4147-A177-3AD203B41FA5}">
                      <a16:colId xmlns:a16="http://schemas.microsoft.com/office/drawing/2014/main" val="3601810853"/>
                    </a:ext>
                  </a:extLst>
                </a:gridCol>
              </a:tblGrid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Rank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Sweep Val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O1_final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 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Mp[%]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e_ss_abs[°]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RMSE[°]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ITAE[°s]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Tr[s]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Iosc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U_peak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U_rms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U_energy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U_abs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U_TV</a:t>
                      </a:r>
                      <a:endParaRPr lang="es-ES_tradnl" sz="90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2367217"/>
                  </a:ext>
                </a:extLst>
              </a:tr>
              <a:tr h="194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71.66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27.48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61.07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26.66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27.97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481.29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45.00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161.01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26.14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186.26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16.93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168.98</a:t>
                      </a: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1617960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71.37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28.52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63.38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26.37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28.06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490.86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0.27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13.00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28.55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183.76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18.15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173.02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9572378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900" b="0" noProof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-3.14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71.59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27.95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62.12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26.59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29.72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484.59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0.35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24.00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161.01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28.33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201.38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17.37</a:t>
                      </a: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s-ES_tradnl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171.94</a:t>
                      </a: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0602423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4040397"/>
                  </a:ext>
                </a:extLst>
              </a:tr>
              <a:tr h="1854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b="0" noProof="1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s-ES_tradnl" sz="9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918356"/>
                  </a:ext>
                </a:extLst>
              </a:tr>
            </a:tbl>
          </a:graphicData>
        </a:graphic>
      </p:graphicFrame>
      <p:sp>
        <p:nvSpPr>
          <p:cNvPr id="3" name="Textfeld 2">
            <a:extLst>
              <a:ext uri="{FF2B5EF4-FFF2-40B4-BE49-F238E27FC236}">
                <a16:creationId xmlns:a16="http://schemas.microsoft.com/office/drawing/2014/main" id="{C5D037D9-7B6D-0390-0F6C-8E6BCCF0B349}"/>
              </a:ext>
            </a:extLst>
          </p:cNvPr>
          <p:cNvSpPr txBox="1"/>
          <p:nvPr/>
        </p:nvSpPr>
        <p:spPr>
          <a:xfrm>
            <a:off x="520862" y="2079762"/>
            <a:ext cx="281622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respuesta temporal muestra variaciones significativas en el régimen transitorio, con cambios en el sobreimpulso y el esfuerzo de control según la velocidad inicial. Además, el sistema presenta un </a:t>
            </a:r>
            <a:r>
              <a:rPr lang="es-ES_tradnl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estacionario elevado (~26°)</a:t>
            </a: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s-ES_tradnl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alcanza la consigna de 45°</a:t>
            </a: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 ninguno de los casos.</a:t>
            </a:r>
          </a:p>
          <a:p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Aunque el sistema mantiene estabilidad, este escenario confirma que la </a:t>
            </a:r>
            <a:r>
              <a:rPr lang="es-ES_tradnl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velocidad angular inicial es el factor más crítico</a:t>
            </a:r>
            <a:r>
              <a:rPr lang="es-ES_tradnl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especialmente en presencia de inclinación.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1677AC9-1FF2-A583-7E9C-2693BB96FA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545" y="2108200"/>
            <a:ext cx="5559311" cy="2426435"/>
          </a:xfrm>
          <a:prstGeom prst="rect">
            <a:avLst/>
          </a:prstGeom>
        </p:spPr>
      </p:pic>
      <p:sp>
        <p:nvSpPr>
          <p:cNvPr id="4" name="Fußzeilenplatzhalter 2">
            <a:extLst>
              <a:ext uri="{FF2B5EF4-FFF2-40B4-BE49-F238E27FC236}">
                <a16:creationId xmlns:a16="http://schemas.microsoft.com/office/drawing/2014/main" id="{69A069BB-929C-3F9A-A131-996E9450296A}"/>
              </a:ext>
            </a:extLst>
          </p:cNvPr>
          <p:cNvSpPr txBox="1">
            <a:spLocks/>
          </p:cNvSpPr>
          <p:nvPr/>
        </p:nvSpPr>
        <p:spPr>
          <a:xfrm>
            <a:off x="278030" y="6356350"/>
            <a:ext cx="11777612" cy="365125"/>
          </a:xfrm>
          <a:prstGeom prst="rect">
            <a:avLst/>
          </a:prstGeom>
        </p:spPr>
        <p:txBody>
          <a:bodyPr/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_tradnl" sz="900" dirty="0"/>
              <a:t>TFM – Master Inteligencia Artificial – Control Monoarticular aplicado en manipuladores móviles utilizando aprendizaje por refuerzo  –  Ricardo Enrique  Sarabia Palacio</a:t>
            </a:r>
          </a:p>
        </p:txBody>
      </p:sp>
    </p:spTree>
    <p:extLst>
      <p:ext uri="{BB962C8B-B14F-4D97-AF65-F5344CB8AC3E}">
        <p14:creationId xmlns:p14="http://schemas.microsoft.com/office/powerpoint/2010/main" val="176928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7B7F9-F8D7-69A0-815B-894EC59FB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hteck 34">
            <a:extLst>
              <a:ext uri="{FF2B5EF4-FFF2-40B4-BE49-F238E27FC236}">
                <a16:creationId xmlns:a16="http://schemas.microsoft.com/office/drawing/2014/main" id="{40F2BDC7-5FC7-257A-D757-E6204AB7EB59}"/>
              </a:ext>
            </a:extLst>
          </p:cNvPr>
          <p:cNvSpPr/>
          <p:nvPr/>
        </p:nvSpPr>
        <p:spPr>
          <a:xfrm>
            <a:off x="-3818" y="-7820"/>
            <a:ext cx="12195818" cy="1134716"/>
          </a:xfrm>
          <a:prstGeom prst="rect">
            <a:avLst/>
          </a:prstGeom>
          <a:solidFill>
            <a:srgbClr val="7F7F7F">
              <a:alpha val="23922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noProof="1"/>
          </a:p>
        </p:txBody>
      </p:sp>
      <p:pic>
        <p:nvPicPr>
          <p:cNvPr id="16" name="Imagen3">
            <a:extLst>
              <a:ext uri="{FF2B5EF4-FFF2-40B4-BE49-F238E27FC236}">
                <a16:creationId xmlns:a16="http://schemas.microsoft.com/office/drawing/2014/main" id="{15EF12B9-AAAF-25D4-9CCE-45EAA80B1B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727160" y="198439"/>
            <a:ext cx="1732790" cy="866395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B1D13B60-0F60-EA1C-1126-ED2245895C5D}"/>
              </a:ext>
            </a:extLst>
          </p:cNvPr>
          <p:cNvSpPr txBox="1"/>
          <p:nvPr/>
        </p:nvSpPr>
        <p:spPr>
          <a:xfrm>
            <a:off x="278030" y="1359984"/>
            <a:ext cx="82713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noProof="1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Influencias de las perturbaciones en plataforma inclinada</a:t>
            </a:r>
          </a:p>
        </p:txBody>
      </p:sp>
      <p:cxnSp>
        <p:nvCxnSpPr>
          <p:cNvPr id="27" name="Gerade Verbindung 26">
            <a:extLst>
              <a:ext uri="{FF2B5EF4-FFF2-40B4-BE49-F238E27FC236}">
                <a16:creationId xmlns:a16="http://schemas.microsoft.com/office/drawing/2014/main" id="{C181BBB7-695E-25E6-4712-4961304C87E6}"/>
              </a:ext>
            </a:extLst>
          </p:cNvPr>
          <p:cNvCxnSpPr>
            <a:cxnSpLocks/>
          </p:cNvCxnSpPr>
          <p:nvPr/>
        </p:nvCxnSpPr>
        <p:spPr>
          <a:xfrm>
            <a:off x="376884" y="1796587"/>
            <a:ext cx="9900837" cy="0"/>
          </a:xfrm>
          <a:prstGeom prst="line">
            <a:avLst/>
          </a:prstGeom>
          <a:ln w="9525">
            <a:solidFill>
              <a:schemeClr val="bg2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feld 27">
            <a:extLst>
              <a:ext uri="{FF2B5EF4-FFF2-40B4-BE49-F238E27FC236}">
                <a16:creationId xmlns:a16="http://schemas.microsoft.com/office/drawing/2014/main" id="{8F2CC966-24F6-6118-FA84-5F6A645CEC49}"/>
              </a:ext>
            </a:extLst>
          </p:cNvPr>
          <p:cNvSpPr txBox="1"/>
          <p:nvPr/>
        </p:nvSpPr>
        <p:spPr>
          <a:xfrm>
            <a:off x="313005" y="269778"/>
            <a:ext cx="8271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800" b="1" noProof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Evaluación PID– Plataforma Inclinada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69CE979-7BA1-BEFC-BEB3-AA42334968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rcRect l="15429" t="14728" r="25176" b="10832"/>
          <a:stretch>
            <a:fillRect/>
          </a:stretch>
        </p:blipFill>
        <p:spPr>
          <a:xfrm>
            <a:off x="10593555" y="1347883"/>
            <a:ext cx="1142114" cy="824422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7B58CFA-7AE8-3574-F323-D75DB7AB65F6}"/>
              </a:ext>
            </a:extLst>
          </p:cNvPr>
          <p:cNvSpPr txBox="1"/>
          <p:nvPr/>
        </p:nvSpPr>
        <p:spPr>
          <a:xfrm>
            <a:off x="1220412" y="5002600"/>
            <a:ext cx="15326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o1ini: (-90, 0 , 90) [°]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3B15C53-1505-02C7-191A-8DB975B86D74}"/>
              </a:ext>
            </a:extLst>
          </p:cNvPr>
          <p:cNvSpPr txBox="1"/>
          <p:nvPr/>
        </p:nvSpPr>
        <p:spPr>
          <a:xfrm>
            <a:off x="5069907" y="5008526"/>
            <a:ext cx="168587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Retardo: (0, 0.01, 0.02) [ms]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D1BAF2C-13B9-84EE-0F2E-880F3AF968F3}"/>
              </a:ext>
            </a:extLst>
          </p:cNvPr>
          <p:cNvSpPr txBox="1"/>
          <p:nvPr/>
        </p:nvSpPr>
        <p:spPr>
          <a:xfrm>
            <a:off x="9040777" y="5002227"/>
            <a:ext cx="150692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_tradnl" sz="900" b="1" noProof="1">
                <a:latin typeface="Times New Roman" panose="02020603050405020304" pitchFamily="18" charset="0"/>
                <a:cs typeface="Times New Roman" panose="02020603050405020304" pitchFamily="18" charset="0"/>
              </a:rPr>
              <a:t>do1ini: (-0.5, 0, 0.5)[rad/s]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774F125-450C-25A3-6DCE-0E2570C52F41}"/>
              </a:ext>
            </a:extLst>
          </p:cNvPr>
          <p:cNvSpPr txBox="1"/>
          <p:nvPr/>
        </p:nvSpPr>
        <p:spPr>
          <a:xfrm>
            <a:off x="372931" y="5529946"/>
            <a:ext cx="110798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ES_tradnl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 análisis en plataforma inclinada evidencia que, aunque el PID conserva su forma de respuesta, su desempeño se degrada significativamente: el error aumenta, se introduce un error estacionario elevado y el sistema no alcanza la consigna. La sensibilidad al estado inicial, especialmente a la velocidad angular, se intensifica bajo efectos gravitacionales, confirmando la falta de robustez del controlador.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2018238-BA8B-CA4A-FC4A-717AF2952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8030" y="6356350"/>
            <a:ext cx="11777612" cy="365125"/>
          </a:xfrm>
        </p:spPr>
        <p:txBody>
          <a:bodyPr/>
          <a:lstStyle/>
          <a:p>
            <a:r>
              <a:rPr lang="es-ES_tradnl" sz="900" dirty="0">
                <a:solidFill>
                  <a:schemeClr val="tx1"/>
                </a:solidFill>
              </a:rPr>
              <a:t>TFM – Master Inteligencia Artificial – Control Monoarticular aplicado en manipuladores móviles utilizando aprendizaje por refuerzo  –  Ricardo Enrique  Sarabia Palacio</a:t>
            </a:r>
          </a:p>
        </p:txBody>
      </p:sp>
      <p:pic>
        <p:nvPicPr>
          <p:cNvPr id="4" name="Onlinebild-Platzhalter 8">
            <a:extLst>
              <a:ext uri="{FF2B5EF4-FFF2-40B4-BE49-F238E27FC236}">
                <a16:creationId xmlns:a16="http://schemas.microsoft.com/office/drawing/2014/main" id="{5F830F12-C052-184B-2C6F-5B3F847412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005" y="2262758"/>
            <a:ext cx="3562965" cy="2725916"/>
          </a:xfrm>
          <a:prstGeom prst="rect">
            <a:avLst/>
          </a:prstGeom>
        </p:spPr>
      </p:pic>
      <p:pic>
        <p:nvPicPr>
          <p:cNvPr id="7" name="Onlinebild-Platzhalter 13">
            <a:extLst>
              <a:ext uri="{FF2B5EF4-FFF2-40B4-BE49-F238E27FC236}">
                <a16:creationId xmlns:a16="http://schemas.microsoft.com/office/drawing/2014/main" id="{FB049F47-EBC2-3D1B-024C-2895F0B5F8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74684" y="2262758"/>
            <a:ext cx="3541212" cy="2709274"/>
          </a:xfrm>
          <a:prstGeom prst="rect">
            <a:avLst/>
          </a:prstGeom>
        </p:spPr>
      </p:pic>
      <p:pic>
        <p:nvPicPr>
          <p:cNvPr id="8" name="Onlinebild-Platzhalter 7">
            <a:extLst>
              <a:ext uri="{FF2B5EF4-FFF2-40B4-BE49-F238E27FC236}">
                <a16:creationId xmlns:a16="http://schemas.microsoft.com/office/drawing/2014/main" id="{E903FFFF-CB6D-E9DC-AF74-E95928E1CE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4610" y="2256459"/>
            <a:ext cx="3541212" cy="2709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634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1026</Words>
  <Application>Microsoft Macintosh PowerPoint</Application>
  <PresentationFormat>Breitbild</PresentationFormat>
  <Paragraphs>226</Paragraphs>
  <Slides>7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Times New Roman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ricardo sarabia</dc:creator>
  <cp:lastModifiedBy>ricardo sarabia</cp:lastModifiedBy>
  <cp:revision>2</cp:revision>
  <dcterms:created xsi:type="dcterms:W3CDTF">2026-03-28T07:46:16Z</dcterms:created>
  <dcterms:modified xsi:type="dcterms:W3CDTF">2026-03-28T07:49:32Z</dcterms:modified>
</cp:coreProperties>
</file>