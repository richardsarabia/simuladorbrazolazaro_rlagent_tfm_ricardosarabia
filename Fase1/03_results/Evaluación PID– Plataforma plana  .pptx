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524" r:id="rId2"/>
    <p:sldId id="527" r:id="rId3"/>
    <p:sldId id="525" r:id="rId4"/>
    <p:sldId id="528" r:id="rId5"/>
    <p:sldId id="526" r:id="rId6"/>
    <p:sldId id="529" r:id="rId7"/>
    <p:sldId id="474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30"/>
    <p:restoredTop sz="94635"/>
  </p:normalViewPr>
  <p:slideViewPr>
    <p:cSldViewPr snapToGrid="0">
      <p:cViewPr varScale="1">
        <p:scale>
          <a:sx n="101" d="100"/>
          <a:sy n="101" d="100"/>
        </p:scale>
        <p:origin x="112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E501B8-5F5A-6244-BB8E-8FD7F2B84493}" type="datetimeFigureOut">
              <a:rPr lang="es-ES_tradnl" smtClean="0"/>
              <a:t>28/3/26</a:t>
            </a:fld>
            <a:endParaRPr lang="es-ES_tradnl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68C24D-83BF-5048-BDC5-9818AA6F53C6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28211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C668E-1D1D-A8E8-A669-B686A352D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01CED75-3946-2CC3-C9E7-2ED7FD1190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BB748DF-27EF-264D-A9C4-5881A6845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A4F6DCF-D99A-BB73-C96F-2FF27043F8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88945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5F6E23-9A38-897C-C996-A78824D2F0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10218E5-7F30-9A8A-BE50-32CC2B78C3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6577DB-EC0E-6872-6117-43D6542E6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EA480-F5A7-DA40-A230-5196D0093B92}" type="datetimeFigureOut">
              <a:rPr lang="es-ES_tradnl" smtClean="0"/>
              <a:t>28/3/26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A93297A-8D24-5CBC-5E80-A58622A67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970385-4D00-0720-40C0-AC7961663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9C5F9-9245-5C47-8A43-0A1D93BBBE96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61212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87324B-FBB1-8024-D3C2-E1FCB5930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FB7502-AF70-C494-B3F3-7B3EA2D53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A97616-1D1D-9FB9-24CB-7D307FC87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EA480-F5A7-DA40-A230-5196D0093B92}" type="datetimeFigureOut">
              <a:rPr lang="es-ES_tradnl" smtClean="0"/>
              <a:t>28/3/26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D085FE-6B31-BB45-F04D-7D598336B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CF3E3A-457F-ED2B-0F74-2EEE828FE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9C5F9-9245-5C47-8A43-0A1D93BBBE96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75332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E2EB5F-7B7A-CD5D-996A-C203F7FF0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F6B2CE9-01DA-C989-7F94-4212D7D10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F5FEEF-1AED-59C2-22B1-7FE849D1C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EA480-F5A7-DA40-A230-5196D0093B92}" type="datetimeFigureOut">
              <a:rPr lang="es-ES_tradnl" smtClean="0"/>
              <a:t>28/3/26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693308-48E1-4781-E694-1A3AFB402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CB7FAD2-C493-0B53-F0C8-A5EFABB5A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9C5F9-9245-5C47-8A43-0A1D93BBBE96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55560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A3C1AF-4B9A-2713-01F0-C3BC420E2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E17DC05-3338-451B-7F17-26CA11FB3F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A468410-D328-ADAA-6AAC-9C67E47740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28C8794-D420-E7CE-7905-5E53664DB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EA480-F5A7-DA40-A230-5196D0093B92}" type="datetimeFigureOut">
              <a:rPr lang="es-ES_tradnl" smtClean="0"/>
              <a:t>28/3/26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52A1E3E-540C-BDAE-E15E-E7E2E4A54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D3A4CDD-1C8A-3E44-C5E6-3DF0D9528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9C5F9-9245-5C47-8A43-0A1D93BBBE96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28320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150461-9594-6B47-C8F8-B13F2E747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27C7B63-11D3-6348-B60C-5276C164F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E3CCAD0-2B07-BA18-3FE4-7010EB723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580E07F-BF3B-A415-7151-D2F5918C72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04AC84E-F0F9-EC33-1B1F-ED3BB5BC9D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2051185-F176-DABA-ED15-40F51E7F3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EA480-F5A7-DA40-A230-5196D0093B92}" type="datetimeFigureOut">
              <a:rPr lang="es-ES_tradnl" smtClean="0"/>
              <a:t>28/3/26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EECF7F8-A310-9279-94A8-DDEE45750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188946C-9437-CB9E-0E19-73406D347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9C5F9-9245-5C47-8A43-0A1D93BBBE96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4691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E3B084-2F6E-289B-D7B6-0D0DEB045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3CC895A-DDA2-6CC2-7371-0BB259A87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EA480-F5A7-DA40-A230-5196D0093B92}" type="datetimeFigureOut">
              <a:rPr lang="es-ES_tradnl" smtClean="0"/>
              <a:t>28/3/26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56E42AF-94B3-BBB3-4A3F-BA48DE11C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FFB7FD3-2D17-6E08-1D14-1599EF96E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9C5F9-9245-5C47-8A43-0A1D93BBBE96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84203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3FC4F07-49DF-DBA7-9C58-2D0A84A53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EA480-F5A7-DA40-A230-5196D0093B92}" type="datetimeFigureOut">
              <a:rPr lang="es-ES_tradnl" smtClean="0"/>
              <a:t>28/3/26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7E39224-717B-5625-00FE-1233EF9C7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C41C23D-DEDD-F873-6A14-A91D72BB1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9C5F9-9245-5C47-8A43-0A1D93BBBE96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14804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2B9077-B728-CE01-2FE4-6036A88A0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E99CF9-E081-91B2-0B97-36B25EAA7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D90066A-7CC9-E076-48D4-FC2B4537BB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5440526-97CA-2E51-40CE-CACFAC480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EA480-F5A7-DA40-A230-5196D0093B92}" type="datetimeFigureOut">
              <a:rPr lang="es-ES_tradnl" smtClean="0"/>
              <a:t>28/3/26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116868A-6903-8278-8EA2-52BF6E9AD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9D0B9B4-255C-3F0E-6180-36BC40520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9C5F9-9245-5C47-8A43-0A1D93BBBE96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16157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C5CA3-95C1-9CA8-494C-C4B2391BE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A9FE2F9-425B-5E1B-A280-D18548A776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C57138E-633C-D5B4-4D06-F84AC0623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EF3048B-99E2-A9ED-ECBF-2F2855C24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EA480-F5A7-DA40-A230-5196D0093B92}" type="datetimeFigureOut">
              <a:rPr lang="es-ES_tradnl" smtClean="0"/>
              <a:t>28/3/26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77B7883-AF54-139A-3423-0F52EA16F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F4BB1D7-EDE3-3A97-BFEB-12723FDFA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9C5F9-9245-5C47-8A43-0A1D93BBBE96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45327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410075-39E7-8858-BF04-0DF1BC33E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3FF2A91-DACC-7E95-1B5E-04FF24EC06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42FD0B-CFD3-6E61-75B8-0764D3C4F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EA480-F5A7-DA40-A230-5196D0093B92}" type="datetimeFigureOut">
              <a:rPr lang="es-ES_tradnl" smtClean="0"/>
              <a:t>28/3/26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5137A3D-D9F7-A8A8-800F-F11B1B82C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E598C45-AEC7-7C45-D710-F5ADA54E7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9C5F9-9245-5C47-8A43-0A1D93BBBE96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70590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312DC2E-A797-C62C-FEEA-8A42061C01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E82BF26-C7E7-2C02-3A5F-B917920AC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4D1ED6-AE16-D0A7-7F32-295578BA6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EA480-F5A7-DA40-A230-5196D0093B92}" type="datetimeFigureOut">
              <a:rPr lang="es-ES_tradnl" smtClean="0"/>
              <a:t>28/3/26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D3B268-12A7-8DD6-F2A8-CDA0F88E9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1F0AFA-53E5-23BE-927C-3A3662D5F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9C5F9-9245-5C47-8A43-0A1D93BBBE96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73648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PID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PID </a:t>
            </a:r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Plataforma plana</a:t>
            </a:r>
            <a:endParaRPr lang="es-ES_tradnl" sz="28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4534893" cy="63645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nlinebild-Platzhalter 13">
            <a:extLst>
              <a:ext uri="{FF2B5EF4-FFF2-40B4-BE49-F238E27FC236}">
                <a16:creationId xmlns:a16="http://schemas.microsoft.com/office/drawing/2014/main" id="{FD9EF390-3AFD-9D64-1273-017BE22D9A62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520862" y="2150672"/>
            <a:ext cx="5365750" cy="4008437"/>
          </a:xfrm>
        </p:spPr>
        <p:txBody>
          <a:bodyPr/>
          <a:lstStyle/>
          <a:p>
            <a:endParaRPr lang="es-ES_tradnl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95360E26-BFAE-B334-4899-0F825BFBC3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353093" y="2077326"/>
            <a:ext cx="2721697" cy="2147028"/>
          </a:xfrm>
          <a:prstGeom prst="rect">
            <a:avLst/>
          </a:prstGeom>
        </p:spPr>
      </p:pic>
      <p:sp>
        <p:nvSpPr>
          <p:cNvPr id="22" name="Inhaltsplatzhalter 28">
            <a:extLst>
              <a:ext uri="{FF2B5EF4-FFF2-40B4-BE49-F238E27FC236}">
                <a16:creationId xmlns:a16="http://schemas.microsoft.com/office/drawing/2014/main" id="{BE6DE186-B408-4201-17FA-17FDB7A4014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53093" y="4424206"/>
            <a:ext cx="4571997" cy="465600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10678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PID_Seña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PID en la Simulación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nlinebild-Platzhalter 13">
            <a:extLst>
              <a:ext uri="{FF2B5EF4-FFF2-40B4-BE49-F238E27FC236}">
                <a16:creationId xmlns:a16="http://schemas.microsoft.com/office/drawing/2014/main" id="{FD9EF390-3AFD-9D64-1273-017BE22D9A62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520862" y="2186245"/>
            <a:ext cx="2793751" cy="1278328"/>
          </a:xfrm>
        </p:spPr>
        <p:txBody>
          <a:bodyPr/>
          <a:lstStyle/>
          <a:p>
            <a:endParaRPr lang="es-ES_tradnl"/>
          </a:p>
        </p:txBody>
      </p:sp>
      <p:sp>
        <p:nvSpPr>
          <p:cNvPr id="15" name="Onlinebild-Platzhalter 13">
            <a:extLst>
              <a:ext uri="{FF2B5EF4-FFF2-40B4-BE49-F238E27FC236}">
                <a16:creationId xmlns:a16="http://schemas.microsoft.com/office/drawing/2014/main" id="{B6B5ED52-F232-2831-C6BE-35BA5927233A}"/>
              </a:ext>
            </a:extLst>
          </p:cNvPr>
          <p:cNvSpPr>
            <a:spLocks noGrp="1"/>
          </p:cNvSpPr>
          <p:nvPr>
            <p:ph type="clipArt" sz="quarter" idx="16"/>
          </p:nvPr>
        </p:nvSpPr>
        <p:spPr>
          <a:xfrm>
            <a:off x="520862" y="3743459"/>
            <a:ext cx="2793751" cy="1278328"/>
          </a:xfrm>
        </p:spPr>
        <p:txBody>
          <a:bodyPr/>
          <a:lstStyle/>
          <a:p>
            <a:endParaRPr lang="es-ES_tradnl"/>
          </a:p>
        </p:txBody>
      </p:sp>
      <p:sp>
        <p:nvSpPr>
          <p:cNvPr id="16" name="Onlinebild-Platzhalter 13">
            <a:extLst>
              <a:ext uri="{FF2B5EF4-FFF2-40B4-BE49-F238E27FC236}">
                <a16:creationId xmlns:a16="http://schemas.microsoft.com/office/drawing/2014/main" id="{4C638931-10E1-DC5C-399E-7B6D57B18239}"/>
              </a:ext>
            </a:extLst>
          </p:cNvPr>
          <p:cNvSpPr>
            <a:spLocks noGrp="1"/>
          </p:cNvSpPr>
          <p:nvPr>
            <p:ph type="clipArt" sz="quarter" idx="17"/>
          </p:nvPr>
        </p:nvSpPr>
        <p:spPr>
          <a:xfrm>
            <a:off x="520862" y="5198616"/>
            <a:ext cx="2793751" cy="1278328"/>
          </a:xfrm>
        </p:spPr>
        <p:txBody>
          <a:bodyPr/>
          <a:lstStyle/>
          <a:p>
            <a:endParaRPr lang="es-ES_tradnl"/>
          </a:p>
        </p:txBody>
      </p:sp>
      <p:sp>
        <p:nvSpPr>
          <p:cNvPr id="17" name="Inhaltsplatzhalter 28">
            <a:extLst>
              <a:ext uri="{FF2B5EF4-FFF2-40B4-BE49-F238E27FC236}">
                <a16:creationId xmlns:a16="http://schemas.microsoft.com/office/drawing/2014/main" id="{15612892-1A9C-C3F2-8108-BC8EDD01438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91062" y="2181237"/>
            <a:ext cx="8273590" cy="1323467"/>
          </a:xfrm>
        </p:spPr>
        <p:txBody>
          <a:bodyPr/>
          <a:lstStyle>
            <a:lvl1pPr algn="ctr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9" name="Inhaltsplatzhalter 28">
            <a:extLst>
              <a:ext uri="{FF2B5EF4-FFF2-40B4-BE49-F238E27FC236}">
                <a16:creationId xmlns:a16="http://schemas.microsoft.com/office/drawing/2014/main" id="{EFE5A65A-C045-3040-AE46-5568740D238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550797" y="3743459"/>
            <a:ext cx="8273590" cy="1323467"/>
          </a:xfrm>
        </p:spPr>
        <p:txBody>
          <a:bodyPr/>
          <a:lstStyle>
            <a:lvl1pPr algn="ctr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0" name="Inhaltsplatzhalter 28">
            <a:extLst>
              <a:ext uri="{FF2B5EF4-FFF2-40B4-BE49-F238E27FC236}">
                <a16:creationId xmlns:a16="http://schemas.microsoft.com/office/drawing/2014/main" id="{176B0BA9-1632-E729-18E1-6C3B8CFF0BA2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550797" y="5198616"/>
            <a:ext cx="8273590" cy="1323467"/>
          </a:xfrm>
        </p:spPr>
        <p:txBody>
          <a:bodyPr/>
          <a:lstStyle>
            <a:lvl1pPr algn="ctr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05481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82AFE1D-8660-7158-1DB8-3E399B474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DBD0B0D-7A06-B19C-1B00-6A4385B41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5512E7-0C6C-B5E8-63C6-EF2378EFA5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AEA480-F5A7-DA40-A230-5196D0093B92}" type="datetimeFigureOut">
              <a:rPr lang="es-ES_tradnl" smtClean="0"/>
              <a:t>28/3/26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10B62F-59C2-B47B-9BD7-CCDD46A4A0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C8115D-17FA-174F-9657-0E9435A7D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39C5F9-9245-5C47-8A43-0A1D93BBBE96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40866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1.png"/><Relationship Id="rId7" Type="http://schemas.openxmlformats.org/officeDocument/2006/relationships/image" Target="../media/image6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emf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08D9582-C28E-3BFC-4B8A-25976A53CD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</a:t>
            </a:r>
          </a:p>
          <a:p>
            <a:endParaRPr lang="es-ES_tradnl" dirty="0"/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C02CF8D8-7D86-9732-B21A-9DAEE20908EB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83920" y="2151063"/>
            <a:ext cx="5239310" cy="4008437"/>
          </a:xfrm>
          <a:prstGeom prst="rect">
            <a:avLst/>
          </a:prstGeom>
        </p:spPr>
      </p:pic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832C238F-0429-CFA5-28A1-D17DCEFE82C1}"/>
              </a:ext>
            </a:extLst>
          </p:cNvPr>
          <p:cNvSpPr txBox="1">
            <a:spLocks noGrp="1"/>
          </p:cNvSpPr>
          <p:nvPr>
            <p:ph sz="quarter" idx="14"/>
          </p:nvPr>
        </p:nvSpPr>
        <p:spPr>
          <a:xfrm>
            <a:off x="6390198" y="5092979"/>
            <a:ext cx="5377732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algn="l">
              <a:lnSpc>
                <a:spcPct val="100000"/>
              </a:lnSpc>
              <a:spcBef>
                <a:spcPts val="0"/>
              </a:spcBef>
            </a:pPr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RMSE del controlador PID mantiene una forma consistente a lo largo del dominio angular, </a:t>
            </a:r>
            <a:r>
              <a:rPr lang="es-ES_tradnl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presentando únicamente un desplazamiento de la curva en función de la referencia</a:t>
            </a:r>
            <a:r>
              <a:rPr lang="es-ES_tradn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Esto evidencia un comportamiento estructuralmente estable pero dependiente del punto de operación.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D1E45C5-F83C-4E58-7D47-2C1479C70833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6353093" y="4424206"/>
            <a:ext cx="4571997" cy="674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b="1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o1ini: (-90°, 0°, 90°)</a:t>
            </a:r>
          </a:p>
          <a:p>
            <a:pPr algn="l"/>
            <a:r>
              <a:rPr lang="es-ES_tradnl" sz="14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=0°, do1ini= 0°, Retardo=0ms </a:t>
            </a:r>
            <a:endParaRPr lang="es-ES_tradnl" sz="1400" dirty="0"/>
          </a:p>
          <a:p>
            <a:pPr algn="l"/>
            <a:endParaRPr lang="es-ES_tradnl" sz="1400" b="1" dirty="0"/>
          </a:p>
        </p:txBody>
      </p:sp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12BACC72-76DC-E7EC-10EC-25D0A5CD28E6}"/>
              </a:ext>
            </a:extLst>
          </p:cNvPr>
          <p:cNvSpPr txBox="1">
            <a:spLocks/>
          </p:cNvSpPr>
          <p:nvPr/>
        </p:nvSpPr>
        <p:spPr>
          <a:xfrm>
            <a:off x="372931" y="6356350"/>
            <a:ext cx="11362738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3869170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1D27122-D483-C0CD-3662-08EAFF467D0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inicial. o1sp=45°</a:t>
            </a:r>
          </a:p>
          <a:p>
            <a:endParaRPr lang="es-ES_tradnl" dirty="0"/>
          </a:p>
        </p:txBody>
      </p:sp>
      <p:pic>
        <p:nvPicPr>
          <p:cNvPr id="16" name="Onlinebild-Platzhalter 15">
            <a:extLst>
              <a:ext uri="{FF2B5EF4-FFF2-40B4-BE49-F238E27FC236}">
                <a16:creationId xmlns:a16="http://schemas.microsoft.com/office/drawing/2014/main" id="{23B2A593-A3EE-2437-7505-406A315FC471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568272" y="2062511"/>
            <a:ext cx="5922468" cy="2520833"/>
          </a:xfrm>
          <a:prstGeom prst="rect">
            <a:avLst/>
          </a:prstGeom>
        </p:spPr>
      </p:pic>
      <p:graphicFrame>
        <p:nvGraphicFramePr>
          <p:cNvPr id="17" name="Inhaltsplatzhalter 5">
            <a:extLst>
              <a:ext uri="{FF2B5EF4-FFF2-40B4-BE49-F238E27FC236}">
                <a16:creationId xmlns:a16="http://schemas.microsoft.com/office/drawing/2014/main" id="{536BD485-9D28-B806-87D9-4DDBE41C2BBC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013951616"/>
              </p:ext>
            </p:extLst>
          </p:nvPr>
        </p:nvGraphicFramePr>
        <p:xfrm>
          <a:off x="815975" y="4749800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45.72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5.44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12.32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28.38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74.00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161.01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23.60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147.62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3.21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163.67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44.28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-0.72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-1.60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5.44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12.32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28.38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74.00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161.01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23.60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147.62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3.21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163.67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47.82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6.27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46.27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85.61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34.00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483.02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84.64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1364.64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10.24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488.13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71396D38-831D-724F-35D1-6324C27DE519}"/>
              </a:ext>
            </a:extLst>
          </p:cNvPr>
          <p:cNvSpPr txBox="1"/>
          <p:nvPr/>
        </p:nvSpPr>
        <p:spPr>
          <a:xfrm>
            <a:off x="520862" y="2428108"/>
            <a:ext cx="281622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_tradn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variación en la posición inicial impacta el error y el transitorio, pero el sistema mantiene un comportamiento estable y convergente.</a:t>
            </a:r>
          </a:p>
        </p:txBody>
      </p:sp>
    </p:spTree>
    <p:extLst>
      <p:ext uri="{BB962C8B-B14F-4D97-AF65-F5344CB8AC3E}">
        <p14:creationId xmlns:p14="http://schemas.microsoft.com/office/powerpoint/2010/main" val="1723601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EC2CA3E-7B43-BB4E-C3F6-6B65B78C3F9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5239310" cy="1066521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s-ES_tradnl" sz="1200" dirty="0"/>
              <a:t>El retardo de señal no modifica la dinámica estructural del PID, </a:t>
            </a:r>
            <a:r>
              <a:rPr lang="es-ES_tradnl" sz="1200" b="1" dirty="0"/>
              <a:t>pero sí penaliza su desempeño en todo el dominio angular</a:t>
            </a:r>
            <a:r>
              <a:rPr lang="es-ES_tradnl" sz="1200" dirty="0"/>
              <a:t>, elevando el RMSE y evidenciando su sensibilidad inherente a retrasos en el lazo de control.</a:t>
            </a:r>
          </a:p>
          <a:p>
            <a:pPr>
              <a:lnSpc>
                <a:spcPct val="120000"/>
              </a:lnSpc>
            </a:pPr>
            <a:endParaRPr lang="es-ES_tradnl" sz="120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558F47-47C8-802F-2878-E6B3A88E9C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Retardo de señal</a:t>
            </a:r>
          </a:p>
          <a:p>
            <a:endParaRPr lang="es-ES_tradnl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39107E5-E093-527F-892D-126D84C402A9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s-ES_tradnl" b="1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Retardo: (0, 10, 20)[ms]</a:t>
            </a:r>
          </a:p>
          <a:p>
            <a:pPr algn="l"/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=0°, o1ini= 0°, do1ini= 0° </a:t>
            </a:r>
            <a:endParaRPr lang="es-ES_tradnl" dirty="0"/>
          </a:p>
        </p:txBody>
      </p:sp>
      <p:pic>
        <p:nvPicPr>
          <p:cNvPr id="6" name="Onlinebild-Platzhalter 4">
            <a:extLst>
              <a:ext uri="{FF2B5EF4-FFF2-40B4-BE49-F238E27FC236}">
                <a16:creationId xmlns:a16="http://schemas.microsoft.com/office/drawing/2014/main" id="{59AD2FCD-6DB5-A86D-4D5B-E3E125773A12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83920" y="2151063"/>
            <a:ext cx="5239310" cy="4008437"/>
          </a:xfrm>
          <a:prstGeom prst="rect">
            <a:avLst/>
          </a:prstGeom>
        </p:spPr>
      </p:pic>
      <p:sp>
        <p:nvSpPr>
          <p:cNvPr id="4" name="Fußzeilenplatzhalter 2">
            <a:extLst>
              <a:ext uri="{FF2B5EF4-FFF2-40B4-BE49-F238E27FC236}">
                <a16:creationId xmlns:a16="http://schemas.microsoft.com/office/drawing/2014/main" id="{10CCC9E2-BB30-06FD-60F3-6369BCB2981C}"/>
              </a:ext>
            </a:extLst>
          </p:cNvPr>
          <p:cNvSpPr txBox="1">
            <a:spLocks/>
          </p:cNvSpPr>
          <p:nvPr/>
        </p:nvSpPr>
        <p:spPr>
          <a:xfrm>
            <a:off x="372931" y="6356350"/>
            <a:ext cx="11362738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790621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C2ECD-7DF3-53BE-A7FC-FE5BEA187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D70A5D6-ECEA-A80F-9018-6FA4CC60CFA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Retardo de señal. o1sp=45°</a:t>
            </a:r>
          </a:p>
          <a:p>
            <a:endParaRPr lang="es-ES_tradnl" dirty="0"/>
          </a:p>
        </p:txBody>
      </p:sp>
      <p:graphicFrame>
        <p:nvGraphicFramePr>
          <p:cNvPr id="17" name="Inhaltsplatzhalter 5">
            <a:extLst>
              <a:ext uri="{FF2B5EF4-FFF2-40B4-BE49-F238E27FC236}">
                <a16:creationId xmlns:a16="http://schemas.microsoft.com/office/drawing/2014/main" id="{25359C2F-D5DE-4E5B-BEED-F39689FA2E77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817553019"/>
              </p:ext>
            </p:extLst>
          </p:nvPr>
        </p:nvGraphicFramePr>
        <p:xfrm>
          <a:off x="815975" y="4749800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44.28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-0.72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-1.60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5.44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12.32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28.38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74.00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161.01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23.60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147.62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3.21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163.67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44.77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-0.23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-0.51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3.65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13.91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21.55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29.00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161.01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24.37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148.22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3.16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163.23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44.40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-0.60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-1.33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5.22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14.18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30.23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67.00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161.01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24.15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148.06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3.31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163.24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pic>
        <p:nvPicPr>
          <p:cNvPr id="3" name="Grafik 2">
            <a:extLst>
              <a:ext uri="{FF2B5EF4-FFF2-40B4-BE49-F238E27FC236}">
                <a16:creationId xmlns:a16="http://schemas.microsoft.com/office/drawing/2014/main" id="{B059CA35-2BB0-60C5-87E0-816917143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8360" y="2070224"/>
            <a:ext cx="6009168" cy="2505407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DBA7602F-C6CA-8AE8-B418-2C584C7FB6C1}"/>
              </a:ext>
            </a:extLst>
          </p:cNvPr>
          <p:cNvSpPr txBox="1"/>
          <p:nvPr/>
        </p:nvSpPr>
        <p:spPr>
          <a:xfrm>
            <a:off x="520862" y="2428108"/>
            <a:ext cx="28162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_tradn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retardo de señal introduce variaciones leves en el desempeño, sin afectar significativamente la estabilidad ni la precisión del controlador PID</a:t>
            </a:r>
          </a:p>
        </p:txBody>
      </p:sp>
    </p:spTree>
    <p:extLst>
      <p:ext uri="{BB962C8B-B14F-4D97-AF65-F5344CB8AC3E}">
        <p14:creationId xmlns:p14="http://schemas.microsoft.com/office/powerpoint/2010/main" val="1789980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873A828-98C6-9010-8741-B88DC459631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4763355" cy="903784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s-ES_tradnl" sz="1200" dirty="0"/>
              <a:t>A diferencia de otros factores, la velocidad inicial no solo desplaza, sino que </a:t>
            </a:r>
            <a:r>
              <a:rPr lang="es-ES_tradnl" sz="1200" b="1" dirty="0"/>
              <a:t>distorsiona el RMSE, revelando una dependencia crítica del PID respecto al estado inicial del sistema</a:t>
            </a:r>
            <a:r>
              <a:rPr lang="es-ES_tradnl" sz="1200" dirty="0"/>
              <a:t>.</a:t>
            </a:r>
          </a:p>
          <a:p>
            <a:pPr algn="l">
              <a:lnSpc>
                <a:spcPct val="120000"/>
              </a:lnSpc>
            </a:pPr>
            <a:endParaRPr lang="es-ES_tradnl" sz="120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E3C78FF-80A8-9C4A-FD90-2C057C84BD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do1ini. Velocidad angular inicial.</a:t>
            </a:r>
          </a:p>
          <a:p>
            <a:endParaRPr lang="es-ES_tradnl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F9322F2C-7C5F-A943-3A45-72E32DCE79A8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s-ES_tradnl" b="1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do1ini= (-0.5, 0, 0.5) [rad/s]</a:t>
            </a:r>
          </a:p>
          <a:p>
            <a:pPr algn="l"/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=0°, o1ini= 0°, Retardo=0ms </a:t>
            </a:r>
            <a:endParaRPr lang="es-ES_tradnl" dirty="0"/>
          </a:p>
          <a:p>
            <a:endParaRPr lang="es-ES_tradnl" b="1" dirty="0"/>
          </a:p>
          <a:p>
            <a:endParaRPr lang="es-ES_tradnl" dirty="0"/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E1863E05-5731-DFE6-6741-64E77FCC8ED6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617249" y="2151063"/>
            <a:ext cx="5172652" cy="4008437"/>
          </a:xfrm>
          <a:prstGeom prst="rect">
            <a:avLst/>
          </a:prstGeom>
        </p:spPr>
      </p:pic>
      <p:sp>
        <p:nvSpPr>
          <p:cNvPr id="4" name="Fußzeilenplatzhalter 2">
            <a:extLst>
              <a:ext uri="{FF2B5EF4-FFF2-40B4-BE49-F238E27FC236}">
                <a16:creationId xmlns:a16="http://schemas.microsoft.com/office/drawing/2014/main" id="{31683821-BE3D-1E43-EEED-57C06119B55A}"/>
              </a:ext>
            </a:extLst>
          </p:cNvPr>
          <p:cNvSpPr txBox="1">
            <a:spLocks/>
          </p:cNvSpPr>
          <p:nvPr/>
        </p:nvSpPr>
        <p:spPr>
          <a:xfrm>
            <a:off x="372931" y="6356350"/>
            <a:ext cx="11362738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121906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EC9C4-AE70-4571-F344-D3EE01684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EB25CA5-933B-5C0A-1CD2-70DA090E43F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8633771" cy="449263"/>
          </a:xfrm>
        </p:spPr>
        <p:txBody>
          <a:bodyPr>
            <a:normAutofit/>
          </a:bodyPr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do1ini. Velocidad angular inicial. o1sp=45°</a:t>
            </a:r>
          </a:p>
          <a:p>
            <a:endParaRPr lang="es-ES_tradnl" dirty="0"/>
          </a:p>
        </p:txBody>
      </p:sp>
      <p:graphicFrame>
        <p:nvGraphicFramePr>
          <p:cNvPr id="17" name="Inhaltsplatzhalter 5">
            <a:extLst>
              <a:ext uri="{FF2B5EF4-FFF2-40B4-BE49-F238E27FC236}">
                <a16:creationId xmlns:a16="http://schemas.microsoft.com/office/drawing/2014/main" id="{4FB55BA0-6508-D6E2-388F-BF80AAD39AF9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004895586"/>
              </p:ext>
            </p:extLst>
          </p:nvPr>
        </p:nvGraphicFramePr>
        <p:xfrm>
          <a:off x="815975" y="4749800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3.14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45.83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2.38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5.29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5.76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0.83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10.92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24.82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161.01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27.04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138.73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3.05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172.59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44.28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-0.72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-1.60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5.44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12.32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28.38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74.00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161.01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23.60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147.62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3.21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163.67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-3.14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45.43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18.46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22.37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0.75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161.01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28.23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167.34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4.47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168.83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pic>
        <p:nvPicPr>
          <p:cNvPr id="4" name="Grafik 3">
            <a:extLst>
              <a:ext uri="{FF2B5EF4-FFF2-40B4-BE49-F238E27FC236}">
                <a16:creationId xmlns:a16="http://schemas.microsoft.com/office/drawing/2014/main" id="{12FDCD05-7A0A-6424-974F-0DF8524D5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087" y="2006220"/>
            <a:ext cx="6125328" cy="2633414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A357607E-DC3D-09A4-531B-820C113DD60C}"/>
              </a:ext>
            </a:extLst>
          </p:cNvPr>
          <p:cNvSpPr txBox="1"/>
          <p:nvPr/>
        </p:nvSpPr>
        <p:spPr>
          <a:xfrm>
            <a:off x="520862" y="2428108"/>
            <a:ext cx="28162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velocidad angular inicial presenta el mayor impacto, generando cambios significativos en el error, sobreimpulso y esfuerzo de control.</a:t>
            </a:r>
          </a:p>
        </p:txBody>
      </p:sp>
    </p:spTree>
    <p:extLst>
      <p:ext uri="{BB962C8B-B14F-4D97-AF65-F5344CB8AC3E}">
        <p14:creationId xmlns:p14="http://schemas.microsoft.com/office/powerpoint/2010/main" val="2941189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06A66-1137-D16B-5F75-98ED35E9D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C1C9CFD4-A6F6-66F3-A604-B9394D0E49B0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31FE7228-156C-5514-96EC-9779C62A4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CD8721E6-A7CF-5E80-4FC4-53492CEB03FD}"/>
              </a:ext>
            </a:extLst>
          </p:cNvPr>
          <p:cNvSpPr txBox="1"/>
          <p:nvPr/>
        </p:nvSpPr>
        <p:spPr>
          <a:xfrm>
            <a:off x="278030" y="1359984"/>
            <a:ext cx="8271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Influencias de las perturbaciones en plataforma plana</a:t>
            </a:r>
          </a:p>
        </p:txBody>
      </p:sp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9627B626-5A7C-3ACC-3C32-F30CF536C7AE}"/>
              </a:ext>
            </a:extLst>
          </p:cNvPr>
          <p:cNvCxnSpPr>
            <a:cxnSpLocks/>
          </p:cNvCxnSpPr>
          <p:nvPr/>
        </p:nvCxnSpPr>
        <p:spPr>
          <a:xfrm>
            <a:off x="376884" y="1796587"/>
            <a:ext cx="9900837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C04BAD3E-90E5-FD6D-2757-299E2B705CF5}"/>
              </a:ext>
            </a:extLst>
          </p:cNvPr>
          <p:cNvSpPr txBox="1"/>
          <p:nvPr/>
        </p:nvSpPr>
        <p:spPr>
          <a:xfrm>
            <a:off x="313005" y="26977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PID – Plataforma plana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DD2AA93F-F447-6E6C-68AB-3C3ECFC01E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593555" y="1347883"/>
            <a:ext cx="1142114" cy="824422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EF73F16B-0CA4-645E-77EE-74A05C509807}"/>
              </a:ext>
            </a:extLst>
          </p:cNvPr>
          <p:cNvSpPr txBox="1"/>
          <p:nvPr/>
        </p:nvSpPr>
        <p:spPr>
          <a:xfrm>
            <a:off x="1220412" y="5002600"/>
            <a:ext cx="15326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o1ini: (-90, 0 , 90) [°]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C3B0479-E4D0-89B4-F018-E9E7ED3832A9}"/>
              </a:ext>
            </a:extLst>
          </p:cNvPr>
          <p:cNvSpPr txBox="1"/>
          <p:nvPr/>
        </p:nvSpPr>
        <p:spPr>
          <a:xfrm>
            <a:off x="5069907" y="5008526"/>
            <a:ext cx="16858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Retardo: (0, 0.01, 0.02) [ms]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0D7B657-F924-3DF4-5E8D-D6ED816B1E0D}"/>
              </a:ext>
            </a:extLst>
          </p:cNvPr>
          <p:cNvSpPr txBox="1"/>
          <p:nvPr/>
        </p:nvSpPr>
        <p:spPr>
          <a:xfrm>
            <a:off x="9040777" y="5002227"/>
            <a:ext cx="15069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do1ini: (-0.5, 0, 0.5)[rad/s]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7429BBE-6CB5-91A8-FC6C-E4C8AED67FE9}"/>
              </a:ext>
            </a:extLst>
          </p:cNvPr>
          <p:cNvSpPr txBox="1"/>
          <p:nvPr/>
        </p:nvSpPr>
        <p:spPr>
          <a:xfrm>
            <a:off x="372931" y="5529946"/>
            <a:ext cx="110798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_tradn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análisis conjunto revela que, aunque la forma del comportamiento del PID se conserva, su desempeño no es robusto: el error depende del ángulo de referencia, se degrada con retardos y se ve fuertemente afectado por el estado inicial</a:t>
            </a:r>
          </a:p>
        </p:txBody>
      </p:sp>
      <p:pic>
        <p:nvPicPr>
          <p:cNvPr id="5" name="Onlinebild-Platzhalter 5">
            <a:extLst>
              <a:ext uri="{FF2B5EF4-FFF2-40B4-BE49-F238E27FC236}">
                <a16:creationId xmlns:a16="http://schemas.microsoft.com/office/drawing/2014/main" id="{CFDEC0BA-FA80-D098-9E22-BAC58B95A0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005" y="2248918"/>
            <a:ext cx="3562965" cy="2725916"/>
          </a:xfrm>
          <a:prstGeom prst="rect">
            <a:avLst/>
          </a:prstGeom>
        </p:spPr>
      </p:pic>
      <p:pic>
        <p:nvPicPr>
          <p:cNvPr id="6" name="Onlinebild-Platzhalter 4">
            <a:extLst>
              <a:ext uri="{FF2B5EF4-FFF2-40B4-BE49-F238E27FC236}">
                <a16:creationId xmlns:a16="http://schemas.microsoft.com/office/drawing/2014/main" id="{9D901767-DA7A-F66A-F782-EE9EAEB115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0531" y="2255955"/>
            <a:ext cx="3622320" cy="2771327"/>
          </a:xfrm>
          <a:prstGeom prst="rect">
            <a:avLst/>
          </a:prstGeom>
        </p:spPr>
      </p:pic>
      <p:pic>
        <p:nvPicPr>
          <p:cNvPr id="13" name="Onlinebild-Platzhalter 5">
            <a:extLst>
              <a:ext uri="{FF2B5EF4-FFF2-40B4-BE49-F238E27FC236}">
                <a16:creationId xmlns:a16="http://schemas.microsoft.com/office/drawing/2014/main" id="{5ED6A149-9A9A-903E-CD5A-E4B0965080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07412" y="2282744"/>
            <a:ext cx="3562966" cy="2761045"/>
          </a:xfrm>
          <a:prstGeom prst="rect">
            <a:avLst/>
          </a:prstGeom>
        </p:spPr>
      </p:pic>
      <p:sp>
        <p:nvSpPr>
          <p:cNvPr id="7" name="Fußzeilenplatzhalter 2">
            <a:extLst>
              <a:ext uri="{FF2B5EF4-FFF2-40B4-BE49-F238E27FC236}">
                <a16:creationId xmlns:a16="http://schemas.microsoft.com/office/drawing/2014/main" id="{07FBE628-1230-33AB-6D66-46A95CA49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2931" y="6356350"/>
            <a:ext cx="11362738" cy="365125"/>
          </a:xfrm>
        </p:spPr>
        <p:txBody>
          <a:bodyPr/>
          <a:lstStyle/>
          <a:p>
            <a:r>
              <a:rPr lang="es-ES_tradnl" sz="900" dirty="0">
                <a:solidFill>
                  <a:schemeClr val="tx1"/>
                </a:solidFill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519697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785</Words>
  <Application>Microsoft Macintosh PowerPoint</Application>
  <PresentationFormat>Breitbild</PresentationFormat>
  <Paragraphs>221</Paragraphs>
  <Slides>7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3</cp:revision>
  <dcterms:created xsi:type="dcterms:W3CDTF">2026-03-27T16:33:48Z</dcterms:created>
  <dcterms:modified xsi:type="dcterms:W3CDTF">2026-03-28T06:27:11Z</dcterms:modified>
</cp:coreProperties>
</file>