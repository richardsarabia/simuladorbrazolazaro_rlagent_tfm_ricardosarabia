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452" r:id="rId2"/>
    <p:sldId id="473" r:id="rId3"/>
    <p:sldId id="483" r:id="rId4"/>
    <p:sldId id="484" r:id="rId5"/>
    <p:sldId id="474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58F99E-DBD4-DB49-9F8F-18E3C8CD5836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37A1549-F511-B44B-AA3B-DA679CA26CAA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0587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68B2B-99EF-B6E7-ABCC-2B15A4543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0BAAC437-16BD-4BAD-22FE-E9F7F97C1F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 dirty="0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6925A1D-3A29-AB85-AA9C-E8DD3FF8F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A9F700-FF6F-0186-E87D-2958BC7F1C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1</a:t>
            </a:fld>
            <a:endParaRPr lang="es-ES_tradnl" dirty="0"/>
          </a:p>
        </p:txBody>
      </p:sp>
    </p:spTree>
    <p:extLst>
      <p:ext uri="{BB962C8B-B14F-4D97-AF65-F5344CB8AC3E}">
        <p14:creationId xmlns:p14="http://schemas.microsoft.com/office/powerpoint/2010/main" val="2138775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49A97-FE18-B7A1-CDDC-756B7A322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69C99B9-047A-8EF6-01F5-DE7AC795E5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F565F9F-A087-657D-BFEF-D14767F99A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6B1595-45A2-4C69-5BC5-B498ACAEB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2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329154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76E6-3176-D630-96EC-A06007955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7F69F00-8B7D-8721-E3E8-820CC0461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953E2FE-23AC-A609-7A04-3AF694138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59A035-73AC-0E2E-9F64-5492935C41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3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127616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7AAF9-8680-BEAF-2947-2222ADCEF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9521DF0-3EE0-2404-BE2C-3DE6797AB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121802-2C63-8585-74A5-E8BF35F5BB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BE889AB-8642-FA01-75A7-72B63739F7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4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499892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C668E-1D1D-A8E8-A669-B686A352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01CED75-3946-2CC3-C9E7-2ED7FD11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BB748DF-27EF-264D-A9C4-5881A68457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4F6DCF-D99A-BB73-C96F-2FF27043F8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88945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CEF79-E4B7-6B6D-1354-D9D10A29B0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19661EA-2116-D471-1D7D-E953E1D20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445A9E-0593-F52F-D2C9-8B0B93744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22A324-9A6D-F891-B344-8FAE9FEBB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6CF953-7F9F-7628-6F99-8D17DA13F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11619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B566D9-06C9-DE4D-99DB-D05BB9F4C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8BE5623-ED87-EBCF-ECE6-4876664CF8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3BC3B71-4D44-22A2-6D23-247658DD5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CD61B7-BA40-E443-D7CE-E3E18296F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9579A1-A28F-3CA6-2D00-E0124FB19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68838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28FDE2-D45E-2906-2557-864B9E0CC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8083D9-3B8A-4D45-2F23-9B7749464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539911-BEF0-0974-3405-80B6B1C5C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A0A9A6-FDA1-693C-4F19-E371B67D9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2F57EB-1526-629F-09A9-B61B67ABF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58347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86FC9-5AE9-C1B5-7DF0-02861ACC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3C01F1-CBBC-BD95-C040-C6973A9C6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3D9FA23-508B-E455-87C4-EBCD5E7AD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DA4B20-A280-4A8D-4809-93B4122BB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9B2553A-562C-127B-0DE9-7813DEC8D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2EA7C7C-13FF-8942-69E1-CD02E5C9E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888613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2E95FC1-521D-216D-C5E7-C2010D0BA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DA649F9-0FF1-945A-31E3-84BE7F868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E4F0ED-F958-EDBC-47E2-6E60D2299C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22C03E3-FCFD-24D6-8562-341D8AE329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9169A83-944F-6125-C461-396EBBCF08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ECDA41C-D62F-122C-7A1F-CF295FD5D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7F23461-060D-7C0D-AB3E-1CE07C998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8603BC2-93AB-288B-3E2C-80AFA7D9B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91915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44F16B-3018-9384-866E-7B9239FC3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687F3E6-BF70-B381-2EFE-43B8BF59B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17497D7-FC66-B1AB-B9F2-BAB6DF6C5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20E055B-3BF9-C854-5E65-FA05E4ADA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7766032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04854DC9-6386-F5E1-7090-EF36B7F08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4D9823E-1BF2-9E7D-65E3-4E386075E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2BBB79-F7EE-5A74-1A75-CFBB32C3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839966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A4823-2DAF-B4C2-5450-5D98AB53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AC2E62-47DB-D332-F919-EDB9504E92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EEF4D52-96E0-27F3-5A1D-35D846FA79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FB84AA-35D0-2A5B-7977-BA5832DE2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84B8C66-A507-B2AE-7F57-E237A88BA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E7CB740-D0F1-C9CE-CDB5-F8CAACABB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0323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909EB-F932-2534-A8AD-99AD1FB0C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6B64FDE-E647-E898-6190-D5BECBCA07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711340E-C313-5DA0-FBC7-3B644C92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8607862-0B4F-B18E-45BB-4F5FB9CFE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20CBA62-67A7-3E81-7E13-372C43D64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08C4C3D-B154-7391-1478-F25DD7524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2268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886D56-E5A1-8D2C-B0CB-689E28D7F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231B5B-A07E-C8B9-2D3B-30421C01AF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4EFDF1-1AC2-77B5-8660-7F2ADC133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210A53-93B1-5827-2FAB-CFDEFB06C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2F9C8C-47E8-49B5-C587-8EE82572D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56054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2A99028-4CBD-59E7-2F82-EDE1F809C4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6BD1483-2ADB-DE70-DF6B-8DB8E5520C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6E0527-348B-BA62-DD76-DFDCC31F8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FF398E-2B02-A29B-A8F4-A24EF942C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FC3059-43CF-130C-F957-B48342779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115786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6127872-7665-0090-D923-8671F1FA4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168B451-0F1E-7BDE-EFF9-FE4D133E1F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8640C54-316F-2060-84D4-81BB4FC074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FE2079-4372-C444-AFE6-2E930B0CFAF2}" type="datetimeFigureOut">
              <a:rPr lang="es-ES_tradnl" smtClean="0"/>
              <a:t>24/3/26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BE0B0C-842A-936B-75C6-9645E798E1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4D859E-A65D-39EE-FB2A-495871C56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97FEE8F-613C-804A-B687-6E17D239737E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3151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1.png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emf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41210-337E-2265-1F4C-1B911C4AC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F5409B28-9297-007F-2E9B-233D4F5928B4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832D5C50-B0D6-FD35-C6AF-C5EB3E6E4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85ADFB2E-95DB-5EAA-DC99-231C6C6FFD95}"/>
              </a:ext>
            </a:extLst>
          </p:cNvPr>
          <p:cNvSpPr txBox="1"/>
          <p:nvPr/>
        </p:nvSpPr>
        <p:spPr>
          <a:xfrm>
            <a:off x="278030" y="1359984"/>
            <a:ext cx="827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Definición de Sectores Angulares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D8A39B52-C190-0E4D-BE8F-8FF9816B6066}"/>
              </a:ext>
            </a:extLst>
          </p:cNvPr>
          <p:cNvSpPr txBox="1"/>
          <p:nvPr/>
        </p:nvSpPr>
        <p:spPr>
          <a:xfrm>
            <a:off x="-543697" y="56223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56DF7EE6-13E7-A0F4-5557-BC39145B1CD8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E6A41B09-1969-A666-3BCE-69C748D9891B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Sectores de Evaluación – Primera Articulación</a:t>
            </a: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D6007B01-5813-8D3B-BB63-B4F0C474B8CF}"/>
              </a:ext>
            </a:extLst>
          </p:cNvPr>
          <p:cNvSpPr txBox="1"/>
          <p:nvPr/>
        </p:nvSpPr>
        <p:spPr>
          <a:xfrm>
            <a:off x="6028803" y="3662127"/>
            <a:ext cx="2520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200" noProof="1"/>
              <a:t>Dominio Angular: </a:t>
            </a:r>
            <a:r>
              <a:rPr lang="es-ES_tradnl" sz="1200" noProof="1">
                <a:latin typeface="Cambria Math" panose="02040503050406030204" pitchFamily="18" charset="0"/>
              </a:rPr>
              <a:t>[-180°, 180°]</a:t>
            </a:r>
            <a:endParaRPr lang="es-ES_tradnl" sz="1200" noProof="1"/>
          </a:p>
        </p:txBody>
      </p: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23D3757C-782A-1440-A55C-1B81E95C586B}"/>
              </a:ext>
            </a:extLst>
          </p:cNvPr>
          <p:cNvGrpSpPr/>
          <p:nvPr/>
        </p:nvGrpSpPr>
        <p:grpSpPr>
          <a:xfrm>
            <a:off x="634198" y="2538307"/>
            <a:ext cx="4718228" cy="3385868"/>
            <a:chOff x="767307" y="2362655"/>
            <a:chExt cx="4718228" cy="3385868"/>
          </a:xfrm>
        </p:grpSpPr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F8BB5DB9-2F18-02C4-AA6D-2FF1D16306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15429" t="14728" r="25176" b="10832"/>
            <a:stretch>
              <a:fillRect/>
            </a:stretch>
          </p:blipFill>
          <p:spPr>
            <a:xfrm>
              <a:off x="1541573" y="3087521"/>
              <a:ext cx="3160138" cy="2281110"/>
            </a:xfrm>
            <a:prstGeom prst="rect">
              <a:avLst/>
            </a:prstGeom>
          </p:spPr>
        </p:pic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6C99F3AD-E96D-3937-D876-942811FB778C}"/>
                </a:ext>
              </a:extLst>
            </p:cNvPr>
            <p:cNvCxnSpPr>
              <a:cxnSpLocks/>
            </p:cNvCxnSpPr>
            <p:nvPr/>
          </p:nvCxnSpPr>
          <p:spPr>
            <a:xfrm>
              <a:off x="1625333" y="2779042"/>
              <a:ext cx="3544889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>
              <a:extLst>
                <a:ext uri="{FF2B5EF4-FFF2-40B4-BE49-F238E27FC236}">
                  <a16:creationId xmlns:a16="http://schemas.microsoft.com/office/drawing/2014/main" id="{C1FD0521-F9C8-0C2C-C74B-28DE981D0D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8803" y="2714022"/>
              <a:ext cx="3028838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3E317E14-7927-BB89-618F-A353405643B6}"/>
                </a:ext>
              </a:extLst>
            </p:cNvPr>
            <p:cNvSpPr/>
            <p:nvPr/>
          </p:nvSpPr>
          <p:spPr>
            <a:xfrm rot="11705331">
              <a:off x="1253624" y="44922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1" name="Bogen 30">
              <a:extLst>
                <a:ext uri="{FF2B5EF4-FFF2-40B4-BE49-F238E27FC236}">
                  <a16:creationId xmlns:a16="http://schemas.microsoft.com/office/drawing/2014/main" id="{91B3BCC8-8059-EE14-B777-1F5F0DA41307}"/>
                </a:ext>
              </a:extLst>
            </p:cNvPr>
            <p:cNvSpPr/>
            <p:nvPr/>
          </p:nvSpPr>
          <p:spPr>
            <a:xfrm rot="16503148">
              <a:off x="1388273" y="2628042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2" name="Bogen 31">
              <a:extLst>
                <a:ext uri="{FF2B5EF4-FFF2-40B4-BE49-F238E27FC236}">
                  <a16:creationId xmlns:a16="http://schemas.microsoft.com/office/drawing/2014/main" id="{DB3AC77F-256C-914F-7551-CA557C4564E3}"/>
                </a:ext>
              </a:extLst>
            </p:cNvPr>
            <p:cNvSpPr/>
            <p:nvPr/>
          </p:nvSpPr>
          <p:spPr>
            <a:xfrm rot="403624">
              <a:off x="4242405" y="2558701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3" name="Bogen 32">
              <a:extLst>
                <a:ext uri="{FF2B5EF4-FFF2-40B4-BE49-F238E27FC236}">
                  <a16:creationId xmlns:a16="http://schemas.microsoft.com/office/drawing/2014/main" id="{FF57ED08-AC4E-22DD-4A4B-6327D9C48086}"/>
                </a:ext>
              </a:extLst>
            </p:cNvPr>
            <p:cNvSpPr/>
            <p:nvPr/>
          </p:nvSpPr>
          <p:spPr>
            <a:xfrm rot="5400000">
              <a:off x="4948276" y="46153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937641DA-E107-045F-C526-02D4D17B528F}"/>
                    </a:ext>
                  </a:extLst>
                </p:cNvPr>
                <p:cNvSpPr txBox="1"/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solidFill>
                  <a:srgbClr val="E6E6E6">
                    <a:alpha val="38824"/>
                  </a:srgbClr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s-ES_tradnl" sz="3600" b="1" noProof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s-ES_tradnl" sz="3600" b="1" noProof="1"/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937641DA-E107-045F-C526-02D4D17B52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C3E0E960-26BA-05BD-D992-A2E9D60F1576}"/>
                </a:ext>
              </a:extLst>
            </p:cNvPr>
            <p:cNvSpPr txBox="1"/>
            <p:nvPr/>
          </p:nvSpPr>
          <p:spPr>
            <a:xfrm>
              <a:off x="4627509" y="347623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S1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CDB54B0-EA07-1200-AE8C-EBFB9FA3A0F6}"/>
                </a:ext>
              </a:extLst>
            </p:cNvPr>
            <p:cNvSpPr txBox="1"/>
            <p:nvPr/>
          </p:nvSpPr>
          <p:spPr>
            <a:xfrm>
              <a:off x="2502651" y="2362655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S2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EB794C7F-7F67-C755-AED2-8BBCAB0B942D}"/>
                </a:ext>
              </a:extLst>
            </p:cNvPr>
            <p:cNvSpPr txBox="1"/>
            <p:nvPr/>
          </p:nvSpPr>
          <p:spPr>
            <a:xfrm>
              <a:off x="767307" y="343539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S3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0942D187-399C-CCFB-BB1A-E17A45A45FC1}"/>
                </a:ext>
              </a:extLst>
            </p:cNvPr>
            <p:cNvSpPr txBox="1"/>
            <p:nvPr/>
          </p:nvSpPr>
          <p:spPr>
            <a:xfrm>
              <a:off x="2562746" y="5348413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S4</a:t>
              </a:r>
            </a:p>
          </p:txBody>
        </p:sp>
      </p:grp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BBE218AE-7050-B5B8-A1E4-6FC87AFCC54B}"/>
              </a:ext>
            </a:extLst>
          </p:cNvPr>
          <p:cNvCxnSpPr>
            <a:cxnSpLocks/>
          </p:cNvCxnSpPr>
          <p:nvPr/>
        </p:nvCxnSpPr>
        <p:spPr>
          <a:xfrm flipV="1">
            <a:off x="6131525" y="4231243"/>
            <a:ext cx="4805005" cy="226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435B835-246D-3DB0-5E5B-6F6C5357DA27}"/>
              </a:ext>
            </a:extLst>
          </p:cNvPr>
          <p:cNvSpPr txBox="1"/>
          <p:nvPr/>
        </p:nvSpPr>
        <p:spPr>
          <a:xfrm>
            <a:off x="7373631" y="4278093"/>
            <a:ext cx="1102177" cy="307777"/>
          </a:xfrm>
          <a:prstGeom prst="rect">
            <a:avLst/>
          </a:prstGeom>
          <a:solidFill>
            <a:srgbClr val="E6E6E6">
              <a:alpha val="38824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S1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E314109A-3443-559C-38E2-639BD3CAF2DC}"/>
              </a:ext>
            </a:extLst>
          </p:cNvPr>
          <p:cNvSpPr txBox="1"/>
          <p:nvPr/>
        </p:nvSpPr>
        <p:spPr>
          <a:xfrm>
            <a:off x="6170398" y="4293002"/>
            <a:ext cx="1098418" cy="307777"/>
          </a:xfrm>
          <a:prstGeom prst="rect">
            <a:avLst/>
          </a:prstGeom>
          <a:solidFill>
            <a:srgbClr val="E6E6E6">
              <a:alpha val="38824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S2</a:t>
            </a: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0B8A8CDC-70FB-104A-28AB-B343398E185B}"/>
              </a:ext>
            </a:extLst>
          </p:cNvPr>
          <p:cNvSpPr txBox="1"/>
          <p:nvPr/>
        </p:nvSpPr>
        <p:spPr>
          <a:xfrm>
            <a:off x="8557396" y="4293002"/>
            <a:ext cx="1137382" cy="307777"/>
          </a:xfrm>
          <a:prstGeom prst="rect">
            <a:avLst/>
          </a:prstGeom>
          <a:solidFill>
            <a:srgbClr val="E6E6E6">
              <a:alpha val="38824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S4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C5264763-5926-84EC-DCAA-EB79694FCECF}"/>
              </a:ext>
            </a:extLst>
          </p:cNvPr>
          <p:cNvSpPr txBox="1"/>
          <p:nvPr/>
        </p:nvSpPr>
        <p:spPr>
          <a:xfrm>
            <a:off x="9774976" y="4293002"/>
            <a:ext cx="1126787" cy="307777"/>
          </a:xfrm>
          <a:prstGeom prst="rect">
            <a:avLst/>
          </a:prstGeom>
          <a:solidFill>
            <a:srgbClr val="E6E6E6">
              <a:alpha val="38824"/>
            </a:srgbClr>
          </a:solidFill>
        </p:spPr>
        <p:txBody>
          <a:bodyPr wrap="square">
            <a:spAutoFit/>
          </a:bodyPr>
          <a:lstStyle/>
          <a:p>
            <a:pPr algn="ctr"/>
            <a:r>
              <a:rPr lang="es-ES_tradnl" sz="14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S3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0EEDA6C1-F8F8-13AA-45C4-8F87A92FCA84}"/>
                  </a:ext>
                </a:extLst>
              </p:cNvPr>
              <p:cNvSpPr txBox="1"/>
              <p:nvPr/>
            </p:nvSpPr>
            <p:spPr>
              <a:xfrm>
                <a:off x="6123565" y="4027209"/>
                <a:ext cx="1145253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1000" i="1" noProof="1" dirty="0">
                          <a:latin typeface="Cambria Math" panose="02040503050406030204" pitchFamily="18" charset="0"/>
                        </a:rPr>
                        <m:t>180°≤</m:t>
                      </m:r>
                      <m:sSub>
                        <m:sSubPr>
                          <m:ctrlP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_tradnl" sz="1000" i="1" noProof="1" dirty="0">
                          <a:latin typeface="Cambria Math" panose="02040503050406030204" pitchFamily="18" charset="0"/>
                        </a:rPr>
                        <m:t>≤90°</m:t>
                      </m:r>
                    </m:oMath>
                  </m:oMathPara>
                </a14:m>
                <a:endParaRPr lang="es-ES_tradnl" sz="1000" i="1" noProof="1"/>
              </a:p>
            </p:txBody>
          </p:sp>
        </mc:Choice>
        <mc:Fallback xmlns=""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0EEDA6C1-F8F8-13AA-45C4-8F87A92FC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3565" y="4027209"/>
                <a:ext cx="1145253" cy="24622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1AEA37AB-E706-BB2B-EB90-A6EF049FC02D}"/>
                  </a:ext>
                </a:extLst>
              </p:cNvPr>
              <p:cNvSpPr txBox="1"/>
              <p:nvPr/>
            </p:nvSpPr>
            <p:spPr>
              <a:xfrm>
                <a:off x="7373630" y="4027209"/>
                <a:ext cx="972242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1000" i="1" noProof="1" dirty="0">
                          <a:latin typeface="Cambria Math" panose="02040503050406030204" pitchFamily="18" charset="0"/>
                        </a:rPr>
                        <m:t>90°&lt;</m:t>
                      </m:r>
                      <m:sSub>
                        <m:sSubPr>
                          <m:ctrlP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_tradnl" sz="1000" i="1" noProof="1" dirty="0">
                          <a:latin typeface="Cambria Math" panose="02040503050406030204" pitchFamily="18" charset="0"/>
                        </a:rPr>
                        <m:t>≤0°</m:t>
                      </m:r>
                    </m:oMath>
                  </m:oMathPara>
                </a14:m>
                <a:endParaRPr lang="es-ES_tradnl" sz="1000" i="1" noProof="1"/>
              </a:p>
            </p:txBody>
          </p:sp>
        </mc:Choice>
        <mc:Fallback xmlns="">
          <p:sp>
            <p:nvSpPr>
              <p:cNvPr id="68" name="Textfeld 67">
                <a:extLst>
                  <a:ext uri="{FF2B5EF4-FFF2-40B4-BE49-F238E27FC236}">
                    <a16:creationId xmlns:a16="http://schemas.microsoft.com/office/drawing/2014/main" id="{1AEA37AB-E706-BB2B-EB90-A6EF049FC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3630" y="4027209"/>
                <a:ext cx="972242" cy="24622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D18EEAB0-DBAC-D903-3DD5-C708848BE787}"/>
                  </a:ext>
                </a:extLst>
              </p:cNvPr>
              <p:cNvSpPr txBox="1"/>
              <p:nvPr/>
            </p:nvSpPr>
            <p:spPr>
              <a:xfrm>
                <a:off x="8549392" y="4032332"/>
                <a:ext cx="1069607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>
                  <a:defRPr sz="1100" b="0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1000" noProof="1" dirty="0">
                          <a:latin typeface="Cambria Math" panose="02040503050406030204" pitchFamily="18" charset="0"/>
                        </a:rPr>
                        <m:t>0°&gt;</m:t>
                      </m:r>
                      <m:sSub>
                        <m:sSubPr>
                          <m:ctrlP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sz="1000" noProof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s-ES_tradnl" sz="1000" noProof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_tradnl" sz="1000" noProof="1" dirty="0">
                          <a:latin typeface="Cambria Math" panose="02040503050406030204" pitchFamily="18" charset="0"/>
                        </a:rPr>
                        <m:t>≥−90°</m:t>
                      </m:r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70" name="Textfeld 69">
                <a:extLst>
                  <a:ext uri="{FF2B5EF4-FFF2-40B4-BE49-F238E27FC236}">
                    <a16:creationId xmlns:a16="http://schemas.microsoft.com/office/drawing/2014/main" id="{D18EEAB0-DBAC-D903-3DD5-C708848BE7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9392" y="4032332"/>
                <a:ext cx="1069607" cy="24622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352BC23E-CD39-A335-3331-1465ECA346C7}"/>
                  </a:ext>
                </a:extLst>
              </p:cNvPr>
              <p:cNvSpPr txBox="1"/>
              <p:nvPr/>
            </p:nvSpPr>
            <p:spPr>
              <a:xfrm>
                <a:off x="9698624" y="4024648"/>
                <a:ext cx="1285991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de-DE"/>
                </a:defPPr>
                <a:lvl1pPr>
                  <a:defRPr sz="1100" b="0" i="1">
                    <a:latin typeface="Cambria Math" panose="02040503050406030204" pitchFamily="18" charset="0"/>
                  </a:defRPr>
                </a:lvl1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_tradnl" sz="1000" noProof="1" dirty="0">
                          <a:latin typeface="Cambria Math" panose="02040503050406030204" pitchFamily="18" charset="0"/>
                        </a:rPr>
                        <m:t>−90°&gt;</m:t>
                      </m:r>
                      <m:sSub>
                        <m:sSubPr>
                          <m:ctrlPr>
                            <a:rPr lang="es-ES_tradnl" sz="1000" i="1" noProof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_tradnl" sz="1000" noProof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s-ES_tradnl" sz="1000" noProof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_tradnl" sz="1000" noProof="1" dirty="0">
                          <a:latin typeface="Cambria Math" panose="02040503050406030204" pitchFamily="18" charset="0"/>
                        </a:rPr>
                        <m:t>≥−180°</m:t>
                      </m:r>
                    </m:oMath>
                  </m:oMathPara>
                </a14:m>
                <a:endParaRPr lang="es-ES_tradnl" sz="1000" noProof="1"/>
              </a:p>
            </p:txBody>
          </p:sp>
        </mc:Choice>
        <mc:Fallback xmlns="">
          <p:sp>
            <p:nvSpPr>
              <p:cNvPr id="71" name="Textfeld 70">
                <a:extLst>
                  <a:ext uri="{FF2B5EF4-FFF2-40B4-BE49-F238E27FC236}">
                    <a16:creationId xmlns:a16="http://schemas.microsoft.com/office/drawing/2014/main" id="{352BC23E-CD39-A335-3331-1465ECA346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8624" y="4024648"/>
                <a:ext cx="1285991" cy="24622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ES_tradnl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Gerade Verbindung 74">
            <a:extLst>
              <a:ext uri="{FF2B5EF4-FFF2-40B4-BE49-F238E27FC236}">
                <a16:creationId xmlns:a16="http://schemas.microsoft.com/office/drawing/2014/main" id="{358AD0CB-0AB9-BF03-FE49-9D859B3D2C76}"/>
              </a:ext>
            </a:extLst>
          </p:cNvPr>
          <p:cNvCxnSpPr/>
          <p:nvPr/>
        </p:nvCxnSpPr>
        <p:spPr>
          <a:xfrm>
            <a:off x="6131523" y="4155441"/>
            <a:ext cx="0" cy="2121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75">
            <a:extLst>
              <a:ext uri="{FF2B5EF4-FFF2-40B4-BE49-F238E27FC236}">
                <a16:creationId xmlns:a16="http://schemas.microsoft.com/office/drawing/2014/main" id="{5C206636-89C9-01AA-1FA0-20F55842ED9F}"/>
              </a:ext>
            </a:extLst>
          </p:cNvPr>
          <p:cNvCxnSpPr/>
          <p:nvPr/>
        </p:nvCxnSpPr>
        <p:spPr>
          <a:xfrm>
            <a:off x="10944488" y="4126588"/>
            <a:ext cx="0" cy="2121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76">
            <a:extLst>
              <a:ext uri="{FF2B5EF4-FFF2-40B4-BE49-F238E27FC236}">
                <a16:creationId xmlns:a16="http://schemas.microsoft.com/office/drawing/2014/main" id="{31EE0642-5E2D-D753-B197-7C9BA7423834}"/>
              </a:ext>
            </a:extLst>
          </p:cNvPr>
          <p:cNvCxnSpPr/>
          <p:nvPr/>
        </p:nvCxnSpPr>
        <p:spPr>
          <a:xfrm>
            <a:off x="8518521" y="4147757"/>
            <a:ext cx="0" cy="2121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Gerade Verbindung 77">
            <a:extLst>
              <a:ext uri="{FF2B5EF4-FFF2-40B4-BE49-F238E27FC236}">
                <a16:creationId xmlns:a16="http://schemas.microsoft.com/office/drawing/2014/main" id="{B51BA439-8958-AEF5-4DEB-0547219EC3A8}"/>
              </a:ext>
            </a:extLst>
          </p:cNvPr>
          <p:cNvCxnSpPr/>
          <p:nvPr/>
        </p:nvCxnSpPr>
        <p:spPr>
          <a:xfrm>
            <a:off x="7325544" y="4148118"/>
            <a:ext cx="0" cy="2121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Gerade Verbindung 78">
            <a:extLst>
              <a:ext uri="{FF2B5EF4-FFF2-40B4-BE49-F238E27FC236}">
                <a16:creationId xmlns:a16="http://schemas.microsoft.com/office/drawing/2014/main" id="{CB04D0A0-C79A-BA61-7851-3C3C8B9C2898}"/>
              </a:ext>
            </a:extLst>
          </p:cNvPr>
          <p:cNvCxnSpPr/>
          <p:nvPr/>
        </p:nvCxnSpPr>
        <p:spPr>
          <a:xfrm>
            <a:off x="9737496" y="4147757"/>
            <a:ext cx="0" cy="2121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A2DEBBF6-C8FF-21BD-FA58-D7EE1B3C76EC}"/>
              </a:ext>
            </a:extLst>
          </p:cNvPr>
          <p:cNvSpPr txBox="1"/>
          <p:nvPr/>
        </p:nvSpPr>
        <p:spPr>
          <a:xfrm>
            <a:off x="-844952" y="272005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0A1A5DBB-ED24-56DA-69B8-CE93F2FD04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5D7479A-E37C-BD4B-BAED-A5B725464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2019" y="6356350"/>
            <a:ext cx="11695805" cy="365125"/>
          </a:xfrm>
        </p:spPr>
        <p:txBody>
          <a:bodyPr/>
          <a:lstStyle/>
          <a:p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4003133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33966-26BA-4684-5A58-5483FB65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9B170974-76EA-C3CF-840B-E74F5A4337A8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4D649C19-B126-C94E-796F-B3F6617DC1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524E80E2-D91A-860C-40DF-D9576ADAE37B}"/>
              </a:ext>
            </a:extLst>
          </p:cNvPr>
          <p:cNvSpPr txBox="1"/>
          <p:nvPr/>
        </p:nvSpPr>
        <p:spPr>
          <a:xfrm>
            <a:off x="278030" y="1359984"/>
            <a:ext cx="827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Bajo perturbaciones. o1ini,  Angulo de operación inicial</a:t>
            </a:r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BC83FC70-5550-9A67-0BB9-9B09F1500414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109A5EAB-A08D-8517-142F-4F67A772C0A5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PID– Plataforma plana</a:t>
            </a:r>
          </a:p>
        </p:txBody>
      </p: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34B0E058-C58E-AAB3-7446-5074BC8B4549}"/>
              </a:ext>
            </a:extLst>
          </p:cNvPr>
          <p:cNvGrpSpPr/>
          <p:nvPr/>
        </p:nvGrpSpPr>
        <p:grpSpPr>
          <a:xfrm>
            <a:off x="634198" y="2538307"/>
            <a:ext cx="4718228" cy="3385868"/>
            <a:chOff x="767307" y="2362655"/>
            <a:chExt cx="4718228" cy="3385868"/>
          </a:xfrm>
        </p:grpSpPr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B032D9B3-FBB0-D549-2565-6FEBCB93B03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15429" t="14728" r="25176" b="10832"/>
            <a:stretch>
              <a:fillRect/>
            </a:stretch>
          </p:blipFill>
          <p:spPr>
            <a:xfrm>
              <a:off x="1541573" y="3087521"/>
              <a:ext cx="3160138" cy="2281110"/>
            </a:xfrm>
            <a:prstGeom prst="rect">
              <a:avLst/>
            </a:prstGeom>
          </p:spPr>
        </p:pic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28C795A6-BFB2-9061-902D-2B0E659498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5333" y="2779042"/>
              <a:ext cx="3544889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>
              <a:extLst>
                <a:ext uri="{FF2B5EF4-FFF2-40B4-BE49-F238E27FC236}">
                  <a16:creationId xmlns:a16="http://schemas.microsoft.com/office/drawing/2014/main" id="{5C99AADF-7E96-9286-6C08-8218011E10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8803" y="2714022"/>
              <a:ext cx="3028838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DEEE21C5-5D2D-631B-591D-7D996D7F79A4}"/>
                </a:ext>
              </a:extLst>
            </p:cNvPr>
            <p:cNvSpPr/>
            <p:nvPr/>
          </p:nvSpPr>
          <p:spPr>
            <a:xfrm rot="11705331">
              <a:off x="1253624" y="44922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1" name="Bogen 30">
              <a:extLst>
                <a:ext uri="{FF2B5EF4-FFF2-40B4-BE49-F238E27FC236}">
                  <a16:creationId xmlns:a16="http://schemas.microsoft.com/office/drawing/2014/main" id="{83875C39-CA54-F989-F253-E63688830187}"/>
                </a:ext>
              </a:extLst>
            </p:cNvPr>
            <p:cNvSpPr/>
            <p:nvPr/>
          </p:nvSpPr>
          <p:spPr>
            <a:xfrm rot="16503148">
              <a:off x="1388273" y="2628042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2" name="Bogen 31">
              <a:extLst>
                <a:ext uri="{FF2B5EF4-FFF2-40B4-BE49-F238E27FC236}">
                  <a16:creationId xmlns:a16="http://schemas.microsoft.com/office/drawing/2014/main" id="{923E9A8C-777E-7897-342A-494BA0E9B7A7}"/>
                </a:ext>
              </a:extLst>
            </p:cNvPr>
            <p:cNvSpPr/>
            <p:nvPr/>
          </p:nvSpPr>
          <p:spPr>
            <a:xfrm rot="403624">
              <a:off x="4242405" y="2558701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3" name="Bogen 32">
              <a:extLst>
                <a:ext uri="{FF2B5EF4-FFF2-40B4-BE49-F238E27FC236}">
                  <a16:creationId xmlns:a16="http://schemas.microsoft.com/office/drawing/2014/main" id="{9EABB274-1616-9B84-83DF-5C19705A4DB0}"/>
                </a:ext>
              </a:extLst>
            </p:cNvPr>
            <p:cNvSpPr/>
            <p:nvPr/>
          </p:nvSpPr>
          <p:spPr>
            <a:xfrm rot="5400000">
              <a:off x="4948276" y="46153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B36B2F27-CDBC-D8D4-DFA2-22D5578CEF64}"/>
                    </a:ext>
                  </a:extLst>
                </p:cNvPr>
                <p:cNvSpPr txBox="1"/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solidFill>
                  <a:srgbClr val="E6E6E6">
                    <a:alpha val="38824"/>
                  </a:srgbClr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s-ES_tradnl" sz="3600" b="1" noProof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s-ES_tradnl" sz="3600" b="1" noProof="1"/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B36B2F27-CDBC-D8D4-DFA2-22D5578CEF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54A8B223-6DB5-3B3C-2BA0-B45EA2803CFC}"/>
                </a:ext>
              </a:extLst>
            </p:cNvPr>
            <p:cNvSpPr txBox="1"/>
            <p:nvPr/>
          </p:nvSpPr>
          <p:spPr>
            <a:xfrm>
              <a:off x="4627509" y="347623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S1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9A204BE4-8952-33A0-1A75-DA890ED6CED9}"/>
                </a:ext>
              </a:extLst>
            </p:cNvPr>
            <p:cNvSpPr txBox="1"/>
            <p:nvPr/>
          </p:nvSpPr>
          <p:spPr>
            <a:xfrm>
              <a:off x="2502651" y="2362655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S2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71719BE4-8917-2AFA-5F4B-DAD062AFA6B8}"/>
                </a:ext>
              </a:extLst>
            </p:cNvPr>
            <p:cNvSpPr txBox="1"/>
            <p:nvPr/>
          </p:nvSpPr>
          <p:spPr>
            <a:xfrm>
              <a:off x="767307" y="343539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S3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5484F4B-F7FF-2DFA-4B8B-9BAA95899C18}"/>
                </a:ext>
              </a:extLst>
            </p:cNvPr>
            <p:cNvSpPr txBox="1"/>
            <p:nvPr/>
          </p:nvSpPr>
          <p:spPr>
            <a:xfrm>
              <a:off x="2562746" y="5348413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S4</a:t>
              </a: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85F7DAAD-9B7A-4F0E-7829-2463816C3259}"/>
              </a:ext>
            </a:extLst>
          </p:cNvPr>
          <p:cNvSpPr txBox="1"/>
          <p:nvPr/>
        </p:nvSpPr>
        <p:spPr>
          <a:xfrm>
            <a:off x="-844952" y="272005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67BDFCC8-3717-B812-A281-9059BCC861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AEA08A9A-E6F6-9EFA-6413-D79CBF188C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7333" y="2342514"/>
            <a:ext cx="4330103" cy="331283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FBC857CB-9F55-2849-4561-840985F42B6B}"/>
              </a:ext>
            </a:extLst>
          </p:cNvPr>
          <p:cNvSpPr txBox="1"/>
          <p:nvPr/>
        </p:nvSpPr>
        <p:spPr>
          <a:xfrm>
            <a:off x="6257333" y="5586911"/>
            <a:ext cx="47063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RMSE del controlador PID mantiene una forma consistente a lo largo del dominio angular, </a:t>
            </a:r>
            <a:r>
              <a:rPr lang="es-ES_tradn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presentando únicamente un desplazamiento de la curva en función de la referencia</a:t>
            </a:r>
            <a:r>
              <a:rPr lang="es-ES_tradn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Esto evidencia un comportamiento estructuralmente estable pero dependiente del punto de operación.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94CBD64-A82E-A78D-1EF3-9A6709BD1875}"/>
              </a:ext>
            </a:extLst>
          </p:cNvPr>
          <p:cNvSpPr txBox="1"/>
          <p:nvPr/>
        </p:nvSpPr>
        <p:spPr>
          <a:xfrm>
            <a:off x="6433588" y="1874998"/>
            <a:ext cx="3478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  <a:endParaRPr lang="es-ES_tradnl" sz="1400" b="1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E5599E7-9FD7-2130-7E35-413EB7CCBD9D}"/>
              </a:ext>
            </a:extLst>
          </p:cNvPr>
          <p:cNvSpPr txBox="1"/>
          <p:nvPr/>
        </p:nvSpPr>
        <p:spPr>
          <a:xfrm>
            <a:off x="6433588" y="2118867"/>
            <a:ext cx="3028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=0°, do1ini= 0°, Retardo=0ms </a:t>
            </a:r>
            <a:endParaRPr lang="es-ES_tradnl" sz="1100" dirty="0"/>
          </a:p>
        </p:txBody>
      </p:sp>
      <p:sp>
        <p:nvSpPr>
          <p:cNvPr id="3" name="Fußzeilenplatzhalter 5">
            <a:extLst>
              <a:ext uri="{FF2B5EF4-FFF2-40B4-BE49-F238E27FC236}">
                <a16:creationId xmlns:a16="http://schemas.microsoft.com/office/drawing/2014/main" id="{3D2BF2CD-AD9C-9769-812E-4B756466B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2019" y="6356350"/>
            <a:ext cx="11695805" cy="365125"/>
          </a:xfrm>
        </p:spPr>
        <p:txBody>
          <a:bodyPr/>
          <a:lstStyle/>
          <a:p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772234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F4DCE-728B-35C6-6663-FF6F104A6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08E9AB21-3BF0-1763-48EB-E4DA4A6DAD59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4CCEA487-E2B7-DA83-FF78-F4B3E490A2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D05ECE2F-05AF-6865-4B23-5BC1EFAB2821}"/>
              </a:ext>
            </a:extLst>
          </p:cNvPr>
          <p:cNvSpPr txBox="1"/>
          <p:nvPr/>
        </p:nvSpPr>
        <p:spPr>
          <a:xfrm>
            <a:off x="278029" y="1359984"/>
            <a:ext cx="98369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Bajo perturbaciones. Retardo de señal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0D460E0-D81D-5986-7208-2A433C2DE642}"/>
              </a:ext>
            </a:extLst>
          </p:cNvPr>
          <p:cNvSpPr txBox="1"/>
          <p:nvPr/>
        </p:nvSpPr>
        <p:spPr>
          <a:xfrm>
            <a:off x="-543697" y="56223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68943F1F-1B9E-1DF5-7AF2-865EE613F40D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129ADCD8-DA17-B918-FC25-6349C5EFC0F7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PID– Plataforma plana</a:t>
            </a:r>
          </a:p>
        </p:txBody>
      </p: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70B45995-960F-16F4-5555-A6CCCCE1C542}"/>
              </a:ext>
            </a:extLst>
          </p:cNvPr>
          <p:cNvGrpSpPr/>
          <p:nvPr/>
        </p:nvGrpSpPr>
        <p:grpSpPr>
          <a:xfrm>
            <a:off x="634198" y="2538307"/>
            <a:ext cx="4718228" cy="3385868"/>
            <a:chOff x="767307" y="2362655"/>
            <a:chExt cx="4718228" cy="3385868"/>
          </a:xfrm>
        </p:grpSpPr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84876B60-A539-922B-C355-5CD9E6C95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15429" t="14728" r="25176" b="10832"/>
            <a:stretch>
              <a:fillRect/>
            </a:stretch>
          </p:blipFill>
          <p:spPr>
            <a:xfrm>
              <a:off x="1541573" y="3087521"/>
              <a:ext cx="3160138" cy="2281110"/>
            </a:xfrm>
            <a:prstGeom prst="rect">
              <a:avLst/>
            </a:prstGeom>
          </p:spPr>
        </p:pic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C53FDE61-DBBA-696C-F1AA-7D4E027A7E37}"/>
                </a:ext>
              </a:extLst>
            </p:cNvPr>
            <p:cNvCxnSpPr>
              <a:cxnSpLocks/>
            </p:cNvCxnSpPr>
            <p:nvPr/>
          </p:nvCxnSpPr>
          <p:spPr>
            <a:xfrm>
              <a:off x="1625333" y="2779042"/>
              <a:ext cx="3544889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>
              <a:extLst>
                <a:ext uri="{FF2B5EF4-FFF2-40B4-BE49-F238E27FC236}">
                  <a16:creationId xmlns:a16="http://schemas.microsoft.com/office/drawing/2014/main" id="{E1AADFB9-1808-0002-2269-1A5F03E50B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8803" y="2714022"/>
              <a:ext cx="3028838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C7BB0EAE-FE7D-FE45-44CB-F24EA7F1E296}"/>
                </a:ext>
              </a:extLst>
            </p:cNvPr>
            <p:cNvSpPr/>
            <p:nvPr/>
          </p:nvSpPr>
          <p:spPr>
            <a:xfrm rot="11705331">
              <a:off x="1253624" y="44922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1" name="Bogen 30">
              <a:extLst>
                <a:ext uri="{FF2B5EF4-FFF2-40B4-BE49-F238E27FC236}">
                  <a16:creationId xmlns:a16="http://schemas.microsoft.com/office/drawing/2014/main" id="{DF43491E-B8CA-4DCC-52EA-A857E29B2A6D}"/>
                </a:ext>
              </a:extLst>
            </p:cNvPr>
            <p:cNvSpPr/>
            <p:nvPr/>
          </p:nvSpPr>
          <p:spPr>
            <a:xfrm rot="16503148">
              <a:off x="1388273" y="2628042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2" name="Bogen 31">
              <a:extLst>
                <a:ext uri="{FF2B5EF4-FFF2-40B4-BE49-F238E27FC236}">
                  <a16:creationId xmlns:a16="http://schemas.microsoft.com/office/drawing/2014/main" id="{99A7BF49-5B0A-FA43-9287-3C5447F1BE5F}"/>
                </a:ext>
              </a:extLst>
            </p:cNvPr>
            <p:cNvSpPr/>
            <p:nvPr/>
          </p:nvSpPr>
          <p:spPr>
            <a:xfrm rot="403624">
              <a:off x="4242405" y="2558701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3" name="Bogen 32">
              <a:extLst>
                <a:ext uri="{FF2B5EF4-FFF2-40B4-BE49-F238E27FC236}">
                  <a16:creationId xmlns:a16="http://schemas.microsoft.com/office/drawing/2014/main" id="{4E4E0654-4A5F-7812-379B-47A1BECD1FAE}"/>
                </a:ext>
              </a:extLst>
            </p:cNvPr>
            <p:cNvSpPr/>
            <p:nvPr/>
          </p:nvSpPr>
          <p:spPr>
            <a:xfrm rot="5400000">
              <a:off x="4948276" y="46153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2A9BACB4-4BFB-2516-1207-399632EE5573}"/>
                    </a:ext>
                  </a:extLst>
                </p:cNvPr>
                <p:cNvSpPr txBox="1"/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solidFill>
                  <a:srgbClr val="E6E6E6">
                    <a:alpha val="38824"/>
                  </a:srgbClr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s-ES_tradnl" sz="3600" b="1" noProof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s-ES_tradnl" sz="3600" b="1" noProof="1"/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2A9BACB4-4BFB-2516-1207-399632EE55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C9E2070A-EBBF-FC98-FFDC-77BEF5B6CF05}"/>
                </a:ext>
              </a:extLst>
            </p:cNvPr>
            <p:cNvSpPr txBox="1"/>
            <p:nvPr/>
          </p:nvSpPr>
          <p:spPr>
            <a:xfrm>
              <a:off x="4627509" y="347623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S1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4B7538A3-A014-071B-1B8C-B5E9E5DB0E99}"/>
                </a:ext>
              </a:extLst>
            </p:cNvPr>
            <p:cNvSpPr txBox="1"/>
            <p:nvPr/>
          </p:nvSpPr>
          <p:spPr>
            <a:xfrm>
              <a:off x="2502651" y="2362655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S2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262C29BC-3C63-CB43-B21F-DDC73F0B4818}"/>
                </a:ext>
              </a:extLst>
            </p:cNvPr>
            <p:cNvSpPr txBox="1"/>
            <p:nvPr/>
          </p:nvSpPr>
          <p:spPr>
            <a:xfrm>
              <a:off x="767307" y="343539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S3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F75BF4B7-EB9A-44F5-AB94-94C5B6C2D72F}"/>
                </a:ext>
              </a:extLst>
            </p:cNvPr>
            <p:cNvSpPr txBox="1"/>
            <p:nvPr/>
          </p:nvSpPr>
          <p:spPr>
            <a:xfrm>
              <a:off x="2562746" y="5348413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S4</a:t>
              </a:r>
            </a:p>
          </p:txBody>
        </p:sp>
      </p:grpSp>
      <p:sp>
        <p:nvSpPr>
          <p:cNvPr id="5" name="Textfeld 4">
            <a:extLst>
              <a:ext uri="{FF2B5EF4-FFF2-40B4-BE49-F238E27FC236}">
                <a16:creationId xmlns:a16="http://schemas.microsoft.com/office/drawing/2014/main" id="{7D939E61-2464-9D53-6848-1C5DDF5D26E1}"/>
              </a:ext>
            </a:extLst>
          </p:cNvPr>
          <p:cNvSpPr txBox="1"/>
          <p:nvPr/>
        </p:nvSpPr>
        <p:spPr>
          <a:xfrm>
            <a:off x="-844952" y="272005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s-ES_tradnl" noProof="1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4127110B-169F-816B-B988-6D9927A72A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70976B0C-42E6-9CC8-3913-12C93C7A0E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8722" y="2349909"/>
            <a:ext cx="4142809" cy="3272414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FCE7194-8D4A-8133-A1D6-5B89AE02985F}"/>
              </a:ext>
            </a:extLst>
          </p:cNvPr>
          <p:cNvSpPr txBox="1"/>
          <p:nvPr/>
        </p:nvSpPr>
        <p:spPr>
          <a:xfrm>
            <a:off x="6433588" y="1874998"/>
            <a:ext cx="34785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10, 20)[ms]</a:t>
            </a:r>
            <a:endParaRPr lang="es-ES_tradnl" sz="1400" b="1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8C50FCD-A1CC-E563-CBCA-604DB6FABB1E}"/>
              </a:ext>
            </a:extLst>
          </p:cNvPr>
          <p:cNvSpPr txBox="1"/>
          <p:nvPr/>
        </p:nvSpPr>
        <p:spPr>
          <a:xfrm>
            <a:off x="6433588" y="2118867"/>
            <a:ext cx="3028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=0°, o1ini= 0°, do1ini= 0° </a:t>
            </a:r>
            <a:endParaRPr lang="es-ES_tradnl" sz="11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434D1EF-2168-8732-D00B-125FE82E5FDE}"/>
              </a:ext>
            </a:extLst>
          </p:cNvPr>
          <p:cNvSpPr txBox="1"/>
          <p:nvPr/>
        </p:nvSpPr>
        <p:spPr>
          <a:xfrm>
            <a:off x="6433588" y="5586911"/>
            <a:ext cx="45300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retardo de señal no modifica la dinámica estructural del PID, </a:t>
            </a:r>
            <a:r>
              <a:rPr lang="es-ES_tradn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pero sí penaliza su desempeño en todo el dominio angular</a:t>
            </a:r>
            <a:r>
              <a:rPr lang="es-ES_tradn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elevando el RMSE y evidenciando su sensibilidad inherente a retrasos en el lazo de control.</a:t>
            </a:r>
          </a:p>
        </p:txBody>
      </p:sp>
      <p:sp>
        <p:nvSpPr>
          <p:cNvPr id="4" name="Fußzeilenplatzhalter 5">
            <a:extLst>
              <a:ext uri="{FF2B5EF4-FFF2-40B4-BE49-F238E27FC236}">
                <a16:creationId xmlns:a16="http://schemas.microsoft.com/office/drawing/2014/main" id="{58832B07-E990-684A-37E0-BC7FD8F5C2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2019" y="6356350"/>
            <a:ext cx="11695805" cy="365125"/>
          </a:xfrm>
        </p:spPr>
        <p:txBody>
          <a:bodyPr/>
          <a:lstStyle/>
          <a:p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581103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46D0C-3DAB-5073-942C-4C522A403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F2E61243-1CD2-9620-6D78-E3100D37B848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3DB2CA2D-5288-4CCF-1F6B-EFC00B05B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B8D2685E-CF9E-CAED-6E4C-0EE544311683}"/>
              </a:ext>
            </a:extLst>
          </p:cNvPr>
          <p:cNvSpPr txBox="1"/>
          <p:nvPr/>
        </p:nvSpPr>
        <p:spPr>
          <a:xfrm>
            <a:off x="278030" y="1359984"/>
            <a:ext cx="101048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Bajo perturbaciones. do1ini, velocidad angular inicial </a:t>
            </a:r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3303AD93-813F-593C-9C26-FE4157892586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B2AFF866-7FD9-3B5F-D479-3812F488937A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PID– Plataforma plana</a:t>
            </a:r>
          </a:p>
        </p:txBody>
      </p: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9761496E-0451-1A49-C3E6-8EFDE435FC97}"/>
              </a:ext>
            </a:extLst>
          </p:cNvPr>
          <p:cNvGrpSpPr/>
          <p:nvPr/>
        </p:nvGrpSpPr>
        <p:grpSpPr>
          <a:xfrm>
            <a:off x="634198" y="2538307"/>
            <a:ext cx="4718228" cy="3385868"/>
            <a:chOff x="767307" y="2362655"/>
            <a:chExt cx="4718228" cy="3385868"/>
          </a:xfrm>
        </p:grpSpPr>
        <p:pic>
          <p:nvPicPr>
            <p:cNvPr id="40" name="Grafik 39">
              <a:extLst>
                <a:ext uri="{FF2B5EF4-FFF2-40B4-BE49-F238E27FC236}">
                  <a16:creationId xmlns:a16="http://schemas.microsoft.com/office/drawing/2014/main" id="{B0295106-EA70-D83E-D3C5-92C03EEAF5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</a14:imgLayer>
                  </a14:imgProps>
                </a:ext>
              </a:extLst>
            </a:blip>
            <a:srcRect l="15429" t="14728" r="25176" b="10832"/>
            <a:stretch>
              <a:fillRect/>
            </a:stretch>
          </p:blipFill>
          <p:spPr>
            <a:xfrm>
              <a:off x="1541573" y="3087521"/>
              <a:ext cx="3160138" cy="2281110"/>
            </a:xfrm>
            <a:prstGeom prst="rect">
              <a:avLst/>
            </a:prstGeom>
          </p:spPr>
        </p:pic>
        <p:cxnSp>
          <p:nvCxnSpPr>
            <p:cNvPr id="19" name="Gerade Verbindung 18">
              <a:extLst>
                <a:ext uri="{FF2B5EF4-FFF2-40B4-BE49-F238E27FC236}">
                  <a16:creationId xmlns:a16="http://schemas.microsoft.com/office/drawing/2014/main" id="{74D77D3B-B802-9444-1DC3-4FC84FB23A79}"/>
                </a:ext>
              </a:extLst>
            </p:cNvPr>
            <p:cNvCxnSpPr>
              <a:cxnSpLocks/>
            </p:cNvCxnSpPr>
            <p:nvPr/>
          </p:nvCxnSpPr>
          <p:spPr>
            <a:xfrm>
              <a:off x="1625333" y="2779042"/>
              <a:ext cx="3544889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Gerade Verbindung 20">
              <a:extLst>
                <a:ext uri="{FF2B5EF4-FFF2-40B4-BE49-F238E27FC236}">
                  <a16:creationId xmlns:a16="http://schemas.microsoft.com/office/drawing/2014/main" id="{91B50161-E60E-4300-F49C-F250C84C22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48803" y="2714022"/>
              <a:ext cx="3028838" cy="2020145"/>
            </a:xfrm>
            <a:prstGeom prst="line">
              <a:avLst/>
            </a:prstGeom>
            <a:ln w="12700"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ogen 29">
              <a:extLst>
                <a:ext uri="{FF2B5EF4-FFF2-40B4-BE49-F238E27FC236}">
                  <a16:creationId xmlns:a16="http://schemas.microsoft.com/office/drawing/2014/main" id="{3E23578A-71D5-174F-44C6-4A5180850F0F}"/>
                </a:ext>
              </a:extLst>
            </p:cNvPr>
            <p:cNvSpPr/>
            <p:nvPr/>
          </p:nvSpPr>
          <p:spPr>
            <a:xfrm rot="11705331">
              <a:off x="1253624" y="44922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1" name="Bogen 30">
              <a:extLst>
                <a:ext uri="{FF2B5EF4-FFF2-40B4-BE49-F238E27FC236}">
                  <a16:creationId xmlns:a16="http://schemas.microsoft.com/office/drawing/2014/main" id="{6D237DE5-F70F-0EE4-EB84-4E34187C3AB3}"/>
                </a:ext>
              </a:extLst>
            </p:cNvPr>
            <p:cNvSpPr/>
            <p:nvPr/>
          </p:nvSpPr>
          <p:spPr>
            <a:xfrm rot="16503148">
              <a:off x="1388273" y="2628042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2" name="Bogen 31">
              <a:extLst>
                <a:ext uri="{FF2B5EF4-FFF2-40B4-BE49-F238E27FC236}">
                  <a16:creationId xmlns:a16="http://schemas.microsoft.com/office/drawing/2014/main" id="{2D4A911C-5FDE-501B-804A-EE1BAFCC6FE7}"/>
                </a:ext>
              </a:extLst>
            </p:cNvPr>
            <p:cNvSpPr/>
            <p:nvPr/>
          </p:nvSpPr>
          <p:spPr>
            <a:xfrm rot="403624">
              <a:off x="4242405" y="2558701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p:sp>
          <p:nvSpPr>
            <p:cNvPr id="33" name="Bogen 32">
              <a:extLst>
                <a:ext uri="{FF2B5EF4-FFF2-40B4-BE49-F238E27FC236}">
                  <a16:creationId xmlns:a16="http://schemas.microsoft.com/office/drawing/2014/main" id="{BEB8D603-00E4-CE52-3E08-55FA8304594B}"/>
                </a:ext>
              </a:extLst>
            </p:cNvPr>
            <p:cNvSpPr/>
            <p:nvPr/>
          </p:nvSpPr>
          <p:spPr>
            <a:xfrm rot="5400000">
              <a:off x="4948276" y="4615340"/>
              <a:ext cx="390359" cy="367693"/>
            </a:xfrm>
            <a:prstGeom prst="arc">
              <a:avLst>
                <a:gd name="adj1" fmla="val 14634702"/>
                <a:gd name="adj2" fmla="val 0"/>
              </a:avLst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_tradnl" noProof="1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5D7EA86-883D-29D7-6F68-7BE276D265E8}"/>
                    </a:ext>
                  </a:extLst>
                </p:cNvPr>
                <p:cNvSpPr txBox="1"/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solidFill>
                  <a:srgbClr val="E6E6E6">
                    <a:alpha val="38824"/>
                  </a:srgbClr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_tradnl" sz="3600" b="1" i="1" noProof="1" dirty="0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s-ES_tradnl" sz="3600" b="1" noProof="1" dirty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s-ES_tradnl" sz="3600" b="1" noProof="1"/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15D7EA86-883D-29D7-6F68-7BE276D265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92629" y="3267358"/>
                  <a:ext cx="858026" cy="646331"/>
                </a:xfrm>
                <a:prstGeom prst="rect">
                  <a:avLst/>
                </a:prstGeom>
                <a:blipFill>
                  <a:blip r:embed="rId6"/>
                  <a:stretch>
                    <a:fillRect b="-3846"/>
                  </a:stretch>
                </a:blipFill>
              </p:spPr>
              <p:txBody>
                <a:bodyPr/>
                <a:lstStyle/>
                <a:p>
                  <a:r>
                    <a:rPr lang="es-ES_tradnl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687319FE-48B1-2AE8-AA50-24850DF69AFA}"/>
                </a:ext>
              </a:extLst>
            </p:cNvPr>
            <p:cNvSpPr txBox="1"/>
            <p:nvPr/>
          </p:nvSpPr>
          <p:spPr>
            <a:xfrm>
              <a:off x="4627509" y="347623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S1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68E06ECF-D0CF-A15E-E413-747EE2AF187A}"/>
                </a:ext>
              </a:extLst>
            </p:cNvPr>
            <p:cNvSpPr txBox="1"/>
            <p:nvPr/>
          </p:nvSpPr>
          <p:spPr>
            <a:xfrm>
              <a:off x="2502651" y="2362655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S2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FC2C0E0E-912D-DC40-C637-8D4D7175BDF2}"/>
                </a:ext>
              </a:extLst>
            </p:cNvPr>
            <p:cNvSpPr txBox="1"/>
            <p:nvPr/>
          </p:nvSpPr>
          <p:spPr>
            <a:xfrm>
              <a:off x="767307" y="3435390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S3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11CBB05A-A53A-C504-21AF-1ADD35E6EF9E}"/>
                </a:ext>
              </a:extLst>
            </p:cNvPr>
            <p:cNvSpPr txBox="1"/>
            <p:nvPr/>
          </p:nvSpPr>
          <p:spPr>
            <a:xfrm>
              <a:off x="2562746" y="5348413"/>
              <a:ext cx="858026" cy="400110"/>
            </a:xfrm>
            <a:prstGeom prst="rect">
              <a:avLst/>
            </a:prstGeom>
            <a:solidFill>
              <a:srgbClr val="E6E6E6">
                <a:alpha val="38824"/>
              </a:srgbClr>
            </a:solidFill>
          </p:spPr>
          <p:txBody>
            <a:bodyPr wrap="square">
              <a:spAutoFit/>
            </a:bodyPr>
            <a:lstStyle/>
            <a:p>
              <a:pPr algn="ctr"/>
              <a:r>
                <a:rPr lang="es-ES_tradnl" sz="2000" noProof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S4</a:t>
              </a:r>
            </a:p>
          </p:txBody>
        </p:sp>
      </p:grpSp>
      <p:pic>
        <p:nvPicPr>
          <p:cNvPr id="2" name="Grafik 1">
            <a:extLst>
              <a:ext uri="{FF2B5EF4-FFF2-40B4-BE49-F238E27FC236}">
                <a16:creationId xmlns:a16="http://schemas.microsoft.com/office/drawing/2014/main" id="{DA196EFB-FF5B-4FC6-D07D-6AB8A3D423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BA51C25-1196-D4FE-CA59-FB3DBFA2BE3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7475" y="2410255"/>
            <a:ext cx="3995391" cy="315596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2090492F-D804-DC62-6749-B2D8EE33862A}"/>
              </a:ext>
            </a:extLst>
          </p:cNvPr>
          <p:cNvSpPr txBox="1"/>
          <p:nvPr/>
        </p:nvSpPr>
        <p:spPr>
          <a:xfrm>
            <a:off x="6433588" y="1874998"/>
            <a:ext cx="2434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do1ini= (-0.5, 0, 0.5) [rad/s]</a:t>
            </a:r>
            <a:endParaRPr lang="es-ES_tradnl" sz="1400" b="1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39240A02-2075-597E-0321-E0FC52ECF83D}"/>
              </a:ext>
            </a:extLst>
          </p:cNvPr>
          <p:cNvSpPr txBox="1"/>
          <p:nvPr/>
        </p:nvSpPr>
        <p:spPr>
          <a:xfrm>
            <a:off x="6433588" y="2118867"/>
            <a:ext cx="30288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1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Pitch, Roll =0°, o1ini= 0°, Retardo=0ms </a:t>
            </a:r>
            <a:endParaRPr lang="es-ES_tradnl" sz="11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0BBD26B-8400-356C-9DEE-9DF44C301B6F}"/>
              </a:ext>
            </a:extLst>
          </p:cNvPr>
          <p:cNvSpPr txBox="1"/>
          <p:nvPr/>
        </p:nvSpPr>
        <p:spPr>
          <a:xfrm>
            <a:off x="6433588" y="5586911"/>
            <a:ext cx="456664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diferencia de otros factores, la velocidad inicial no solo desplaza, sino que </a:t>
            </a:r>
            <a:r>
              <a:rPr lang="es-ES_tradn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distorsiona el RMSE, revelando una dependencia crítica del PID respecto al estado inicial del sistema</a:t>
            </a:r>
            <a:r>
              <a:rPr lang="es-ES_tradn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3" name="Fußzeilenplatzhalter 5">
            <a:extLst>
              <a:ext uri="{FF2B5EF4-FFF2-40B4-BE49-F238E27FC236}">
                <a16:creationId xmlns:a16="http://schemas.microsoft.com/office/drawing/2014/main" id="{358C510E-91D8-3057-472D-BFE8B0A27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2019" y="6356350"/>
            <a:ext cx="11695805" cy="365125"/>
          </a:xfrm>
        </p:spPr>
        <p:txBody>
          <a:bodyPr/>
          <a:lstStyle/>
          <a:p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4767375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06A66-1137-D16B-5F75-98ED35E9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C1C9CFD4-A6F6-66F3-A604-B9394D0E49B0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31FE7228-156C-5514-96EC-9779C62A41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D8721E6-A7CF-5E80-4FC4-53492CEB03FD}"/>
              </a:ext>
            </a:extLst>
          </p:cNvPr>
          <p:cNvSpPr txBox="1"/>
          <p:nvPr/>
        </p:nvSpPr>
        <p:spPr>
          <a:xfrm>
            <a:off x="278030" y="1359984"/>
            <a:ext cx="827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Influencias de las perturbaciones en plataforma plana</a:t>
            </a:r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9627B626-5A7C-3ACC-3C32-F30CF536C7AE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C04BAD3E-90E5-FD6D-2757-299E2B705CF5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PID– Plataforma plana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DD2AA93F-F447-6E6C-68AB-3C3ECFC01E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3E066ABA-FB27-1108-1414-1FF7DF8595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292" y="2262851"/>
            <a:ext cx="3456309" cy="273014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616219F3-88A8-6361-50A3-02F502F8B4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005" y="2285908"/>
            <a:ext cx="3357294" cy="265193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F8E52085-AD56-34D3-40C0-664DBA44FB4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0593" y="2255955"/>
            <a:ext cx="3433137" cy="27118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F73F16B-0CA4-645E-77EE-74A05C509807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C3B0479-E4D0-89B4-F018-E9E7ED3832A9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0D7B657-F924-3DF4-5E8D-D6ED816B1E0D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7429BBE-6CB5-91A8-FC6C-E4C8AED67FE9}"/>
              </a:ext>
            </a:extLst>
          </p:cNvPr>
          <p:cNvSpPr txBox="1"/>
          <p:nvPr/>
        </p:nvSpPr>
        <p:spPr>
          <a:xfrm>
            <a:off x="372931" y="5529946"/>
            <a:ext cx="1107982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ES_tradn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análisis conjunto revela que, aunque la forma del comportamiento del PID se conserva, su desempeño no es robusto: el error depende del ángulo de referencia, se degrada con retardos y se ve fuertemente afectado por el estado inicial</a:t>
            </a:r>
          </a:p>
        </p:txBody>
      </p:sp>
      <p:sp>
        <p:nvSpPr>
          <p:cNvPr id="3" name="Fußzeilenplatzhalter 5">
            <a:extLst>
              <a:ext uri="{FF2B5EF4-FFF2-40B4-BE49-F238E27FC236}">
                <a16:creationId xmlns:a16="http://schemas.microsoft.com/office/drawing/2014/main" id="{6D944FA8-30B8-D7A6-9C18-125F36B14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2019" y="6356350"/>
            <a:ext cx="11695805" cy="365125"/>
          </a:xfrm>
        </p:spPr>
        <p:txBody>
          <a:bodyPr/>
          <a:lstStyle/>
          <a:p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519697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493</Words>
  <Application>Microsoft Macintosh PowerPoint</Application>
  <PresentationFormat>Breitbild</PresentationFormat>
  <Paragraphs>62</Paragraphs>
  <Slides>5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2</cp:revision>
  <dcterms:created xsi:type="dcterms:W3CDTF">2026-03-24T19:46:59Z</dcterms:created>
  <dcterms:modified xsi:type="dcterms:W3CDTF">2026-03-24T19:49:25Z</dcterms:modified>
</cp:coreProperties>
</file>