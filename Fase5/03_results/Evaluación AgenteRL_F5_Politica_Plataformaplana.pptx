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800" r:id="rId2"/>
    <p:sldId id="801" r:id="rId3"/>
    <p:sldId id="815" r:id="rId4"/>
    <p:sldId id="816" r:id="rId5"/>
    <p:sldId id="814" r:id="rId6"/>
    <p:sldId id="802" r:id="rId7"/>
    <p:sldId id="803" r:id="rId8"/>
    <p:sldId id="817" r:id="rId9"/>
    <p:sldId id="818" r:id="rId10"/>
    <p:sldId id="820" r:id="rId11"/>
    <p:sldId id="804" r:id="rId12"/>
    <p:sldId id="805" r:id="rId13"/>
    <p:sldId id="821" r:id="rId14"/>
    <p:sldId id="823" r:id="rId15"/>
    <p:sldId id="822" r:id="rId16"/>
    <p:sldId id="80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EA1A6-F961-5E6C-1ADA-0102525E7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493371E-D9B3-4E46-7C1C-485F85775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5DA14F-7A59-12F2-A54B-A7256724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011F86-F276-3A24-2EF5-8A96466E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E2F046-DCFA-04F3-BE50-26817081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5678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938A4E-677A-0A7D-D4C6-7E4EF959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50DD71-2D74-7604-F7D8-A3FE6B41F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B3554-14E1-9834-D602-2CC753D0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39E06A-9ACA-6947-B36D-02D30E68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7215A8-4A0B-B48A-7E9E-50AF2985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029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964335-900D-FF5A-18DE-AAC0270D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E13C29-DDB8-822A-A681-EF35C48CA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01F42A-51C2-E1C7-EF98-42F9AE25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3BEAB-6BC9-E047-2D23-8BD82216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770F0-7D03-5FCD-0E21-5234F6AF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0520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AE14C-F01C-799E-D9E4-D30B2BDC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79A8CA-103D-A451-2BEC-498DDBD45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DF91AF-07BE-AD3B-5C8D-1588BE656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EEB419-3EE5-F7E5-097F-3C46090F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C1E117-01BD-51D9-9BC4-0A92EAE5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E8379D-6C89-F33A-3286-446B3535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3184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9F3F1-8FB0-23F1-2E8C-3703A34D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FBBBB7-DCE0-89E5-6CCD-D2823FDA0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6F46404-4C02-1A91-6E9E-FA5D23AF8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A80A438-F19A-D78A-69A9-835ABD8EB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D92712-F445-91E1-A62E-D61BE2C4B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312EF48-E7E2-FF24-4454-1B400676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BA6E56-22F9-B0AA-EDEF-DD36B4EB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8336633-BAAA-9200-D3FE-0613AF5C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4140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5B282-4494-61AE-FC45-3C5F45F3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0523F5-5A53-BE46-CB29-107F84083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2BFEF4-CD6F-092C-13B2-ED17344B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AA58E2-9259-3F9A-20B9-F6D724AA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4149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763D033-E7F3-D557-DE99-8ED1A5B7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EC995B-B1BD-DFA5-5583-BAF37E97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4281D5-D987-829A-3FBE-2AD451E9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98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60BA8-81A2-12FB-07D8-5196E484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E48C2A-D5DF-E12A-6312-F625D8D43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F1A396-C489-3E07-3F08-F8C06ACD3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FFDCB5-4597-84A1-B75D-DFA3490A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F5A811-3664-2A79-37BD-AD0DD6C0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794E03-E59F-21EA-0DCE-91E05DD3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383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46986-D31F-4ABC-2DFB-0F6CA5BB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7389EE1-2D26-BBD0-2D20-1D57E014A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4D3494-FEC1-F80B-0247-B4447DCBE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9C679B-993E-66B6-649A-09AFE911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417E1E-B9BB-4D61-790A-B08B833B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2D4597-E844-4BD9-F104-88279713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035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6BA65A-0DB1-CC26-3F54-B1E73916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C98039-F27E-76AA-D19D-89ADDC5C5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B9E2EB-F19F-9D39-CFAB-82B9EC3E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D1B3D0-6003-360D-AA0E-CA2CD072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593D4E-5049-C9E9-EAD0-E7CEDFD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5185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C3A208-0269-D19C-BE33-0DBCCD47A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AA4975-5809-8DDA-EA12-4CF2AAAEC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A43553-F78C-16E2-076A-9CE0C54C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3833E2-80B7-A363-EFED-B6B96D7B2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9313A6-D3EE-10FE-2E6A-C61DC419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44591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5626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2274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41DB5E-6688-1F7B-1C65-6D256EB2A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20D888-671A-A58B-D45B-1EF11685F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A93ED1-C13C-0A0E-32B5-8DEDC0803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A9632-DD3E-8C4E-8B82-ADF87838C491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79B8-ECE1-8264-11B5-154280008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5FD8E8-4362-7C49-3FA7-1CEF7E47D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CA622-7C09-F24F-AA67-49313CCE01F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1220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FBBC-CFE8-C870-44D6-CB7F5F07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BFB1642-749D-9C4E-E937-70EF62C3E8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064755" cy="1217510"/>
          </a:xfrm>
        </p:spPr>
        <p:txBody>
          <a:bodyPr>
            <a:normAutofit/>
          </a:bodyPr>
          <a:lstStyle/>
          <a:p>
            <a:r>
              <a:rPr lang="es-ES_tradnl" sz="1400" dirty="0"/>
              <a:t>La inclinación introduce fuerte asimetría:</a:t>
            </a:r>
          </a:p>
          <a:p>
            <a:r>
              <a:rPr lang="es-ES_tradnl" sz="1400" dirty="0"/>
              <a:t>−90° degrada significativamente el RMSE (~57°), mientras que 0° y 90° se mantienen cercanos (~35°).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3F8D59-478A-3348-9744-7C586C96DB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ACCAA090-D83E-5075-80B8-3F3AEB5A3E3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7E8D223D-922B-C3D0-178D-574B74C7531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51063"/>
            <a:ext cx="5310145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CC734CBD-E8B3-E019-43F7-1D7F9C944928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413048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7120-E11A-8430-A131-02965D2D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5F4C73-AC98-7736-26B6-AC6B05E1C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01C2F206-360B-F3E3-4573-0A8ED767D5B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58784775"/>
              </p:ext>
            </p:extLst>
          </p:nvPr>
        </p:nvGraphicFramePr>
        <p:xfrm>
          <a:off x="606425" y="4962525"/>
          <a:ext cx="10532960" cy="1379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28.80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292.02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23.22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-32.17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86.15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347.34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72.25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BD9F402-2731-B99C-199E-3B757C2DF70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condiciones nominales (≈17°).</a:t>
            </a:r>
          </a:p>
          <a:p>
            <a:r>
              <a:rPr lang="es-ES_tradnl" sz="1400" dirty="0"/>
              <a:t>En condiciones extremas, el error aumenta (≈19° y ≈86°), con mayor sobreimpulso y pérdida parcial de seguimiento.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FBCEBE01-18FD-15DD-7A93-49375F0A453E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30454" y="2078038"/>
            <a:ext cx="735349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06E2BDAB-7D89-290A-83FF-572DC8C74BD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244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436E7-528D-C178-C029-B0AC4B61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024E90-118A-50B7-9A9F-E17686DCD0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B86B5B13-ED4D-B7E3-E8D5-07529B3C9C7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27728684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152.23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12.76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305.06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27.30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-205.56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44.28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377.37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3A9B209-A485-C44E-F37F-0FBD4EF0DA65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condiciones nominales (RMSE ≈ 19.45° para 90°).</a:t>
            </a:r>
          </a:p>
          <a:p>
            <a:r>
              <a:rPr lang="es-ES_tradnl" sz="1400" dirty="0"/>
              <a:t>En condiciones extremas, el error aumenta hasta ≈ 44.28° (−90°), con pérdida de seguimiento y mayor oscilación.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C7231D6B-E2B1-70DC-BE63-22F2C280DCE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55157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26BABE7-EFB8-8740-7409-4F9CB15EDBE2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1562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BBF87-59EE-0751-D72B-8E30F3910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07D178-01EE-8FCC-4B4F-9B007DB960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2ED0B8D4-8172-FB20-0DA2-7438275AD78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620567538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-146.49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202.07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31.56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45.40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17.87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210.88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345.88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256.21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44.70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301.16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32.10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AC4402D-7CF3-E1F6-DF35-0DED0344331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correctamente en o1ini = −90° (RMSE ≈ 14.71°).</a:t>
            </a:r>
          </a:p>
          <a:p>
            <a:r>
              <a:rPr lang="es-ES_tradnl" sz="1400" dirty="0"/>
              <a:t>Sin embargo, en condiciones desfavorables (0° y 90°) el error se incrementa significativamente (≈ 44°–45°), evidenciando degradación bajo inclinación.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B5C443E4-5438-414F-18E8-E7885DF40A3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87641" y="2078038"/>
            <a:ext cx="6994505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43B5CA6-EFAF-C5B5-F0E2-1E2A0955A4E4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85365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45F87-80F4-E196-30F2-D28F5CDD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87A55D-8E28-C603-D660-A720B3ED11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7C81B146-6F36-A9DF-4047-F3F60F5A113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5088383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31.64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7.40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15.36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181.24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43.33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-54.79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148.00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0A4FB50-607A-CFB0-001F-9CFE859F96BB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convergencia en condiciones nominales (RMSE ≈ 14.33° para 0°).</a:t>
            </a:r>
          </a:p>
          <a:p>
            <a:r>
              <a:rPr lang="es-ES_tradnl" sz="1400" dirty="0"/>
              <a:t>En condiciones extremas (o1ini = 90°), el error aumenta notablemente hasta ≈ 49.16°, con mayor sobreimpulso y esfuerzo de control.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4FF7D5D1-049A-9EDF-63AD-BDB83C925F7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75229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FAD3ED1-9573-232D-85AE-7CCDEFF56A3B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998404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4E98-B5B8-8BD5-1D5D-51E5D240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CA3E41-DF38-AEB7-2E9D-48E0349F7F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C778DFE2-F210-1EDF-B004-E7F23911410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D1F4D6F1-C518-30A5-B5FD-FABF4D4297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460426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El retardo no altera la forma del RMSE.</a:t>
            </a:r>
          </a:p>
          <a:p>
            <a:pPr algn="l"/>
            <a:r>
              <a:rPr lang="es-ES_tradnl" sz="1400" dirty="0"/>
              <a:t>Su impacto es leve: incremento marginal del error (≈35.1° → ≈35.6°, &lt;1%) sin pérdida de estabilidad.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8BE64B20-285C-8DF3-F644-14CCD428FE7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51063"/>
            <a:ext cx="5310145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DFE4CC1F-BD7F-4A6F-A326-F47BC19C8C41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41188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1285-E018-8AAD-4CBF-4C454A66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801967-D950-3397-9AB2-22C8B5947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68FB8BF1-427E-7C34-075B-7A36F522569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67625517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-13.58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-28.29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17.30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55FB0B6-1049-94BF-E0E4-81D74F8038D3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estabilidad y convergencia en todos los casos.</a:t>
            </a:r>
          </a:p>
          <a:p>
            <a:r>
              <a:rPr lang="es-ES_tradnl" sz="1400" dirty="0"/>
              <a:t>El retardo tiene impacto marginal, con ligeros aumentos en RMSE y sobreimpulso.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E2E35A16-CA38-EDD1-7321-6EEA2CB47964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83865" y="2078038"/>
            <a:ext cx="679399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6B45489-3BDA-FBC8-2C99-912E258C16C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19427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08A40-E4F8-77F4-5D52-9512D43D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8493FD-EB22-1048-0139-2335690171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CDEF72D9-BB4C-01B7-09C9-FCA850DE217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315610350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418.27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49.46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42.74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419.01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9.35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419.77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72C9AC5-DB72-9BFC-11B2-29E12A4D5EB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estabilidad y convergencia en todos los casos.</a:t>
            </a:r>
          </a:p>
          <a:p>
            <a:r>
              <a:rPr lang="es-ES_tradnl" sz="1400" dirty="0"/>
              <a:t>El retardo introduce un impacto marginal, con un ligero aumento del error (RMSE: 42.38° → 43.09°) y del esfuerzo de control (U_energy: 49.46 → 49.73).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9B4DF671-676C-0ACF-5151-6237953BF1A8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61847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28D991F-C479-4FC5-DFE8-F3C030125E4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82178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D780-172A-054C-C9B9-66E590BD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B529D3-6BDA-B450-2A06-4A9D80DA3C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ED8ED58D-A27C-C06E-72E8-2FA941721A8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50810604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44.19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44.52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56.85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18.63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44.83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57.39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18.58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36C1628-58E4-7B60-EC29-0BB1D03AA65A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de forma estable para todos los retardos.</a:t>
            </a:r>
          </a:p>
          <a:p>
            <a:r>
              <a:rPr lang="es-ES_tradnl" sz="1400" dirty="0"/>
              <a:t>El RMSE presenta una variación reducida (44.19° → 44.83°), confirmando una baja sensibilidad al retardo en condiciones inclinadas.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9860F692-6939-55A6-634D-70AB1869E86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886106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2DF38E6-2559-600D-E68E-1AA9305F79B4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6972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67DC-5215-74AF-71C5-C16C810E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D84113-925C-A3B8-E02F-9A86E2D0E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B53ACEDB-0CFC-23B5-8529-7E67FA69973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622481497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31.64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7.40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36.56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-56.62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182.17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366.70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DD1C449-FA27-0C65-FF97-0D480D9FED8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convergencia en todos los casos, aunque con mayor impacto en el esfuerzo.</a:t>
            </a:r>
          </a:p>
          <a:p>
            <a:r>
              <a:rPr lang="es-ES_tradnl" sz="1400" dirty="0"/>
              <a:t>El RMSE apenas varía (14.33° → 14.67°), pero el U_energy aumenta significativamente (31.64 → 105.37) para retardos mayores.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4D5FB373-207B-B49F-8424-DE5DD75FCC1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852653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05DBBF72-5BB2-ABF6-AA3E-E3CCB40040F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18511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B87B-3B76-1D82-FB6C-66409E03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AF5D23-A0BE-9C1E-2A88-961A2DEB25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6CC6431-A17B-90D3-257D-1F58889C9894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4C536C6E-AFF7-F46D-FA6C-4C8D7EE4E4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9886" y="5083835"/>
            <a:ext cx="5310145" cy="914629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La velocidad angular inicial introduce asimetrías en el RMSE.</a:t>
            </a:r>
          </a:p>
          <a:p>
            <a:pPr algn="l"/>
            <a:r>
              <a:rPr lang="es-ES_tradnl" sz="1400" dirty="0"/>
              <a:t>El mejor caso es do1ini= −3.14 rad/s (≈32.9°) y el peor +3.14 rad/s (≈36.9°), con mayor degradación para velocidades positivas.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18D351A8-5E9A-7E0B-3D30-B2458028F8E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60588"/>
            <a:ext cx="5310145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875D975-BF8A-C58F-F2C9-BCDAF0CC7B3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7312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5418-F67B-B1EC-2ECC-CBF6D969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6E26D-BAAB-9AC8-0483-18D3D08FE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58D95A7-CEF9-7000-40AF-DF8261FE13E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246068072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-13.65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35.22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266.50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DB244ED-0804-A15D-D44C-4185DCEA513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converge en todos los casos.</a:t>
            </a:r>
          </a:p>
          <a:p>
            <a:pPr algn="l"/>
            <a:r>
              <a:rPr lang="es-ES_tradnl" sz="1400" dirty="0"/>
              <a:t>El mejor desempeño se obtiene en do1ini = +3.14 rad/s (≈16.3°) y el peor en −3.14 rad/s (≈19.5°), con variaciones en el transitorio pero sin afectar el error estacionario.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8FD9B8A1-0C88-3F59-6C65-65784C81AE4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55848" y="2078038"/>
            <a:ext cx="728776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B715FB5-516F-1658-49E3-199C63A0E48E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73488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6FBF-21F8-538B-22DD-6FC0A199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74CA01-5C91-5556-FA37-793337256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9BBBF812-A026-8ACA-1352-C66BE64CF11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263601567"/>
              </p:ext>
            </p:extLst>
          </p:nvPr>
        </p:nvGraphicFramePr>
        <p:xfrm>
          <a:off x="606425" y="4962525"/>
          <a:ext cx="10532960" cy="12377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301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412.34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43.96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12.19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428.66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53.94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46.23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86F866C-AB18-9D66-E0C1-81C0E4E9465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todos los casos.</a:t>
            </a:r>
          </a:p>
          <a:p>
            <a:r>
              <a:rPr lang="es-ES_tradnl" sz="1400" dirty="0"/>
              <a:t>El mejor desempeño se obtiene en do1ini = +3.14 rad/s (RMSE = 37.68°), mientras que el peor caso es −3.14 rad/s (RMSE = 49.60°), evidenciando impacto en el transitorio pero no en el estado estacionario.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2103F056-AD80-C309-581B-4388C46B42D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518116" cy="2650079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55041454-64D3-F3C0-90B4-EDF0E4DBAB6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715017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615F-60DA-F66F-2CD5-C3C89025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E33D05-AD80-6AD1-13E4-EF153C5FB8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F74F6EA2-F6DE-584B-3861-A754D26BEC4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563495322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90.75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47.67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17.87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58.55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F1AE99B-6650-5FC5-7404-1CA584528513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estabilidad en todo el rango.</a:t>
            </a:r>
          </a:p>
          <a:p>
            <a:r>
              <a:rPr lang="es-ES_tradnl" sz="1400" dirty="0"/>
              <a:t>El RMSE varía significativamente (35.62° → 55.96°), siendo mejor para −3.14 rad/s, lo que indica sensibilidad a la dirección inicial de la velocidad.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8E391F0B-B87F-FF8F-A184-6D7792FA32C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73815" y="2018371"/>
            <a:ext cx="6328468" cy="2573958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687F8D6-A41E-EF38-2F2D-5AB9E2432DA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559196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A30D-2313-BD6C-39D7-053B7942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CF6A35-1902-40EA-F257-5DF9609859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DE2A9CC-F292-3E87-FE3D-4877E2E00CF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19756459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12.26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180.04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22.26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42.79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82.48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DD90C1A-81EA-67C5-1FCC-DC942BDFC4C7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todos los casos, con mayor variabilidad en el error.</a:t>
            </a:r>
          </a:p>
          <a:p>
            <a:r>
              <a:rPr lang="es-ES_tradnl" sz="1400" dirty="0"/>
              <a:t>El RMSE oscila entre 12.26° y 19.43°, mientras que el esfuerzo aumenta (U_energy: 22.26 → 41.29) para mayores velocidades iniciales.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A8641EF4-3DC3-A80D-E26E-DA3FD296671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18342" y="2085181"/>
            <a:ext cx="6562721" cy="2687638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148237DE-4FCF-FD08-6F51-4B9552DE1D9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996834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2B52D-48F1-BE26-F5FE-1548B0BB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DFAA7F-0707-3713-4961-AAC5B2D6F2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inclinada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09F0060-5C48-08B8-5EBC-990DCECE51E8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8F3F9F7-1FAB-88FA-9AC2-498797DD0AD7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52579F7-0112-4B67-CDE0-3222BA53CD52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7E6AD96-738C-5A99-9842-019764821EC2}"/>
              </a:ext>
            </a:extLst>
          </p:cNvPr>
          <p:cNvSpPr txBox="1"/>
          <p:nvPr/>
        </p:nvSpPr>
        <p:spPr>
          <a:xfrm>
            <a:off x="713232" y="5440095"/>
            <a:ext cx="9582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estabilidad, pero la inclinación degrada el desempeño.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retardo es despreciable (~35→36°), mientras que las condiciones iniciales dominan: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o1ini ≈32.6–57° y do1ini ≈32.9–36.9°, evidenciando asimetrías.</a:t>
            </a:r>
          </a:p>
        </p:txBody>
      </p:sp>
      <p:pic>
        <p:nvPicPr>
          <p:cNvPr id="2" name="Onlinebild-Platzhalter 4">
            <a:extLst>
              <a:ext uri="{FF2B5EF4-FFF2-40B4-BE49-F238E27FC236}">
                <a16:creationId xmlns:a16="http://schemas.microsoft.com/office/drawing/2014/main" id="{21FB3685-B736-7487-0434-1C332920C49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4269879" y="2283300"/>
            <a:ext cx="3627233" cy="2738067"/>
          </a:xfrm>
          <a:prstGeom prst="rect">
            <a:avLst/>
          </a:prstGeom>
        </p:spPr>
      </p:pic>
      <p:pic>
        <p:nvPicPr>
          <p:cNvPr id="4" name="Onlinebild-Platzhalter 5">
            <a:extLst>
              <a:ext uri="{FF2B5EF4-FFF2-40B4-BE49-F238E27FC236}">
                <a16:creationId xmlns:a16="http://schemas.microsoft.com/office/drawing/2014/main" id="{7AB18EB4-8BA8-528B-3A7F-6CECECF88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1" y="2283300"/>
            <a:ext cx="3601877" cy="2718927"/>
          </a:xfrm>
          <a:prstGeom prst="rect">
            <a:avLst/>
          </a:prstGeom>
        </p:spPr>
      </p:pic>
      <p:pic>
        <p:nvPicPr>
          <p:cNvPr id="5" name="Onlinebild-Platzhalter 7">
            <a:extLst>
              <a:ext uri="{FF2B5EF4-FFF2-40B4-BE49-F238E27FC236}">
                <a16:creationId xmlns:a16="http://schemas.microsoft.com/office/drawing/2014/main" id="{A6BC3C31-8225-2050-0928-B2DF3F811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67" y="2297347"/>
            <a:ext cx="3529907" cy="2664599"/>
          </a:xfrm>
          <a:prstGeom prst="rect">
            <a:avLst/>
          </a:prstGeom>
        </p:spPr>
      </p:pic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6A80DB95-CC63-4A4C-88E8-6CB6008367D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6706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2434</Words>
  <Application>Microsoft Macintosh PowerPoint</Application>
  <PresentationFormat>Breitbild</PresentationFormat>
  <Paragraphs>842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2026-04-12T18:17:52Z</dcterms:created>
  <dcterms:modified xsi:type="dcterms:W3CDTF">2026-04-12T18:20:16Z</dcterms:modified>
</cp:coreProperties>
</file>