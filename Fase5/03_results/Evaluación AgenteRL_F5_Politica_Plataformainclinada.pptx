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800" r:id="rId2"/>
    <p:sldId id="801" r:id="rId3"/>
    <p:sldId id="815" r:id="rId4"/>
    <p:sldId id="816" r:id="rId5"/>
    <p:sldId id="814" r:id="rId6"/>
    <p:sldId id="802" r:id="rId7"/>
    <p:sldId id="803" r:id="rId8"/>
    <p:sldId id="817" r:id="rId9"/>
    <p:sldId id="818" r:id="rId10"/>
    <p:sldId id="820" r:id="rId11"/>
    <p:sldId id="804" r:id="rId12"/>
    <p:sldId id="805" r:id="rId13"/>
    <p:sldId id="821" r:id="rId14"/>
    <p:sldId id="823" r:id="rId15"/>
    <p:sldId id="822" r:id="rId16"/>
    <p:sldId id="806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F0F575-26D1-A775-88A3-4BE0991F5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0EFCF46-3962-3EDF-034F-78A480D2E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ABAF07-71CB-EF40-2C88-791EF6800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C5FF-6A85-6A4D-BCFB-0A0BDE5A276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8AB2DC-EE91-8A05-AEFC-DBEAB4FD8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0BB839-862B-A534-66B1-00E315A26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5A63-A924-BC45-B341-CEE33F68463F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6029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C4A505-6D3B-5118-363E-16CB3108D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31E539-CA02-53F7-EE30-018CFEE4F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2913A4-F403-F108-1B34-DB15AA115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C5FF-6A85-6A4D-BCFB-0A0BDE5A276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AE073E-DC9C-8B10-2447-11D3CC68A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03D48-3D7D-AB19-9D7B-9439A564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5A63-A924-BC45-B341-CEE33F68463F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65943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146DEB-AEF7-DAA0-726C-75B0BE90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CA3368-3099-195B-24C7-A960598D2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DD048E-4213-4ED4-D045-483F0CCDB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C5FF-6A85-6A4D-BCFB-0A0BDE5A276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CE958B-1C34-9448-3212-41F4153CC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2332C1-46B7-EF00-FB1E-C08788CAD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5A63-A924-BC45-B341-CEE33F68463F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08499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B3E401-4C2C-8438-290B-D69A0AE9D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67C4E7-17D6-104D-7304-8FAB80C70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A17FD3A-EC2F-B5E8-7AEA-AE249C587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5791CF-C8DE-77BB-7965-5E487F0F9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C5FF-6A85-6A4D-BCFB-0A0BDE5A276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5A6F0A-FC32-3615-EE6F-014A3AAB0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6BBED0-85EC-4C64-E686-386DEF135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5A63-A924-BC45-B341-CEE33F68463F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15508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B11BEB-3894-9EE4-BEA2-CE6D6664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2F9059-63D2-FD13-FB49-2A85E8835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0004E55-AC8B-00EB-665B-FDADCB7E7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B9E4C70-0C68-DAC7-F7B1-E432E6857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53D5E97-3700-24AC-7912-402E7FD3D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C68A279-C2CF-18D7-BC3C-9F11BF38A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C5FF-6A85-6A4D-BCFB-0A0BDE5A276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40D83DC-CEFE-212C-C7B6-43E45E88E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A16AC93-4D6F-A581-2974-2CA5E736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5A63-A924-BC45-B341-CEE33F68463F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22284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9191ED-687F-A6B7-684C-1F7E4951A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7D44EFA-5275-68DF-6DD2-C0B8D06FF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C5FF-6A85-6A4D-BCFB-0A0BDE5A276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FBF6368-C5D7-FEFB-1379-CC18C9FAC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96AFBE7-5EB0-1013-8D4E-A18FA1250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5A63-A924-BC45-B341-CEE33F68463F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3141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320D695-4B48-6C3E-D898-DAA8B0D4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C5FF-6A85-6A4D-BCFB-0A0BDE5A276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FEA8E6B-78A0-2D12-BC16-BD9CEBCA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0679BF-DAC7-A129-0F51-1B56A6A7D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5A63-A924-BC45-B341-CEE33F68463F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14019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59D2F2-4E22-9537-D082-4995C3FA1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77319C-899D-2F7B-B0CD-9ABA2E7F5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14A6DF-0CE3-BFE1-5172-41DAA997B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7A7FF1D-2FA6-10B6-E1F6-1CFAEF77C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C5FF-6A85-6A4D-BCFB-0A0BDE5A276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DF35B9-28FB-DC32-34D5-FBAA45704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3202FE-9AE1-75F5-C4B7-8E95F6F1B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5A63-A924-BC45-B341-CEE33F68463F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86528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F2E7F8-F719-F2CC-3964-E1378BC72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3D77E3E-0478-BC8B-698A-1D52D9D9DA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9D0C923-6154-D1A9-DAEB-B4290111D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F5DB8C1-3CAA-A8F2-D5F0-3AB0E8CEE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C5FF-6A85-6A4D-BCFB-0A0BDE5A276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BE1A1E1-7449-9EE0-81B3-617A13EC3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6E9AA9-BC59-2D3B-D32D-EB043B6F5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5A63-A924-BC45-B341-CEE33F68463F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0797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A5A70B-6F8D-FFC4-ADD7-93096FF9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CE18244-E83D-6D49-DB07-AB321C16C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DD72DF-FF18-C248-B9A4-DD51D2C08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C5FF-6A85-6A4D-BCFB-0A0BDE5A276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C80B24-B988-CF66-E668-7C670100A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95A060-B725-55DD-D114-EEE0C5090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5A63-A924-BC45-B341-CEE33F68463F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57875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927306A-8EDE-07C2-61C2-0D6CF386C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5F3F7D6-75FB-452C-7FC2-ABC90F775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688217-D530-D9F5-6CC9-CC5BB0637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C5FF-6A85-6A4D-BCFB-0A0BDE5A276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EE2550-E557-EA97-5458-A19F2C022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B404D8-47D8-A971-75C0-A040CF9B3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5A63-A924-BC45-B341-CEE33F68463F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58013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63645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nlinebild-Platzhalter 13">
            <a:extLst>
              <a:ext uri="{FF2B5EF4-FFF2-40B4-BE49-F238E27FC236}">
                <a16:creationId xmlns:a16="http://schemas.microsoft.com/office/drawing/2014/main" id="{FD9EF390-3AFD-9D64-1273-017BE22D9A6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520862" y="2150672"/>
            <a:ext cx="5365750" cy="4008437"/>
          </a:xfrm>
        </p:spPr>
        <p:txBody>
          <a:bodyPr/>
          <a:lstStyle/>
          <a:p>
            <a:endParaRPr lang="es-ES_tradnl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5360E26-BFAE-B334-4899-0F825BFBC3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53093" y="2077326"/>
            <a:ext cx="2721697" cy="2147028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BE6DE186-B408-4201-17FA-17FDB7A4014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093" y="4424206"/>
            <a:ext cx="4571997" cy="4656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45865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258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F86905C-70A6-277B-C7C8-6806BC6AF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F25386-868A-9C9A-F067-A5001AFF3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F754DB-EF3F-7789-8F97-FC10D2088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9C5FF-6A85-6A4D-BCFB-0A0BDE5A2765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B1E33C-9E41-7FC4-F583-D03FC3401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44B9FE-44FF-8EE4-2DF8-3EB6312DF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245A63-A924-BC45-B341-CEE33F68463F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9122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5FBBC-CFE8-C870-44D6-CB7F5F073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BFB1642-749D-9C4E-E937-70EF62C3E8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5064755" cy="1217510"/>
          </a:xfrm>
        </p:spPr>
        <p:txBody>
          <a:bodyPr>
            <a:normAutofit/>
          </a:bodyPr>
          <a:lstStyle/>
          <a:p>
            <a:r>
              <a:rPr lang="es-ES_tradnl" sz="1400" dirty="0"/>
              <a:t>La inclinación introduce fuerte asimetría:</a:t>
            </a:r>
          </a:p>
          <a:p>
            <a:r>
              <a:rPr lang="es-ES_tradnl" sz="1400" dirty="0"/>
              <a:t>−90° degrada significativamente el RMSE (~57°), mientras que 0° y 90° se mantienen cercanos (~35°).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E3F8D59-478A-3348-9744-7C586C96DB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</a:t>
            </a:r>
          </a:p>
          <a:p>
            <a:endParaRPr lang="es-ES_tradnl" noProof="1"/>
          </a:p>
        </p:txBody>
      </p:sp>
      <p:sp>
        <p:nvSpPr>
          <p:cNvPr id="7" name="Inhaltsplatzhalter 7">
            <a:extLst>
              <a:ext uri="{FF2B5EF4-FFF2-40B4-BE49-F238E27FC236}">
                <a16:creationId xmlns:a16="http://schemas.microsoft.com/office/drawing/2014/main" id="{ACCAA090-D83E-5075-80B8-3F3AEB5A3E3E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6353093" y="4424206"/>
            <a:ext cx="4571997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o1ini: (-90°, 0°, 90°)</a:t>
            </a:r>
          </a:p>
          <a:p>
            <a:pPr algn="l"/>
            <a:r>
              <a:rPr lang="es-ES_tradnl" sz="14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do1ini= 0°, Retardo=0ms </a:t>
            </a:r>
            <a:endParaRPr lang="es-ES_tradnl" sz="1400" noProof="1"/>
          </a:p>
          <a:p>
            <a:pPr algn="l"/>
            <a:endParaRPr lang="es-ES_tradnl" sz="1400" b="1" noProof="1"/>
          </a:p>
        </p:txBody>
      </p:sp>
      <p:pic>
        <p:nvPicPr>
          <p:cNvPr id="8" name="Onlinebild-Platzhalter 7">
            <a:extLst>
              <a:ext uri="{FF2B5EF4-FFF2-40B4-BE49-F238E27FC236}">
                <a16:creationId xmlns:a16="http://schemas.microsoft.com/office/drawing/2014/main" id="{7E8D223D-922B-C3D0-178D-574B74C75315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48502" y="2151063"/>
            <a:ext cx="5310145" cy="4008437"/>
          </a:xfrm>
          <a:prstGeom prst="rect">
            <a:avLst/>
          </a:prstGeom>
        </p:spPr>
      </p:pic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7E9195C4-CE74-C690-E61A-3027610E93F4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413048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17120-E11A-8430-A131-02965D2D7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5F4C73-AC98-7736-26B6-AC6B05E1C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01C2F206-360B-F3E3-4573-0A8ED767D5B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416522448"/>
              </p:ext>
            </p:extLst>
          </p:nvPr>
        </p:nvGraphicFramePr>
        <p:xfrm>
          <a:off x="606425" y="4962525"/>
          <a:ext cx="10532960" cy="13792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-14.10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-31.34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264.62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147.00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14.57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18.59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28.80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16.20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292.02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85.00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54.67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16.04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23.22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28.87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-14.48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-32.17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16.13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86.15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347.34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72.25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18.67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34.95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BD9F402-2731-B99C-199E-3B757C2DF70E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converge en condiciones nominales (≈17°).</a:t>
            </a:r>
          </a:p>
          <a:p>
            <a:r>
              <a:rPr lang="es-ES_tradnl" sz="1400" dirty="0"/>
              <a:t>En condiciones extremas, el error aumenta (≈19° y ≈86°), con mayor sobreimpulso y pérdida parcial de seguimiento.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FBCEBE01-18FD-15DD-7A93-49375F0A453E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630454" y="2078038"/>
            <a:ext cx="7353497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03806164-086F-6B47-5A7E-E760B13E4109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52440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436E7-528D-C178-C029-B0AC4B61F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024E90-118A-50B7-9A9F-E17686DCD0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B86B5B13-ED4D-B7E3-E8D5-07529B3C9C7A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488684928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152.23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17.23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12.76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17.23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19.45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305.06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27.30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9.12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33.94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157.91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42.38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418.27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49.46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12.96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9.36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-205.56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-135.00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-100.00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19.44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44.28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377.37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2.34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30.77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7.69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38.19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3A9B209-A485-C44E-F37F-0FBD4EF0DA65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converge en condiciones nominales (RMSE ≈ 19.45° para 90°).</a:t>
            </a:r>
          </a:p>
          <a:p>
            <a:r>
              <a:rPr lang="es-ES_tradnl" sz="1400" dirty="0"/>
              <a:t>En condiciones extremas, el error aumenta hasta ≈ 44.28° (−90°), con pérdida de seguimiento y mayor oscilación.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C7231D6B-E2B1-70DC-BE63-22F2C280DCE9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96040" y="2078038"/>
            <a:ext cx="6551570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E2921064-6F41-AE3B-EF0F-D036795F8B2A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415626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BBF87-59EE-0751-D72B-8E30F3910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07D178-01EE-8FCC-4B4F-9B007DB960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2ED0B8D4-8172-FB20-0DA2-7438275AD782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978577254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-146.49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11.49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14.71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202.07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31.56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12.55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45.40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-138.71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44.19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113.71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56.34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17.87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210.88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345.88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256.21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14.12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44.70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301.16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3.65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80.33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20.16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32.10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AC4402D-7CF3-E1F6-DF35-0DED03443311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converge correctamente en o1ini = −90° (RMSE ≈ 14.71°).</a:t>
            </a:r>
          </a:p>
          <a:p>
            <a:r>
              <a:rPr lang="es-ES_tradnl" sz="1400" dirty="0"/>
              <a:t>Sin embargo, en condiciones desfavorables (0° y 90°) el error se incrementa significativamente (≈ 44°–45°), evidenciando degradación bajo inclinación.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B5C443E4-5438-414F-18E8-E7885DF40A32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487641" y="2078038"/>
            <a:ext cx="6994505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FFF9432A-1AFD-B873-F422-B7AE60770C1A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853655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45F87-80F4-E196-30F2-D28F5CDDD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87A55D-8E28-C603-D660-A720B3ED11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7C81B146-6F36-A9DF-4047-F3F60F5A1134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291107296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14.33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181.69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151.00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31.64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7.40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42.21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-54.77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9.77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15.36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181.24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205.00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25.72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6.73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43.33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-54.79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300.07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9.79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49.16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246.97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148.00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73.18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14.07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43.00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0A4FB50-607A-CFB0-001F-9CFE859F96BB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64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mantiene convergencia en condiciones nominales (RMSE ≈ 14.33° para 0°).</a:t>
            </a:r>
          </a:p>
          <a:p>
            <a:r>
              <a:rPr lang="es-ES_tradnl" sz="1400" dirty="0"/>
              <a:t>En condiciones extremas (o1ini = 90°), el error aumenta notablemente hasta ≈ 49.16°, con mayor sobreimpulso y esfuerzo de control.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4FF7D5D1-049A-9EDF-63AD-BDB83C925F77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96040" y="2078038"/>
            <a:ext cx="6752292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80DFB14D-6522-1AB8-F759-0BB7E45DEC28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998404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84E98-B5B8-8BD5-1D5D-51E5D2407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CA3E41-DF38-AEB7-2E9D-48E0349F7F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</a:t>
            </a:r>
          </a:p>
          <a:p>
            <a:endParaRPr lang="es-ES_tradnl" noProof="1"/>
          </a:p>
        </p:txBody>
      </p:sp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C778DFE2-F210-1EDF-B004-E7F23911410E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Retardo: (0, 10, 20)[ms]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o1ini= 0°, do1ini= 0° </a:t>
            </a:r>
            <a:endParaRPr lang="es-ES_tradnl" noProof="1"/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D1F4D6F1-C518-30A5-B5FD-FABF4D4297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5460426" cy="977315"/>
          </a:xfrm>
        </p:spPr>
        <p:txBody>
          <a:bodyPr>
            <a:noAutofit/>
          </a:bodyPr>
          <a:lstStyle/>
          <a:p>
            <a:pPr algn="l"/>
            <a:r>
              <a:rPr lang="es-ES_tradnl" sz="1400" dirty="0"/>
              <a:t>El retardo no altera la forma del RMSE.</a:t>
            </a:r>
          </a:p>
          <a:p>
            <a:pPr algn="l"/>
            <a:r>
              <a:rPr lang="es-ES_tradnl" sz="1400" dirty="0"/>
              <a:t>Su impacto es leve: incremento marginal del error (≈35.1° → ≈35.6°, &lt;1%) sin pérdida de estabilidad.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8BE64B20-285C-8DF3-F644-14CCD428FE77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48502" y="2151063"/>
            <a:ext cx="5310145" cy="4008437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A1A78817-B500-554A-6E3D-6088132A0B72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411886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11285-E018-8AAD-4CBF-4C454A664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801967-D950-3397-9AB2-22C8B59471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68FB8BF1-427E-7C34-075B-7A36F5225692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046889940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-14.10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-31.34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264.62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147.00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14.57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18.59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-13.58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-30.18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17.22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264.71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39.46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19.45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-12.73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-28.29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17.30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264.99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223.00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39.57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14.57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22.05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55FB0B6-1049-94BF-E0E4-81D74F8038D3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mantiene estabilidad y convergencia en todos los casos.</a:t>
            </a:r>
          </a:p>
          <a:p>
            <a:r>
              <a:rPr lang="es-ES_tradnl" sz="1400" dirty="0"/>
              <a:t>El retardo tiene impacto marginal, con ligeros aumentos en RMSE y sobreimpulso.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E2E35A16-CA38-EDD1-7321-6EEA2CB47964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483865" y="2078038"/>
            <a:ext cx="6793992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AE3A97DB-CC88-63D3-AA26-F921EB43725D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819427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08A40-E4F8-77F4-5D52-9512D43DB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98493FD-EB22-1048-0139-2335690171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CDEF72D9-BB4C-01B7-09C9-FCA850DE2176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219393944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157.91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42.38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418.27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49.46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12.96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9.36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157.90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42.74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419.01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49.60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12.97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9.35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157.91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43.09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419.77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49.73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9.36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72C9AC5-DB72-9BFC-11B2-29E12A4D5EB1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mantiene estabilidad y convergencia en todos los casos.</a:t>
            </a:r>
          </a:p>
          <a:p>
            <a:r>
              <a:rPr lang="es-ES_tradnl" sz="1400" dirty="0"/>
              <a:t>El retardo introduce un impacto marginal, con un ligero aumento del error (RMSE: 42.38° → 43.09°) y del esfuerzo de control (U_energy: 49.46 → 49.73).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9B4DF671-676C-0ACF-5151-6237953BF1A8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96040" y="2078038"/>
            <a:ext cx="6618477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7536275C-7F53-2EE2-9AE1-E4DDA9A3D077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821786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5D780-172A-054C-C9B9-66E590BD4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B529D3-6BDA-B450-2A06-4A9D80DA3C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ED8ED58D-A27C-C06E-72E8-2FA941721A8A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159089448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-138.71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44.19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113.71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56.34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17.87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-138.71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44.52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114.43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56.85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15.27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18.63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-138.71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44.83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114.91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57.39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15.40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18.58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36C1628-58E4-7B60-EC29-0BB1D03AA65A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converge de forma estable para todos los retardos.</a:t>
            </a:r>
          </a:p>
          <a:p>
            <a:r>
              <a:rPr lang="es-ES_tradnl" sz="1400" dirty="0"/>
              <a:t>El RMSE presenta una variación reducida (44.19° → 44.83°), confirmando una baja sensibilidad al retardo en condiciones inclinadas.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9860F692-6939-55A6-634D-70AB1869E865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96040" y="2078038"/>
            <a:ext cx="6886106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61875A5C-A5CF-60B6-EDCA-7C50F5E22577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69729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E67DC-5215-74AF-71C5-C16C810EE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D84113-925C-A3B8-E02F-9A86E2D0E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B53ACEDB-0CFC-23B5-8529-7E67FA69973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373667292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14.33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181.69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151.00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31.64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7.40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42.21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14.48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181.99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2.47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36.56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8.52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64.36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-56.62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11.62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182.17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4.18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105.37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366.70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DD1C449-FA27-0C65-FF97-0D480D9FED81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mantiene convergencia en todos los casos, aunque con mayor impacto en el esfuerzo.</a:t>
            </a:r>
          </a:p>
          <a:p>
            <a:r>
              <a:rPr lang="es-ES_tradnl" sz="1400" dirty="0"/>
              <a:t>El RMSE apenas varía (14.33° → 14.67°), pero el U_energy aumenta significativamente (31.64 → 105.37) para retardos mayores.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4D5FB373-207B-B49F-8424-DE5DD75FCC1C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96040" y="2078038"/>
            <a:ext cx="6852653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5F4215C2-C2DE-806E-3434-BF39028239A9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185116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EB87B-3B76-1D82-FB6C-66409E035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AF5D23-A0BE-9C1E-2A88-961A2DEB25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</a:t>
            </a:r>
          </a:p>
          <a:p>
            <a:endParaRPr lang="es-ES_tradnl" noProof="1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6CC6431-A17B-90D3-257D-1F58889C9894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do1ini= (-0.5, 0, 0.5) [rad/s]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o1ini= 0°, Retardo=0ms </a:t>
            </a:r>
            <a:endParaRPr lang="es-ES_tradnl" noProof="1"/>
          </a:p>
          <a:p>
            <a:endParaRPr lang="es-ES_tradnl" b="1" noProof="1"/>
          </a:p>
          <a:p>
            <a:endParaRPr lang="es-ES_tradnl" noProof="1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4C536C6E-AFF7-F46D-FA6C-4C8D7EE4E4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9886" y="5083835"/>
            <a:ext cx="5310145" cy="914629"/>
          </a:xfrm>
        </p:spPr>
        <p:txBody>
          <a:bodyPr>
            <a:noAutofit/>
          </a:bodyPr>
          <a:lstStyle/>
          <a:p>
            <a:pPr algn="l"/>
            <a:r>
              <a:rPr lang="es-ES_tradnl" sz="1400" dirty="0"/>
              <a:t>La velocidad angular inicial introduce asimetrías en el RMSE.</a:t>
            </a:r>
          </a:p>
          <a:p>
            <a:pPr algn="l"/>
            <a:r>
              <a:rPr lang="es-ES_tradnl" sz="1400" dirty="0"/>
              <a:t>El mejor caso es do1ini= −3.14 rad/s (≈32.9°) y el peor +3.14 rad/s (≈36.9°), con mayor degradación para velocidades positivas.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18D351A8-5E9A-7E0B-3D30-B2458028F8E1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48502" y="2160588"/>
            <a:ext cx="5310145" cy="4008437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8091D5A4-6744-B20F-3E91-C9197BE0C3F1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573127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B5418-F67B-B1EC-2ECC-CBF6D969D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86E26D-BAAB-9AC8-0483-18D3D08FEA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858D95A7-CEF9-7000-40AF-DF8261FE13E6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07658288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-13.65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-30.34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16.25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264.00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2.45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35.22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14.15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19.55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-14.10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-31.34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264.62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147.00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14.57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18.59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30.32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-13.99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-31.09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19.50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266.50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43.19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15.11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45.62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0DB244ED-0804-A15D-D44C-4185DCEA5130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dirty="0"/>
              <a:t>El sistema converge en todos los casos.</a:t>
            </a:r>
          </a:p>
          <a:p>
            <a:pPr algn="l"/>
            <a:r>
              <a:rPr lang="es-ES_tradnl" sz="1400" dirty="0"/>
              <a:t>El mejor desempeño se obtiene en do1ini = +3.14 rad/s (≈16.3°) y el peor en −3.14 rad/s (≈19.5°), con variaciones en el transitorio pero sin afectar el error estacionario.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8FD9B8A1-0C88-3F59-6C65-65784C81AE4C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355848" y="2078038"/>
            <a:ext cx="7287767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4904B385-5041-5E97-6A6B-5287E8CDB1C0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873488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46FBF-21F8-538B-22DD-6FC0A1996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74CA01-5C91-5556-FA37-793337256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9BBBF812-A026-8ACA-1352-C66BE64CF115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740418578"/>
              </p:ext>
            </p:extLst>
          </p:nvPr>
        </p:nvGraphicFramePr>
        <p:xfrm>
          <a:off x="606425" y="4962525"/>
          <a:ext cx="10532960" cy="12377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301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157.95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37.68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412.34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2.72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43.96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12.19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9.44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157.91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42.38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418.27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49.46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12.96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9.36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157.89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22.89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16.96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22.89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49.60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428.66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53.94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13.64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46.23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E86F866C-AB18-9D66-E0C1-81C0E4E94650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83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converge en todos los casos.</a:t>
            </a:r>
          </a:p>
          <a:p>
            <a:r>
              <a:rPr lang="es-ES_tradnl" sz="1400" dirty="0"/>
              <a:t>El mejor desempeño se obtiene en do1ini = +3.14 rad/s (RMSE = 37.68°), mientras que el peor caso es −3.14 rad/s (RMSE = 49.60°), evidenciando impacto en el transitorio pero no en el estado estacionario.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2103F056-AD80-C309-581B-4388C46B42DF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96040" y="2078038"/>
            <a:ext cx="6518116" cy="2650079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B93EDAF7-525B-1B4F-1B0F-90455132C660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715017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8615F-60DA-F66F-2CD5-C3C890259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E33D05-AD80-6AD1-13E4-EF153C5FB8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F74F6EA2-F6DE-584B-3861-A754D26BEC41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809313952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-138.71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35.62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90.75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47.67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14.06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17.88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-138.71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44.19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113.71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56.34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17.87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-138.71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147.69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109.40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55.96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153.00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3.29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64.73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16.22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58.55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F1AE99B-6650-5FC5-7404-1CA584528513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mantiene estabilidad en todo el rango.</a:t>
            </a:r>
          </a:p>
          <a:p>
            <a:r>
              <a:rPr lang="es-ES_tradnl" sz="1400" dirty="0"/>
              <a:t>El RMSE varía significativamente (35.62° → 55.96°), siendo mejor para −3.14 rad/s, lo que indica sensibilidad a la dirección inicial de la velocidad.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8E391F0B-B87F-FF8F-A184-6D7792FA32CA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73815" y="2018371"/>
            <a:ext cx="6328468" cy="2573958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275C3EE6-5307-4E9F-3DF4-B05D87A8E0B3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559196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DA30D-2313-BD6C-39D7-053B79424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CF6A35-1902-40EA-F257-5DF9609859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8DE2A9CC-F292-3E87-FE3D-4877E2E00CF9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739732713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-54.99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12.26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180.04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161.00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22.26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5.94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42.79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14.33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181.69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151.00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31.64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7.40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42.21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-54.98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57.69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128.20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19.43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187.90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149.00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41.29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8.99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82.48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DD90C1A-81EA-67C5-1FCC-DC942BDFC4C7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64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dirty="0"/>
              <a:t>El sistema converge en todos los casos, con mayor variabilidad en el error.</a:t>
            </a:r>
          </a:p>
          <a:p>
            <a:r>
              <a:rPr lang="es-ES_tradnl" sz="1400" dirty="0"/>
              <a:t>El RMSE oscila entre 12.26° y 19.43°, mientras que el esfuerzo aumenta (U_energy: 22.26 → 41.29) para mayores velocidades iniciales.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A8641EF4-3DC3-A80D-E26E-DA3FD2966712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618342" y="2085181"/>
            <a:ext cx="6562721" cy="2687638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79DA5E8E-EF5F-3A8E-2948-15A6CB36EC3A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996834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2B52D-48F1-BE26-F5FE-1548B0BB2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DFAA7F-0707-3713-4961-AAC5B2D6F2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Influencias de las perturbaciones en plataforma inclinada</a:t>
            </a:r>
          </a:p>
          <a:p>
            <a:endParaRPr lang="es-ES_tradnl" noProof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09F0060-5C48-08B8-5EBC-990DCECE51E8}"/>
              </a:ext>
            </a:extLst>
          </p:cNvPr>
          <p:cNvSpPr txBox="1"/>
          <p:nvPr/>
        </p:nvSpPr>
        <p:spPr>
          <a:xfrm>
            <a:off x="1220412" y="5002600"/>
            <a:ext cx="15326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o1ini: (-90, 0 , 90) [°]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8F3F9F7-1FAB-88FA-9AC2-498797DD0AD7}"/>
              </a:ext>
            </a:extLst>
          </p:cNvPr>
          <p:cNvSpPr txBox="1"/>
          <p:nvPr/>
        </p:nvSpPr>
        <p:spPr>
          <a:xfrm>
            <a:off x="5069907" y="5008526"/>
            <a:ext cx="1685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Retardo: (0, 0.01, 0.02) [ms]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52579F7-0112-4B67-CDE0-3222BA53CD52}"/>
              </a:ext>
            </a:extLst>
          </p:cNvPr>
          <p:cNvSpPr txBox="1"/>
          <p:nvPr/>
        </p:nvSpPr>
        <p:spPr>
          <a:xfrm>
            <a:off x="9040777" y="5002227"/>
            <a:ext cx="15069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do1ini: (-0.5, 0, 0.5)[rad/s]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7E6AD96-738C-5A99-9842-019764821EC2}"/>
              </a:ext>
            </a:extLst>
          </p:cNvPr>
          <p:cNvSpPr txBox="1"/>
          <p:nvPr/>
        </p:nvSpPr>
        <p:spPr>
          <a:xfrm>
            <a:off x="713232" y="5440095"/>
            <a:ext cx="9582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agente mantiene estabilidad, pero la inclinación degrada el desempeño.</a:t>
            </a:r>
          </a:p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retardo es despreciable (~35→36°), mientras que las condiciones iniciales dominan:</a:t>
            </a:r>
          </a:p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o1ini ≈32.6–57° y do1ini ≈32.9–36.9°, evidenciando asimetrías.</a:t>
            </a:r>
          </a:p>
        </p:txBody>
      </p:sp>
      <p:pic>
        <p:nvPicPr>
          <p:cNvPr id="2" name="Onlinebild-Platzhalter 4">
            <a:extLst>
              <a:ext uri="{FF2B5EF4-FFF2-40B4-BE49-F238E27FC236}">
                <a16:creationId xmlns:a16="http://schemas.microsoft.com/office/drawing/2014/main" id="{21FB3685-B736-7487-0434-1C332920C497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4269879" y="2283300"/>
            <a:ext cx="3627233" cy="2738067"/>
          </a:xfrm>
          <a:prstGeom prst="rect">
            <a:avLst/>
          </a:prstGeom>
        </p:spPr>
      </p:pic>
      <p:pic>
        <p:nvPicPr>
          <p:cNvPr id="4" name="Onlinebild-Platzhalter 5">
            <a:extLst>
              <a:ext uri="{FF2B5EF4-FFF2-40B4-BE49-F238E27FC236}">
                <a16:creationId xmlns:a16="http://schemas.microsoft.com/office/drawing/2014/main" id="{7AB18EB4-8BA8-528B-3A7F-6CECECF88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261" y="2283300"/>
            <a:ext cx="3601877" cy="2718927"/>
          </a:xfrm>
          <a:prstGeom prst="rect">
            <a:avLst/>
          </a:prstGeom>
        </p:spPr>
      </p:pic>
      <p:pic>
        <p:nvPicPr>
          <p:cNvPr id="5" name="Onlinebild-Platzhalter 7">
            <a:extLst>
              <a:ext uri="{FF2B5EF4-FFF2-40B4-BE49-F238E27FC236}">
                <a16:creationId xmlns:a16="http://schemas.microsoft.com/office/drawing/2014/main" id="{A6BC3C31-8225-2050-0928-B2DF3F811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67" y="2297347"/>
            <a:ext cx="3529907" cy="2664599"/>
          </a:xfrm>
          <a:prstGeom prst="rect">
            <a:avLst/>
          </a:prstGeom>
        </p:spPr>
      </p:pic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82002BC1-911C-62A1-B36C-1F84101BBBD1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467061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2434</Words>
  <Application>Microsoft Macintosh PowerPoint</Application>
  <PresentationFormat>Breitbild</PresentationFormat>
  <Paragraphs>842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2</cp:revision>
  <dcterms:created xsi:type="dcterms:W3CDTF">2026-04-12T18:21:19Z</dcterms:created>
  <dcterms:modified xsi:type="dcterms:W3CDTF">2026-04-12T18:22:48Z</dcterms:modified>
</cp:coreProperties>
</file>