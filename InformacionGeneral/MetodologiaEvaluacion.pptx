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0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6E1EC-D720-854C-B73A-420A10E7D48E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CBC34-FDEA-1C4E-BB19-D8C8DE184D8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5782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9B4E-520C-B054-B03E-5F14A387E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6CE083-FD69-67E0-B641-4B685CFEE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A43441-2F9F-150F-99FF-A5B235A21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697F49-6405-BA58-9BD1-57D58AAEA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4908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3DCC0-B6BC-E721-15A9-A8CE582EA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6FCD00-61AB-3F52-3CF1-8FCAC888D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D178E-9354-592D-F65B-884C7FE2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3ECDD8-BA69-2F40-F5CA-2CF4D547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2B78A-1838-CD10-CAB5-8BB6BEA4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825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333B9-AE4E-1C15-EBB4-715680E8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3D6B88-CB21-5FE4-AD7A-49CB07B1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5E979-2BE9-F661-1242-749AB580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4E21F0-D840-E907-4D92-7CA42121F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63295C-D8E2-9D45-7A43-7A4262BB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219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C49DC-B3B4-DA48-7154-7C2CDA89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D88C5E-B94A-1A45-5FDD-754F7FC0C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1C248A-BC6E-CE57-1272-211E377A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8C8A2A-6E25-E86B-7FE9-42B9F275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929457-2945-0EC8-CAF8-15302184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138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130CF-654E-9519-15E5-ACF2AC38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AD91EB-DF38-6BC0-9712-173D80E4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EA404C-1144-5647-D7D5-0CEB55CF3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D46CA1-06F9-9C4C-51C0-63F19887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7D3D82-FBD1-44F2-3AD0-B90BE776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8A5809-6AB9-8F55-AEBC-9A93D2A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926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B5977-D4AC-B1CD-A763-E98DC427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9056E0-A4C9-FCBE-5A60-2A5FCD8A5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0B5D00-23C6-5342-5336-0D8EF223F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78A94C-2CB4-E7AB-8747-67E6E322F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CEA285-6DA3-C9FE-FBFC-584EDAFBD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71C3EB5-5CBF-3EAD-91EF-9B4FC170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CDFF04-2D76-5BA7-386B-3A5D4157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798B0F5-62A4-6E67-227D-BE026393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100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7DFF6-93D2-FCAE-A77B-73899010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BB0F4D-D72E-CB89-030C-76512404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6B5DC7-56E8-461B-E00F-D1FFECDD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BC6837-995B-4D4A-7C78-68ACF733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232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BA4368-3EF8-886B-848A-D9106740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B06A0AD-32A2-9BA4-67E4-4197CF08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06DE4A-DE9A-F4EB-01C5-9794C698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420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17B09-05CF-C598-B6A5-B22D187D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808891-FB5A-4255-0E73-801BD06D1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AB8AAA-11EC-2300-6229-7CCBE9F50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B2A4A8-45CA-E914-A81B-B55E8C04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9D690F-44B6-6F52-266D-586BC173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22555A-B906-10CD-A69C-B72F2BD0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895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3DD89-A5DF-7429-E118-2E19E742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3CE4EB-9C68-897D-B874-1AE41B451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D4CE91-3A97-CD40-7B03-7E0085057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652D26-6245-3F59-1B42-41E628A10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A95674-DACB-082E-378F-7EDC9E2D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5EECD8-EBE4-A3E0-AE41-4C70F142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7106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67B0E-7ED4-8C56-73A2-5510104B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7755A4-734C-8300-6BC9-CB3D924B9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CE4628-ED14-B1D3-A0F2-779D9B31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099C9C-2D91-F541-D79F-F9D625DA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378E5-782C-F66E-3941-B3551ACD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3235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E4FDEDC-1D8F-D6AC-4179-5CFF19240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DCCC01-380D-5CC8-330F-5374F071D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33DA4-EB18-4583-D115-24AA6485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CEB2EA-E049-6472-624A-5BA0796E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1469BB-9A57-C761-2D23-CCC723D0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614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C0AD875-68F6-6468-25E8-94F0A2E7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B60BE8-295F-970E-6E77-CCCA590B9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E683C-F48C-6DB2-3C3B-CDA874416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1954F-79DE-124E-9900-4A3D3142EF73}" type="datetimeFigureOut">
              <a:rPr lang="es-ES_tradnl" smtClean="0"/>
              <a:t>5/4/26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F25E84-3379-A9A9-2C78-CC1108AD0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82435F-4E97-883E-E028-E3A39CBDD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B79CB-9E1C-A349-9052-70983CA165B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6134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2EEE-DB7D-F9C7-E98E-652C307E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3CA470D8-8ABE-0BE2-8B52-0EB9B198A2B6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66A1A19-FE07-0FB3-8456-65AE9E34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23521A9-49DE-D6D3-BD00-3D6840D07EC9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Evaluación en cada fase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4BB31BBE-9217-79C5-6003-DB22FD43BB9C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931BAF1-9D9E-14D2-2D78-195196BC2CEC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 Evaluación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B182D6-BFFA-A983-5DE8-2F053BA37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B4BA40-E3FC-563E-86E7-12F5A95D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6356350"/>
            <a:ext cx="11493500" cy="365125"/>
          </a:xfrm>
        </p:spPr>
        <p:txBody>
          <a:bodyPr/>
          <a:lstStyle/>
          <a:p>
            <a:r>
              <a:rPr lang="es-ES_tradnl" sz="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505F48B3-C5BB-AEA2-049F-CA26C460C894}"/>
              </a:ext>
            </a:extLst>
          </p:cNvPr>
          <p:cNvGrpSpPr/>
          <p:nvPr/>
        </p:nvGrpSpPr>
        <p:grpSpPr>
          <a:xfrm>
            <a:off x="427828" y="2389073"/>
            <a:ext cx="2896601" cy="3108944"/>
            <a:chOff x="1297172" y="2445488"/>
            <a:chExt cx="2328530" cy="3108944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724E615-2432-AF80-9C83-B3AB3F8C0DED}"/>
                </a:ext>
              </a:extLst>
            </p:cNvPr>
            <p:cNvSpPr/>
            <p:nvPr/>
          </p:nvSpPr>
          <p:spPr>
            <a:xfrm>
              <a:off x="1297172" y="2445488"/>
              <a:ext cx="2328530" cy="563526"/>
            </a:xfrm>
            <a:prstGeom prst="rect">
              <a:avLst/>
            </a:prstGeom>
            <a:solidFill>
              <a:schemeClr val="bg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ENTRENAMIENTO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FF05179-1903-80D1-ACE2-A4D1E30498E3}"/>
                </a:ext>
              </a:extLst>
            </p:cNvPr>
            <p:cNvSpPr/>
            <p:nvPr/>
          </p:nvSpPr>
          <p:spPr>
            <a:xfrm>
              <a:off x="1297172" y="3009014"/>
              <a:ext cx="2328530" cy="2545418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Evaluación de  las múltiples políticas a lo largo del proceso de aprendizaje (</a:t>
              </a:r>
              <a:r>
                <a:rPr lang="es-ES_tradnl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checkpoints</a:t>
              </a:r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endPara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Criterio de Evaluación:</a:t>
              </a:r>
            </a:p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 cuadrático medio (RMSE). En caso de empate, se utiliza la desviación estándar como criterio de desempate.</a:t>
              </a:r>
            </a:p>
            <a:p>
              <a:endPara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08DBF41-ED40-49E0-3023-35CC9F85C383}"/>
              </a:ext>
            </a:extLst>
          </p:cNvPr>
          <p:cNvGrpSpPr/>
          <p:nvPr/>
        </p:nvGrpSpPr>
        <p:grpSpPr>
          <a:xfrm>
            <a:off x="4371731" y="2383426"/>
            <a:ext cx="3276848" cy="3114590"/>
            <a:chOff x="4522380" y="2445488"/>
            <a:chExt cx="2958425" cy="3108942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67B1769-0F0A-FAD4-60DE-42FB7B245E57}"/>
                </a:ext>
              </a:extLst>
            </p:cNvPr>
            <p:cNvSpPr/>
            <p:nvPr/>
          </p:nvSpPr>
          <p:spPr>
            <a:xfrm>
              <a:off x="4522381" y="2445488"/>
              <a:ext cx="2958424" cy="563526"/>
            </a:xfrm>
            <a:prstGeom prst="rect">
              <a:avLst/>
            </a:prstGeom>
            <a:solidFill>
              <a:schemeClr val="bg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AGENTE RL EN MODELO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2A6D2AD-DAEF-8112-A946-9AC375BF8F8E}"/>
                </a:ext>
              </a:extLst>
            </p:cNvPr>
            <p:cNvSpPr/>
            <p:nvPr/>
          </p:nvSpPr>
          <p:spPr>
            <a:xfrm>
              <a:off x="4522380" y="3009013"/>
              <a:ext cx="2958425" cy="254541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Evaluación del dominio angular y la respuesta temporal del agente seleccionado bajo diferentes tipos de operación:</a:t>
              </a:r>
            </a:p>
            <a:p>
              <a:pPr marL="285750" indent="-285750">
                <a:buFontTx/>
                <a:buChar char="-"/>
              </a:pPr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Modo plano </a:t>
              </a:r>
            </a:p>
            <a:p>
              <a:pPr marL="285750" indent="-285750">
                <a:buFontTx/>
                <a:buChar char="-"/>
              </a:pPr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Modo inclinado</a:t>
              </a:r>
            </a:p>
            <a:p>
              <a:pPr marL="285750" indent="-285750">
                <a:buFontTx/>
                <a:buChar char="-"/>
              </a:pPr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Barrido angular </a:t>
              </a:r>
            </a:p>
            <a:p>
              <a:pPr marL="285750" indent="-285750">
                <a:buFontTx/>
                <a:buChar char="-"/>
              </a:pPr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Respuesta temporal ante cambios de referencia </a:t>
              </a:r>
            </a:p>
            <a:p>
              <a:pPr marL="285750" indent="-285750">
                <a:buFontTx/>
                <a:buChar char="-"/>
              </a:pPr>
              <a:endPara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Criterio de Evaluación:</a:t>
              </a:r>
            </a:p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 cuadrático medio (RMSE), comportamiento dinámico y esfuerzo de control.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3796540-36CE-39FF-8152-D2329529877C}"/>
              </a:ext>
            </a:extLst>
          </p:cNvPr>
          <p:cNvGrpSpPr/>
          <p:nvPr/>
        </p:nvGrpSpPr>
        <p:grpSpPr>
          <a:xfrm>
            <a:off x="8690327" y="2362635"/>
            <a:ext cx="3045342" cy="3213422"/>
            <a:chOff x="7786431" y="2466279"/>
            <a:chExt cx="2328530" cy="366823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C90CD23-D0A5-098A-20A5-DEE6FE8E5FFC}"/>
                </a:ext>
              </a:extLst>
            </p:cNvPr>
            <p:cNvSpPr/>
            <p:nvPr/>
          </p:nvSpPr>
          <p:spPr>
            <a:xfrm>
              <a:off x="7786431" y="2466279"/>
              <a:ext cx="2328530" cy="563526"/>
            </a:xfrm>
            <a:prstGeom prst="rect">
              <a:avLst/>
            </a:prstGeom>
            <a:solidFill>
              <a:schemeClr val="bg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PID vs AGENTE RL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6A3FC53-C385-4706-AD6D-5ADFBB26C79A}"/>
                </a:ext>
              </a:extLst>
            </p:cNvPr>
            <p:cNvSpPr/>
            <p:nvPr/>
          </p:nvSpPr>
          <p:spPr>
            <a:xfrm>
              <a:off x="7786431" y="3029805"/>
              <a:ext cx="2328530" cy="310470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Comparación del desempeño del agente RL frente a un controlador PID bajo las mismas condiciones de operación.</a:t>
              </a:r>
            </a:p>
            <a:p>
              <a:endPara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ES_tradnl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Criterio de Evaluación:</a:t>
              </a:r>
            </a:p>
            <a:p>
              <a:r>
                <a:rPr lang="es-ES_tradnl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RMSE, comportamiento dinámico y esfuerzo de control.</a:t>
              </a:r>
            </a:p>
          </p:txBody>
        </p:sp>
      </p:grpSp>
      <p:sp>
        <p:nvSpPr>
          <p:cNvPr id="23" name="Pfeil nach rechts 22">
            <a:extLst>
              <a:ext uri="{FF2B5EF4-FFF2-40B4-BE49-F238E27FC236}">
                <a16:creationId xmlns:a16="http://schemas.microsoft.com/office/drawing/2014/main" id="{FAE4AF64-9323-260A-E926-3E865C18E8BE}"/>
              </a:ext>
            </a:extLst>
          </p:cNvPr>
          <p:cNvSpPr/>
          <p:nvPr/>
        </p:nvSpPr>
        <p:spPr>
          <a:xfrm>
            <a:off x="3527164" y="3450294"/>
            <a:ext cx="682577" cy="125235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200" noProof="1"/>
          </a:p>
        </p:txBody>
      </p:sp>
      <p:sp>
        <p:nvSpPr>
          <p:cNvPr id="24" name="Pfeil nach rechts 23">
            <a:extLst>
              <a:ext uri="{FF2B5EF4-FFF2-40B4-BE49-F238E27FC236}">
                <a16:creationId xmlns:a16="http://schemas.microsoft.com/office/drawing/2014/main" id="{6246A7EF-AF08-9982-B12D-DECE8EBDE30D}"/>
              </a:ext>
            </a:extLst>
          </p:cNvPr>
          <p:cNvSpPr/>
          <p:nvPr/>
        </p:nvSpPr>
        <p:spPr>
          <a:xfrm>
            <a:off x="7805014" y="3450294"/>
            <a:ext cx="682577" cy="125235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200" noProof="1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3F57904-2691-08F8-66DA-61977A30B9EC}"/>
              </a:ext>
            </a:extLst>
          </p:cNvPr>
          <p:cNvSpPr/>
          <p:nvPr/>
        </p:nvSpPr>
        <p:spPr>
          <a:xfrm>
            <a:off x="427828" y="5498016"/>
            <a:ext cx="2896601" cy="64907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</a:p>
          <a:p>
            <a:r>
              <a: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del Mejor candidato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22A5846-CD1C-343B-392A-99D0CB197FFA}"/>
              </a:ext>
            </a:extLst>
          </p:cNvPr>
          <p:cNvSpPr/>
          <p:nvPr/>
        </p:nvSpPr>
        <p:spPr>
          <a:xfrm>
            <a:off x="4371730" y="5498016"/>
            <a:ext cx="3276847" cy="64907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</a:p>
          <a:p>
            <a:r>
              <a: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del desempeño y capacidad de generalización del agente.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7BA13B5-F92F-C24C-9248-2427ED12FD6E}"/>
              </a:ext>
            </a:extLst>
          </p:cNvPr>
          <p:cNvSpPr/>
          <p:nvPr/>
        </p:nvSpPr>
        <p:spPr>
          <a:xfrm>
            <a:off x="8690328" y="5498016"/>
            <a:ext cx="3045342" cy="64907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 </a:t>
            </a:r>
          </a:p>
          <a:p>
            <a:r>
              <a:rPr lang="es-ES_tradnl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Determinar la mejora en precisión, estabilidad y eficiencia respecto al control clásico</a:t>
            </a:r>
          </a:p>
        </p:txBody>
      </p:sp>
    </p:spTree>
    <p:extLst>
      <p:ext uri="{BB962C8B-B14F-4D97-AF65-F5344CB8AC3E}">
        <p14:creationId xmlns:p14="http://schemas.microsoft.com/office/powerpoint/2010/main" val="22877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Macintosh PowerPoint</Application>
  <PresentationFormat>Breitbild</PresentationFormat>
  <Paragraphs>29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2026-04-05T06:32:03Z</dcterms:created>
  <dcterms:modified xsi:type="dcterms:W3CDTF">2026-04-05T06:37:20Z</dcterms:modified>
</cp:coreProperties>
</file>