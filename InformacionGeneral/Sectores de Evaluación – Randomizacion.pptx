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2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00D-5E4C-DE4C-9A0C-048887246D97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3E384-9B74-9842-BBCF-D8EB316F1F2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09604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813B-8707-4283-D50E-00791FE9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E68FA04-2699-3BFC-C283-3F8271BED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9FB8022-01C7-D482-4380-1D282326C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B3E68F-ED69-2E32-7F0A-ECF06BF74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84042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F134CC-A989-4B50-3EEE-B36196BB2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33F481-C4F5-8AEF-240F-A48517F4D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81486F-E05D-C985-AD31-ECCA87BC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7F4734-70B9-E049-DC06-699777F41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64A1CD-C28D-FE4C-1E2D-92B32BB85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6971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6724DF-7ACF-7461-DFCD-C4AAF14D1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9D6F11-FA65-0C87-447C-5C1D61CF4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68FE1-6485-0EE5-3F8A-724A1C89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EC66F6-6E47-078A-6B3E-1F8EA4C3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3B7B04-B61B-4F7D-67B9-295483D5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2401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CD7EB3-FE4D-1276-7037-4164B6542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3D61B-8D99-DAF7-BC6A-EF3870A32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527F77-F676-B0A3-FCA5-2A42AB42B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154546-8DD1-7E30-5164-4B7BBFCE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47F662-0497-0CD3-F6EA-05BF94C6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20719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DDD4A5-E617-030A-C61A-2B352AE5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5A3B51-7D73-B99C-33A5-ADD52BAA0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3ED786-E88B-4AC9-458C-8C8796DF9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76D0F2-FBAC-DE14-D7BB-63F1BB2F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5C58F2-9A11-1374-A031-AAA2ACEE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6F54C0-D3CC-B6D7-53F2-2EF0B99B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1267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BB9C2F-AFEB-F8FE-40C2-FC063D4FE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F90A04-24B8-0122-6A90-72EBDAD44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B2891B-45D2-62AA-A2FA-E7774548B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20A420-CFE6-9DC0-4D1C-A7BBABC00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30785BF-1E7C-4DA4-BF86-1F23D7E956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2E819B1-F8F5-AF18-89FA-0757B9F0E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9FC1A5F-DD27-0E62-C21D-90FA4390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CD0395F-49A3-3607-225E-A9E51456E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7112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992070-768C-B3BA-6A5C-B98E9D53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BCA83B-B110-4EFA-B294-26D43DF0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83B89B-2838-A851-0647-F566DE6D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F4E43F-71E3-B755-8415-FF253743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74524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0DE9297-2E5E-ABA0-A7D7-1A5098A7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3C6626-4E6C-4D8E-7650-47E9B6A2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B8F1CA-1E7C-1635-D9E7-A2FD08479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94867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545E17-D469-BBE5-85C5-5B91D4A8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5C503D-7824-98A5-332C-827A472ED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00F38F5-5863-0C9C-E654-D7BFD753B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E0019E-021F-12E7-A1A9-AA148DE51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13171D-2627-8FFC-5B73-95B67783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3F1731-7D71-38F0-B1EE-D0A310EA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4271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87712C-5913-94F8-AEF5-F79F44E5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C42045A-28A9-5116-9DD9-E2D14ABD6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DC4162-1A43-D4BE-C2E3-48F14524D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3B23C1-E7B4-2A6C-1929-CF48724D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5B07BE-E093-4CA3-1C73-E97F1C7C9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87953F-9399-5A9F-682D-E9556891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13741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1E3F0-640C-F426-19EE-926F7603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F82A8A-0C22-3B2B-7F4C-4688F4327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C840F9-BE0D-119B-AE94-90A7623B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6D2B7F-B467-8C46-8C0B-F32BDD82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568C6A-3CE8-0089-8B45-A5E0CC2E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3942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C82F5A1-E43D-75B3-BD25-41FDE1535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C837B49-A956-53C0-F91D-893F3F3B0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574909-C9A1-7C9E-E712-68930EFE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AF8F94-4112-2BC8-445B-C661DC94D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844C4C-41B1-0DB2-56C5-0B0D6DA0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227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2FED02-A04F-857F-1A36-D9B089D33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D3C50A-B9AE-7BD3-C10B-DE55DD680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2456C3-3BF7-37F2-8BAE-EA9A42360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7153E-7B17-9A46-BAA3-A43D2C542641}" type="datetimeFigureOut">
              <a:rPr lang="es-ES_tradnl" smtClean="0"/>
              <a:t>24/3/26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03921E-DC62-3CC6-9452-94CD134E7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B8EFF3-5F84-B595-C658-3E2736B99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6A44D-F18C-F04C-9321-AF763A78189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4824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49E47-F457-CB94-892F-FE4E0F62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83E4693D-C385-DD09-AC2F-7C12AA50489A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CC4344D4-16B0-9B18-B0D1-5E3F72B6E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35E013D-4208-DF4D-93DF-9DFEC56B2FE4}"/>
              </a:ext>
            </a:extLst>
          </p:cNvPr>
          <p:cNvSpPr txBox="1"/>
          <p:nvPr/>
        </p:nvSpPr>
        <p:spPr>
          <a:xfrm>
            <a:off x="278030" y="1359984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 Randomizado en Sectores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E99C01E-3179-15B3-95AF-68047C5ED576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E8B2DA1D-2B4D-4130-8177-619F43C122EB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BBE71031-A536-F2D5-8186-B7732143966B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Sectores de Evaluación – Primera Articulación</a:t>
            </a:r>
          </a:p>
        </p:txBody>
      </p: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73093D76-C3C6-A3F9-B625-8029EE1D3DBD}"/>
              </a:ext>
            </a:extLst>
          </p:cNvPr>
          <p:cNvGrpSpPr/>
          <p:nvPr/>
        </p:nvGrpSpPr>
        <p:grpSpPr>
          <a:xfrm>
            <a:off x="634198" y="2538307"/>
            <a:ext cx="4718228" cy="3385868"/>
            <a:chOff x="767307" y="2362655"/>
            <a:chExt cx="4718228" cy="3385868"/>
          </a:xfrm>
        </p:grpSpPr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F1910E22-AEEE-E42B-DB0D-ED05DFECC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15429" t="14728" r="25176" b="10832"/>
            <a:stretch>
              <a:fillRect/>
            </a:stretch>
          </p:blipFill>
          <p:spPr>
            <a:xfrm>
              <a:off x="1541573" y="3087521"/>
              <a:ext cx="3160138" cy="2281110"/>
            </a:xfrm>
            <a:prstGeom prst="rect">
              <a:avLst/>
            </a:prstGeom>
          </p:spPr>
        </p:pic>
        <p:cxnSp>
          <p:nvCxnSpPr>
            <p:cNvPr id="19" name="Gerade Verbindung 18">
              <a:extLst>
                <a:ext uri="{FF2B5EF4-FFF2-40B4-BE49-F238E27FC236}">
                  <a16:creationId xmlns:a16="http://schemas.microsoft.com/office/drawing/2014/main" id="{E39E5B84-8E40-0942-8F84-3CB63BDB8A2F}"/>
                </a:ext>
              </a:extLst>
            </p:cNvPr>
            <p:cNvCxnSpPr>
              <a:cxnSpLocks/>
            </p:cNvCxnSpPr>
            <p:nvPr/>
          </p:nvCxnSpPr>
          <p:spPr>
            <a:xfrm>
              <a:off x="1625333" y="2779042"/>
              <a:ext cx="3544889" cy="2020145"/>
            </a:xfrm>
            <a:prstGeom prst="line">
              <a:avLst/>
            </a:prstGeom>
            <a:ln w="12700"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20">
              <a:extLst>
                <a:ext uri="{FF2B5EF4-FFF2-40B4-BE49-F238E27FC236}">
                  <a16:creationId xmlns:a16="http://schemas.microsoft.com/office/drawing/2014/main" id="{EDD4601D-E8F5-8381-89C9-C8AF735CE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8803" y="2714022"/>
              <a:ext cx="3028838" cy="2020145"/>
            </a:xfrm>
            <a:prstGeom prst="line">
              <a:avLst/>
            </a:prstGeom>
            <a:ln w="12700"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ogen 29">
              <a:extLst>
                <a:ext uri="{FF2B5EF4-FFF2-40B4-BE49-F238E27FC236}">
                  <a16:creationId xmlns:a16="http://schemas.microsoft.com/office/drawing/2014/main" id="{6CE44967-B0F4-5439-8974-434F4DA708B8}"/>
                </a:ext>
              </a:extLst>
            </p:cNvPr>
            <p:cNvSpPr/>
            <p:nvPr/>
          </p:nvSpPr>
          <p:spPr>
            <a:xfrm rot="11705331">
              <a:off x="1253624" y="4492240"/>
              <a:ext cx="390359" cy="367693"/>
            </a:xfrm>
            <a:prstGeom prst="arc">
              <a:avLst>
                <a:gd name="adj1" fmla="val 14634702"/>
                <a:gd name="adj2" fmla="val 0"/>
              </a:avLst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31" name="Bogen 30">
              <a:extLst>
                <a:ext uri="{FF2B5EF4-FFF2-40B4-BE49-F238E27FC236}">
                  <a16:creationId xmlns:a16="http://schemas.microsoft.com/office/drawing/2014/main" id="{93BB60F2-C9E0-8735-E5A6-2E5C56BEF8C7}"/>
                </a:ext>
              </a:extLst>
            </p:cNvPr>
            <p:cNvSpPr/>
            <p:nvPr/>
          </p:nvSpPr>
          <p:spPr>
            <a:xfrm rot="16503148">
              <a:off x="1388273" y="2628042"/>
              <a:ext cx="390359" cy="367693"/>
            </a:xfrm>
            <a:prstGeom prst="arc">
              <a:avLst>
                <a:gd name="adj1" fmla="val 14634702"/>
                <a:gd name="adj2" fmla="val 0"/>
              </a:avLst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32" name="Bogen 31">
              <a:extLst>
                <a:ext uri="{FF2B5EF4-FFF2-40B4-BE49-F238E27FC236}">
                  <a16:creationId xmlns:a16="http://schemas.microsoft.com/office/drawing/2014/main" id="{43ED0F73-239B-52CA-DC5F-E348A936BCB1}"/>
                </a:ext>
              </a:extLst>
            </p:cNvPr>
            <p:cNvSpPr/>
            <p:nvPr/>
          </p:nvSpPr>
          <p:spPr>
            <a:xfrm rot="403624">
              <a:off x="4242405" y="2558701"/>
              <a:ext cx="390359" cy="367693"/>
            </a:xfrm>
            <a:prstGeom prst="arc">
              <a:avLst>
                <a:gd name="adj1" fmla="val 14634702"/>
                <a:gd name="adj2" fmla="val 0"/>
              </a:avLst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33" name="Bogen 32">
              <a:extLst>
                <a:ext uri="{FF2B5EF4-FFF2-40B4-BE49-F238E27FC236}">
                  <a16:creationId xmlns:a16="http://schemas.microsoft.com/office/drawing/2014/main" id="{227D8012-929B-6374-0C2D-A540652ACA39}"/>
                </a:ext>
              </a:extLst>
            </p:cNvPr>
            <p:cNvSpPr/>
            <p:nvPr/>
          </p:nvSpPr>
          <p:spPr>
            <a:xfrm rot="5400000">
              <a:off x="4948276" y="4615340"/>
              <a:ext cx="390359" cy="367693"/>
            </a:xfrm>
            <a:prstGeom prst="arc">
              <a:avLst>
                <a:gd name="adj1" fmla="val 14634702"/>
                <a:gd name="adj2" fmla="val 0"/>
              </a:avLst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8A1B58CA-2D8F-F183-BAC9-54E38EFFDA2A}"/>
                    </a:ext>
                  </a:extLst>
                </p:cNvPr>
                <p:cNvSpPr txBox="1"/>
                <p:nvPr/>
              </p:nvSpPr>
              <p:spPr>
                <a:xfrm>
                  <a:off x="2692629" y="3267358"/>
                  <a:ext cx="858026" cy="646331"/>
                </a:xfrm>
                <a:prstGeom prst="rect">
                  <a:avLst/>
                </a:prstGeom>
                <a:solidFill>
                  <a:srgbClr val="E6E6E6">
                    <a:alpha val="38824"/>
                  </a:srgbClr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sz="3600" b="1" i="1" noProof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3600" b="1" i="1" noProof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s-ES_tradnl" sz="3600" b="1" noProof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s-ES_tradnl" sz="3600" b="1" noProof="1"/>
                </a:p>
              </p:txBody>
            </p:sp>
          </mc:Choice>
          <mc:Fallback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8A1B58CA-2D8F-F183-BAC9-54E38EFFDA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629" y="3267358"/>
                  <a:ext cx="858026" cy="646331"/>
                </a:xfrm>
                <a:prstGeom prst="rect">
                  <a:avLst/>
                </a:prstGeom>
                <a:blipFill>
                  <a:blip r:embed="rId6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4919C8F5-0325-0242-E87F-E3E0DAA946E9}"/>
                </a:ext>
              </a:extLst>
            </p:cNvPr>
            <p:cNvSpPr txBox="1"/>
            <p:nvPr/>
          </p:nvSpPr>
          <p:spPr>
            <a:xfrm>
              <a:off x="4627509" y="3476230"/>
              <a:ext cx="858026" cy="400110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20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73E39006-B0F9-17B8-E35F-4066EC97780D}"/>
                </a:ext>
              </a:extLst>
            </p:cNvPr>
            <p:cNvSpPr txBox="1"/>
            <p:nvPr/>
          </p:nvSpPr>
          <p:spPr>
            <a:xfrm>
              <a:off x="2502651" y="2362655"/>
              <a:ext cx="858026" cy="400110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20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CF322FE4-1D20-5478-EDDA-EBB51154C918}"/>
                </a:ext>
              </a:extLst>
            </p:cNvPr>
            <p:cNvSpPr txBox="1"/>
            <p:nvPr/>
          </p:nvSpPr>
          <p:spPr>
            <a:xfrm>
              <a:off x="767307" y="3435390"/>
              <a:ext cx="858026" cy="400110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20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S3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200B88E9-7FDA-B0FB-BF02-A40C3C46B7CB}"/>
                </a:ext>
              </a:extLst>
            </p:cNvPr>
            <p:cNvSpPr txBox="1"/>
            <p:nvPr/>
          </p:nvSpPr>
          <p:spPr>
            <a:xfrm>
              <a:off x="2562746" y="5348413"/>
              <a:ext cx="858026" cy="400110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20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S4</a:t>
              </a:r>
            </a:p>
          </p:txBody>
        </p:sp>
      </p:grpSp>
      <p:sp>
        <p:nvSpPr>
          <p:cNvPr id="5" name="Textfeld 4">
            <a:extLst>
              <a:ext uri="{FF2B5EF4-FFF2-40B4-BE49-F238E27FC236}">
                <a16:creationId xmlns:a16="http://schemas.microsoft.com/office/drawing/2014/main" id="{63208F6B-4507-3D61-E02F-7F7E3234CA3F}"/>
              </a:ext>
            </a:extLst>
          </p:cNvPr>
          <p:cNvSpPr txBox="1"/>
          <p:nvPr/>
        </p:nvSpPr>
        <p:spPr>
          <a:xfrm>
            <a:off x="-844952" y="27200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0F2CF0F-EB8E-DCE5-C7ED-BEE536A11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3CABB43-CD5E-D1A3-A25C-652D8166F829}"/>
              </a:ext>
            </a:extLst>
          </p:cNvPr>
          <p:cNvGrpSpPr/>
          <p:nvPr/>
        </p:nvGrpSpPr>
        <p:grpSpPr>
          <a:xfrm>
            <a:off x="5906195" y="2748915"/>
            <a:ext cx="5651609" cy="3301709"/>
            <a:chOff x="6028801" y="3662125"/>
            <a:chExt cx="5651609" cy="330170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E6734C53-2CA9-B0C3-CA15-1A3D60C4D01A}"/>
                </a:ext>
              </a:extLst>
            </p:cNvPr>
            <p:cNvSpPr txBox="1"/>
            <p:nvPr/>
          </p:nvSpPr>
          <p:spPr>
            <a:xfrm>
              <a:off x="6028801" y="3662125"/>
              <a:ext cx="25205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200" noProof="1"/>
                <a:t>Dominio Angular: </a:t>
              </a:r>
              <a:r>
                <a:rPr lang="es-ES_tradnl" sz="1200" noProof="1">
                  <a:latin typeface="Cambria Math" panose="02040503050406030204" pitchFamily="18" charset="0"/>
                </a:rPr>
                <a:t>[-180°, 180°]</a:t>
              </a:r>
              <a:endParaRPr lang="es-ES_tradnl" sz="1200" noProof="1"/>
            </a:p>
          </p:txBody>
        </p:sp>
        <p:cxnSp>
          <p:nvCxnSpPr>
            <p:cNvPr id="43" name="Gerade Verbindung 42">
              <a:extLst>
                <a:ext uri="{FF2B5EF4-FFF2-40B4-BE49-F238E27FC236}">
                  <a16:creationId xmlns:a16="http://schemas.microsoft.com/office/drawing/2014/main" id="{5811B77B-8A20-7DBE-E726-E6E8BC25F9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523" y="4231241"/>
              <a:ext cx="4805005" cy="226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A6680118-189C-964F-7F7F-63B4067AC485}"/>
                </a:ext>
              </a:extLst>
            </p:cNvPr>
            <p:cNvSpPr txBox="1"/>
            <p:nvPr/>
          </p:nvSpPr>
          <p:spPr>
            <a:xfrm>
              <a:off x="7373629" y="4278091"/>
              <a:ext cx="1102177" cy="307777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14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26CE08C0-11B3-3D97-2F8F-ED46B5003F48}"/>
                </a:ext>
              </a:extLst>
            </p:cNvPr>
            <p:cNvSpPr txBox="1"/>
            <p:nvPr/>
          </p:nvSpPr>
          <p:spPr>
            <a:xfrm>
              <a:off x="6170398" y="4293000"/>
              <a:ext cx="1098418" cy="307777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14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5B91D1B-2C27-1BD8-EA1F-28EBC71CA01A}"/>
                </a:ext>
              </a:extLst>
            </p:cNvPr>
            <p:cNvSpPr txBox="1"/>
            <p:nvPr/>
          </p:nvSpPr>
          <p:spPr>
            <a:xfrm>
              <a:off x="8557396" y="4293000"/>
              <a:ext cx="1137382" cy="307777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14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S4</a:t>
              </a:r>
            </a:p>
          </p:txBody>
        </p: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831C4942-588D-9F8F-A84C-22D828280592}"/>
                </a:ext>
              </a:extLst>
            </p:cNvPr>
            <p:cNvSpPr txBox="1"/>
            <p:nvPr/>
          </p:nvSpPr>
          <p:spPr>
            <a:xfrm>
              <a:off x="9774974" y="4293000"/>
              <a:ext cx="1126787" cy="307777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14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S3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feld 66">
                  <a:extLst>
                    <a:ext uri="{FF2B5EF4-FFF2-40B4-BE49-F238E27FC236}">
                      <a16:creationId xmlns:a16="http://schemas.microsoft.com/office/drawing/2014/main" id="{E4020332-0E67-6D41-6B5D-04071D88A649}"/>
                    </a:ext>
                  </a:extLst>
                </p:cNvPr>
                <p:cNvSpPr txBox="1"/>
                <p:nvPr/>
              </p:nvSpPr>
              <p:spPr>
                <a:xfrm>
                  <a:off x="6123563" y="4027207"/>
                  <a:ext cx="1145253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_tradnl" sz="1000" i="1" noProof="1" dirty="0">
                            <a:latin typeface="Cambria Math" panose="02040503050406030204" pitchFamily="18" charset="0"/>
                          </a:rPr>
                          <m:t>180°≤</m:t>
                        </m:r>
                        <m:sSub>
                          <m:sSubPr>
                            <m:ctrlPr>
                              <a:rPr lang="es-ES_tradnl" sz="1000" i="1" noProof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1000" i="1" noProof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s-ES_tradnl" sz="1000" i="1" noProof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_tradnl" sz="1000" i="1" noProof="1" dirty="0">
                            <a:latin typeface="Cambria Math" panose="02040503050406030204" pitchFamily="18" charset="0"/>
                          </a:rPr>
                          <m:t>≤90°</m:t>
                        </m:r>
                      </m:oMath>
                    </m:oMathPara>
                  </a14:m>
                  <a:endParaRPr lang="es-ES_tradnl" sz="1000" i="1" noProof="1"/>
                </a:p>
              </p:txBody>
            </p:sp>
          </mc:Choice>
          <mc:Fallback>
            <p:sp>
              <p:nvSpPr>
                <p:cNvPr id="67" name="Textfeld 66">
                  <a:extLst>
                    <a:ext uri="{FF2B5EF4-FFF2-40B4-BE49-F238E27FC236}">
                      <a16:creationId xmlns:a16="http://schemas.microsoft.com/office/drawing/2014/main" id="{E4020332-0E67-6D41-6B5D-04071D88A6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3563" y="4027207"/>
                  <a:ext cx="1145253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feld 67">
                  <a:extLst>
                    <a:ext uri="{FF2B5EF4-FFF2-40B4-BE49-F238E27FC236}">
                      <a16:creationId xmlns:a16="http://schemas.microsoft.com/office/drawing/2014/main" id="{7DBFF46E-4D2B-55C6-E795-942C865243B8}"/>
                    </a:ext>
                  </a:extLst>
                </p:cNvPr>
                <p:cNvSpPr txBox="1"/>
                <p:nvPr/>
              </p:nvSpPr>
              <p:spPr>
                <a:xfrm>
                  <a:off x="7373630" y="4027207"/>
                  <a:ext cx="972242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_tradnl" sz="1000" i="1" noProof="1" dirty="0">
                            <a:latin typeface="Cambria Math" panose="02040503050406030204" pitchFamily="18" charset="0"/>
                          </a:rPr>
                          <m:t>90°&lt;</m:t>
                        </m:r>
                        <m:sSub>
                          <m:sSubPr>
                            <m:ctrlPr>
                              <a:rPr lang="es-ES_tradnl" sz="1000" i="1" noProof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1000" i="1" noProof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s-ES_tradnl" sz="1000" i="1" noProof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_tradnl" sz="1000" i="1" noProof="1" dirty="0">
                            <a:latin typeface="Cambria Math" panose="02040503050406030204" pitchFamily="18" charset="0"/>
                          </a:rPr>
                          <m:t>≤0°</m:t>
                        </m:r>
                      </m:oMath>
                    </m:oMathPara>
                  </a14:m>
                  <a:endParaRPr lang="es-ES_tradnl" sz="1000" i="1" noProof="1"/>
                </a:p>
              </p:txBody>
            </p:sp>
          </mc:Choice>
          <mc:Fallback>
            <p:sp>
              <p:nvSpPr>
                <p:cNvPr id="68" name="Textfeld 67">
                  <a:extLst>
                    <a:ext uri="{FF2B5EF4-FFF2-40B4-BE49-F238E27FC236}">
                      <a16:creationId xmlns:a16="http://schemas.microsoft.com/office/drawing/2014/main" id="{7DBFF46E-4D2B-55C6-E795-942C86524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3630" y="4027207"/>
                  <a:ext cx="972242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31746555-06E7-FBA0-4271-716BBE470C28}"/>
                    </a:ext>
                  </a:extLst>
                </p:cNvPr>
                <p:cNvSpPr txBox="1"/>
                <p:nvPr/>
              </p:nvSpPr>
              <p:spPr>
                <a:xfrm>
                  <a:off x="8549390" y="4032330"/>
                  <a:ext cx="10696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  <a:lvl1pPr>
                    <a:defRPr sz="1100" b="0" i="1"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_tradnl" sz="1000" noProof="1" dirty="0"/>
                          <m:t>0°&gt;</m:t>
                        </m:r>
                        <m:sSub>
                          <m:sSubPr>
                            <m:ctrlPr>
                              <a:rPr lang="es-ES_tradnl" sz="1000" noProof="1" dirty="0"/>
                            </m:ctrlPr>
                          </m:sSubPr>
                          <m:e>
                            <m:r>
                              <a:rPr lang="es-ES_tradnl" sz="1000" noProof="1" dirty="0"/>
                              <m:t>𝜃</m:t>
                            </m:r>
                          </m:e>
                          <m:sub>
                            <m:r>
                              <a:rPr lang="es-ES_tradnl" sz="1000" noProof="1" dirty="0"/>
                              <m:t>1</m:t>
                            </m:r>
                          </m:sub>
                        </m:sSub>
                        <m:r>
                          <a:rPr lang="es-ES_tradnl" sz="1000" noProof="1" dirty="0"/>
                          <m:t>≥−90°</m:t>
                        </m:r>
                      </m:oMath>
                    </m:oMathPara>
                  </a14:m>
                  <a:endParaRPr lang="es-ES_tradnl" sz="1000" noProof="1"/>
                </a:p>
              </p:txBody>
            </p:sp>
          </mc:Choice>
          <mc:Fallback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31746555-06E7-FBA0-4271-716BBE470C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9390" y="4032330"/>
                  <a:ext cx="1069607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D6169195-E9F4-FDFC-BEC1-4ACE4486881D}"/>
                    </a:ext>
                  </a:extLst>
                </p:cNvPr>
                <p:cNvSpPr txBox="1"/>
                <p:nvPr/>
              </p:nvSpPr>
              <p:spPr>
                <a:xfrm>
                  <a:off x="9698622" y="4024646"/>
                  <a:ext cx="1285991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  <a:lvl1pPr>
                    <a:defRPr sz="1100" b="0" i="1"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_tradnl" sz="1000" noProof="1" dirty="0"/>
                          <m:t>−90°&gt;</m:t>
                        </m:r>
                        <m:sSub>
                          <m:sSubPr>
                            <m:ctrlPr>
                              <a:rPr lang="es-ES_tradnl" sz="1000" noProof="1" dirty="0"/>
                            </m:ctrlPr>
                          </m:sSubPr>
                          <m:e>
                            <m:r>
                              <a:rPr lang="es-ES_tradnl" sz="1000" noProof="1" dirty="0"/>
                              <m:t>𝜃</m:t>
                            </m:r>
                          </m:e>
                          <m:sub>
                            <m:r>
                              <a:rPr lang="es-ES_tradnl" sz="1000" noProof="1" dirty="0"/>
                              <m:t>1</m:t>
                            </m:r>
                          </m:sub>
                        </m:sSub>
                        <m:r>
                          <a:rPr lang="es-ES_tradnl" sz="1000" noProof="1" dirty="0"/>
                          <m:t>≥−180°</m:t>
                        </m:r>
                      </m:oMath>
                    </m:oMathPara>
                  </a14:m>
                  <a:endParaRPr lang="es-ES_tradnl" sz="1000" noProof="1"/>
                </a:p>
              </p:txBody>
            </p:sp>
          </mc:Choice>
          <mc:Fallback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D6169195-E9F4-FDFC-BEC1-4ACE44868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8622" y="4024646"/>
                  <a:ext cx="1285991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Gerade Verbindung 74">
              <a:extLst>
                <a:ext uri="{FF2B5EF4-FFF2-40B4-BE49-F238E27FC236}">
                  <a16:creationId xmlns:a16="http://schemas.microsoft.com/office/drawing/2014/main" id="{92D8F1C2-CF7A-2C82-4641-F329D6744637}"/>
                </a:ext>
              </a:extLst>
            </p:cNvPr>
            <p:cNvCxnSpPr/>
            <p:nvPr/>
          </p:nvCxnSpPr>
          <p:spPr>
            <a:xfrm>
              <a:off x="6131523" y="4155441"/>
              <a:ext cx="0" cy="212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 Verbindung 75">
              <a:extLst>
                <a:ext uri="{FF2B5EF4-FFF2-40B4-BE49-F238E27FC236}">
                  <a16:creationId xmlns:a16="http://schemas.microsoft.com/office/drawing/2014/main" id="{54CA5044-472D-7E92-B3DA-FAD99C62913B}"/>
                </a:ext>
              </a:extLst>
            </p:cNvPr>
            <p:cNvCxnSpPr/>
            <p:nvPr/>
          </p:nvCxnSpPr>
          <p:spPr>
            <a:xfrm>
              <a:off x="10944488" y="4126588"/>
              <a:ext cx="0" cy="212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 Verbindung 76">
              <a:extLst>
                <a:ext uri="{FF2B5EF4-FFF2-40B4-BE49-F238E27FC236}">
                  <a16:creationId xmlns:a16="http://schemas.microsoft.com/office/drawing/2014/main" id="{C58EA2DB-826C-8873-04C8-00E6BD03B041}"/>
                </a:ext>
              </a:extLst>
            </p:cNvPr>
            <p:cNvCxnSpPr/>
            <p:nvPr/>
          </p:nvCxnSpPr>
          <p:spPr>
            <a:xfrm>
              <a:off x="8518521" y="4147757"/>
              <a:ext cx="0" cy="212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 Verbindung 77">
              <a:extLst>
                <a:ext uri="{FF2B5EF4-FFF2-40B4-BE49-F238E27FC236}">
                  <a16:creationId xmlns:a16="http://schemas.microsoft.com/office/drawing/2014/main" id="{73FDE910-4DD8-138B-8DA7-3629B9A41199}"/>
                </a:ext>
              </a:extLst>
            </p:cNvPr>
            <p:cNvCxnSpPr/>
            <p:nvPr/>
          </p:nvCxnSpPr>
          <p:spPr>
            <a:xfrm>
              <a:off x="7325544" y="4148118"/>
              <a:ext cx="0" cy="212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 Verbindung 78">
              <a:extLst>
                <a:ext uri="{FF2B5EF4-FFF2-40B4-BE49-F238E27FC236}">
                  <a16:creationId xmlns:a16="http://schemas.microsoft.com/office/drawing/2014/main" id="{F0251900-97CF-5BC8-2A23-26886F63B3F2}"/>
                </a:ext>
              </a:extLst>
            </p:cNvPr>
            <p:cNvCxnSpPr/>
            <p:nvPr/>
          </p:nvCxnSpPr>
          <p:spPr>
            <a:xfrm>
              <a:off x="9737496" y="4147757"/>
              <a:ext cx="0" cy="212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9728F6E6-CCF1-5196-649B-E36CD7F42FC8}"/>
                </a:ext>
              </a:extLst>
            </p:cNvPr>
            <p:cNvSpPr txBox="1"/>
            <p:nvPr/>
          </p:nvSpPr>
          <p:spPr>
            <a:xfrm>
              <a:off x="6076266" y="5024842"/>
              <a:ext cx="560414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200" noProof="1"/>
                <a:t>Sector Angular:</a:t>
              </a:r>
            </a:p>
            <a:p>
              <a:r>
                <a:rPr lang="es-ES_tradnl" sz="1200" noProof="1"/>
                <a:t>S1:  S1/6  = S11= (0°,15°), S12=(15°,30°),… , …. , S16=  (75°,90°)</a:t>
              </a:r>
            </a:p>
            <a:p>
              <a:r>
                <a:rPr lang="es-ES_tradnl" sz="1200" noProof="1"/>
                <a:t>S2:  S1/6  = S21= (90°,105°), S12=(105°,120°), … , …. , S16=  (175°,180°)</a:t>
              </a:r>
            </a:p>
            <a:p>
              <a:r>
                <a:rPr lang="es-ES_tradnl" sz="1200" noProof="1"/>
                <a:t>S3:  S1/6  = S31= (-90°,-105°), S32=(-105°,-120°), … , …. , S36=  (-175°,-180°)</a:t>
              </a:r>
            </a:p>
            <a:p>
              <a:r>
                <a:rPr lang="es-ES_tradnl" sz="1200" noProof="1"/>
                <a:t>S4:  S1/6  = S41= (0°,-15°), S42=(-15°,-30°),… , …. , S46=  (-75°,-90°)</a:t>
              </a:r>
            </a:p>
            <a:p>
              <a:endParaRPr lang="es-ES_tradnl" sz="1200" noProof="1"/>
            </a:p>
            <a:p>
              <a:endPara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s-ES_tradnl" sz="12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Para mejorar la generalización del desempeño del agente, </a:t>
              </a:r>
              <a:r>
                <a:rPr lang="es-ES_tradnl" sz="1200" b="1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 divide el dominio angular en sectores y subsectores para asegurar una cobertura homogénea </a:t>
              </a:r>
              <a:r>
                <a:rPr lang="es-ES_tradnl" sz="12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 todo el espacio de trabajo durante la Randomizacion en el entrenamiento.</a:t>
              </a:r>
            </a:p>
          </p:txBody>
        </p:sp>
      </p:grp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833927B-F262-BB52-E9F0-11D8C43F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884" y="6356350"/>
            <a:ext cx="11618600" cy="365125"/>
          </a:xfrm>
        </p:spPr>
        <p:txBody>
          <a:bodyPr/>
          <a:lstStyle/>
          <a:p>
            <a:r>
              <a:rPr lang="de-D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</a:t>
            </a:r>
            <a:r>
              <a:rPr lang="de-DE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Inteligencia</a:t>
            </a:r>
            <a:r>
              <a:rPr lang="de-D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lang="de-D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Control Monoarticular </a:t>
            </a:r>
            <a:r>
              <a:rPr lang="de-DE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aplicado</a:t>
            </a:r>
            <a:r>
              <a:rPr lang="de-D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de-DE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manipuladores</a:t>
            </a:r>
            <a:r>
              <a:rPr lang="de-D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móviles</a:t>
            </a:r>
            <a:r>
              <a:rPr lang="de-D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utilizando</a:t>
            </a:r>
            <a:r>
              <a:rPr lang="de-D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aprendizaje</a:t>
            </a:r>
            <a:r>
              <a:rPr lang="de-D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  <a:r>
              <a:rPr lang="de-D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refuerzo</a:t>
            </a:r>
            <a:r>
              <a:rPr lang="de-D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310146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Macintosh PowerPoint</Application>
  <PresentationFormat>Breitbild</PresentationFormat>
  <Paragraphs>26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2026-03-24T18:59:13Z</dcterms:created>
  <dcterms:modified xsi:type="dcterms:W3CDTF">2026-03-24T18:59:48Z</dcterms:modified>
</cp:coreProperties>
</file>