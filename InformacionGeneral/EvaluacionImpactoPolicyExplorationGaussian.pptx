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651" r:id="rId2"/>
    <p:sldId id="310" r:id="rId3"/>
    <p:sldId id="652" r:id="rId4"/>
    <p:sldId id="658" r:id="rId5"/>
    <p:sldId id="659" r:id="rId6"/>
    <p:sldId id="660" r:id="rId7"/>
    <p:sldId id="661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35"/>
  </p:normalViewPr>
  <p:slideViewPr>
    <p:cSldViewPr snapToGrid="0">
      <p:cViewPr varScale="1">
        <p:scale>
          <a:sx n="115" d="100"/>
          <a:sy n="115" d="100"/>
        </p:scale>
        <p:origin x="60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9FA5FC-7DC2-E649-A4D1-E28DF69652A3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A54D6-13B4-A943-B40D-A5C4D3C60E7E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97144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49B4B-493E-2531-51CA-C74E50B3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85A16D9-9839-C6C1-2DF0-0D344C86AE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8312F90-58DC-E182-4BD7-27B831D422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AAB5F21-93F3-86B1-B590-6700509B74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6576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73788-6FB9-3039-F433-3553709BC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258A91D-3DDF-AC2A-BD58-C8772437A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  <p:txBody>
          <a:bodyPr/>
          <a:lstStyle/>
          <a:p>
            <a:endParaRPr lang="es-ES_tradnl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22C7BAE-DA2C-375A-8029-DEAEB4E43B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69FF53-0C7B-EAFE-A714-64A415BA2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4785C0-5D3C-044C-86BD-FEC1FEF91D7D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91020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6347D-F24A-D2BB-C435-D2FAB3C49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9978C28-11A8-4017-5327-481ADAE001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1767F57-4A47-7C97-AE66-6148FD9E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B4671D0-0585-78EF-3D07-8D6966065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A9D9A1-72E0-7DA7-3887-F26DBC2B1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2277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78A9F5-D99B-3390-712C-9E53CFC44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CCAF91-872F-6D63-0F42-7F4E538AB4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74ECF4-3995-8D91-50BE-ABB7B4A35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4FFE68-FA73-054C-63FA-058380FD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F2F44EC-FA69-B7DA-5965-EBA24B763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63702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CAD79D-F967-59D6-5D52-CA102FD78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883F503-7DA0-DE7B-4307-2EB695591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1CB0F8E-85AC-38BE-5F15-7E50DAD18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14BA7FB-877D-5BF1-0A85-72B5D23B2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198D7BE-7CDB-E053-C81E-F3F985B21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2764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55EC6F-7168-4EAB-D111-2060E07F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D38CCD-BDC0-E46E-BC16-2E6BEF987F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9DD157C-55D1-20DB-61D9-6434579AA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417B678-EB10-C0BC-3BAB-8296DB75F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91C0CE-BFA4-F28E-9199-67490AAB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38A227-6ED8-EE8C-B459-326743D6E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06482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FCE612-79E1-A7DE-4DC8-E1E6185C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9FD62A1-A861-3A00-B7A7-59416486A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FB2499-DA36-D009-0D30-C449F495C6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7294AF0-C4AC-3789-CB31-7B8038A02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4771C9F-7876-702E-E067-AB7660288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3471C36-404F-CF7A-CFBD-9CE60DBA5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4C51D2C-A641-5283-4261-51A5DB45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7B47EE9-A380-75F4-B5BE-37AEBC43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0804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A6DFED-D647-BA0F-EF5F-70A64D975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9EE4E20-68BC-901E-42CD-E5A89D6EA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8F5C395-94CB-8467-81EA-7D3853A2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F4E3704-F431-6816-CA9E-C2727738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19416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F6DC643-84DC-C364-8F16-83309C10D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A226611-AD36-D548-9F17-ED2EC213E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C327A59-39D4-E194-2988-EFAD0189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296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95AADD-6358-1B26-BE8D-0D13C7612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2F2EC5-2CA8-1E54-1AE9-BA22A36C15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A98FBB3-1544-E97E-7C94-3F7BAF2E01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58007AE-7D20-CAD6-194D-5B7949924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132CB5-32FE-1938-929F-203B33507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0DE14C-C2D4-2054-80C0-636CDEDAC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195248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E00909-598B-DF99-D5BD-BD72EB6B6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B360BA7-3D53-C6E2-091F-F93F17B29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CB9EF4A-9F79-A52E-02DC-ABDDCE34E4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D74B66A-C173-426E-94A4-BF86898A9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1EA8FC6-03F0-1804-6EF2-78475E2EF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211CAAA-5919-3B71-A43D-6194AB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1918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039194-C217-FBFF-9425-EB8859F8B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72785C7-5C92-4682-8B24-5D49059201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D5453CC-3CC3-9282-6507-BB59FD4B4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2FE984-F55F-EFF0-71FC-A4A9AFC37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071D97E-9840-4403-DD48-3D5B6AE4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46229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3126156-977F-3049-E053-C57CCBF4DE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3AE934C-2341-5183-E3F5-AFAD6AAB5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B6B0EB-45C1-219D-7BBD-0A2D7861F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2CC82E-53F2-38AF-6830-E9DCCD68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759182-1359-91F7-C05F-29624613E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682158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RAVAPRENDIZA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3">
            <a:extLst>
              <a:ext uri="{FF2B5EF4-FFF2-40B4-BE49-F238E27FC236}">
                <a16:creationId xmlns:a16="http://schemas.microsoft.com/office/drawing/2014/main" id="{A2703B11-D662-0761-2C28-295674204D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9727159" y="198437"/>
            <a:ext cx="1732790" cy="86639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FB04077B-F64E-73B0-DB6F-6D6069A174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5429" t="14728" r="25176" b="10832"/>
          <a:stretch>
            <a:fillRect/>
          </a:stretch>
        </p:blipFill>
        <p:spPr>
          <a:xfrm>
            <a:off x="10640054" y="1307035"/>
            <a:ext cx="1465024" cy="1057511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5D959E84-1BDC-3415-5E5F-2481B8EF4336}"/>
              </a:ext>
            </a:extLst>
          </p:cNvPr>
          <p:cNvSpPr/>
          <p:nvPr userDrawn="1"/>
        </p:nvSpPr>
        <p:spPr>
          <a:xfrm>
            <a:off x="-3818" y="-7818"/>
            <a:ext cx="12195818" cy="976185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sz="1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41B35AC-5FD2-0498-0C0B-3C9BC3F79BD3}"/>
              </a:ext>
            </a:extLst>
          </p:cNvPr>
          <p:cNvSpPr txBox="1"/>
          <p:nvPr userDrawn="1"/>
        </p:nvSpPr>
        <p:spPr>
          <a:xfrm>
            <a:off x="374790" y="256347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Evaluación del Aprendizaje</a:t>
            </a:r>
          </a:p>
        </p:txBody>
      </p:sp>
      <p:sp>
        <p:nvSpPr>
          <p:cNvPr id="29" name="Inhaltsplatzhalter 28">
            <a:extLst>
              <a:ext uri="{FF2B5EF4-FFF2-40B4-BE49-F238E27FC236}">
                <a16:creationId xmlns:a16="http://schemas.microsoft.com/office/drawing/2014/main" id="{529551D1-5D3F-5303-A7C7-338F40CEA02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6235" y="2636555"/>
            <a:ext cx="5260975" cy="3454400"/>
          </a:xfrm>
        </p:spPr>
        <p:txBody>
          <a:bodyPr/>
          <a:lstStyle>
            <a:lvl1pPr algn="l">
              <a:buNone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algn="l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s-ES_tradnl" dirty="0"/>
          </a:p>
        </p:txBody>
      </p:sp>
      <p:cxnSp>
        <p:nvCxnSpPr>
          <p:cNvPr id="2" name="Gerade Verbindung 1">
            <a:extLst>
              <a:ext uri="{FF2B5EF4-FFF2-40B4-BE49-F238E27FC236}">
                <a16:creationId xmlns:a16="http://schemas.microsoft.com/office/drawing/2014/main" id="{C9FA80AC-474F-A8AF-0BBA-9AB82BAAA43A}"/>
              </a:ext>
            </a:extLst>
          </p:cNvPr>
          <p:cNvCxnSpPr>
            <a:cxnSpLocks/>
          </p:cNvCxnSpPr>
          <p:nvPr userDrawn="1"/>
        </p:nvCxnSpPr>
        <p:spPr>
          <a:xfrm>
            <a:off x="520862" y="1850693"/>
            <a:ext cx="9945312" cy="0"/>
          </a:xfrm>
          <a:prstGeom prst="line">
            <a:avLst/>
          </a:prstGeom>
          <a:ln w="9525">
            <a:solidFill>
              <a:schemeClr val="bg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platzhalter 23">
            <a:extLst>
              <a:ext uri="{FF2B5EF4-FFF2-40B4-BE49-F238E27FC236}">
                <a16:creationId xmlns:a16="http://schemas.microsoft.com/office/drawing/2014/main" id="{06C3DDAC-8DFE-9B03-74E8-A4BE68B3930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862" y="1446792"/>
            <a:ext cx="6994505" cy="449263"/>
          </a:xfrm>
        </p:spPr>
        <p:txBody>
          <a:bodyPr/>
          <a:lstStyle>
            <a:lvl1pPr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s-ES_tradnl" sz="20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nlinebild-Platzhalter 4">
            <a:extLst>
              <a:ext uri="{FF2B5EF4-FFF2-40B4-BE49-F238E27FC236}">
                <a16:creationId xmlns:a16="http://schemas.microsoft.com/office/drawing/2014/main" id="{C1E1E36D-5A9D-D8DD-682D-7CF8D7D21B6C}"/>
              </a:ext>
            </a:extLst>
          </p:cNvPr>
          <p:cNvSpPr>
            <a:spLocks noGrp="1"/>
          </p:cNvSpPr>
          <p:nvPr>
            <p:ph type="clipArt" sz="quarter" idx="15"/>
          </p:nvPr>
        </p:nvSpPr>
        <p:spPr>
          <a:xfrm>
            <a:off x="374650" y="2636838"/>
            <a:ext cx="5991426" cy="3278187"/>
          </a:xfrm>
        </p:spPr>
        <p:txBody>
          <a:bodyPr/>
          <a:lstStyle/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31197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579B0CF6-AA9B-0CAA-FD29-4598FA227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s-ES_tradnl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F996DFF-9B8E-0525-239C-FA64A733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s-ES_tradnl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4B0F52-303D-D2CD-241F-F0B24C583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B6566-C3DE-6542-824F-BBC5D3DDEFEA}" type="datetimeFigureOut">
              <a:rPr lang="es-ES_tradnl" smtClean="0"/>
              <a:t>29/3/26</a:t>
            </a:fld>
            <a:endParaRPr lang="es-ES_tradnl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7B8C45-1DBD-532F-4737-A30379B4D4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79CAA6B-0B5D-8748-79BB-9B09A8D468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1EAE45-1528-AA47-AC40-B6EDBEA3BAB5}" type="slidenum">
              <a:rPr lang="es-ES_tradnl" smtClean="0"/>
              <a:t>‹Nr.›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8521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2C10D-C6EE-81D1-A801-E03A05E9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C56C691F-E7EE-9365-239D-A38133110F5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Agente1000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1A09F547-6A74-FAD1-4FC0-CC4F06ABB862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1218279451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-1244.15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-1251.75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-941.684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1A09F547-6A74-FAD1-4FC0-CC4F06ABB862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1218279451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-1244.15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-1251.75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-941.684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9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0.3162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1.9187e-06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0.1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Onlinebild-Platzhalter 5">
            <a:extLst>
              <a:ext uri="{FF2B5EF4-FFF2-40B4-BE49-F238E27FC236}">
                <a16:creationId xmlns:a16="http://schemas.microsoft.com/office/drawing/2014/main" id="{CD4F78D2-A34F-19C1-032F-DA5F015072C6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374650" y="2641102"/>
            <a:ext cx="5991225" cy="3269659"/>
          </a:xfrm>
          <a:prstGeom prst="rect">
            <a:avLst/>
          </a:prstGeom>
        </p:spPr>
      </p:pic>
      <p:sp>
        <p:nvSpPr>
          <p:cNvPr id="8" name="Fußzeilenplatzhalter 2">
            <a:extLst>
              <a:ext uri="{FF2B5EF4-FFF2-40B4-BE49-F238E27FC236}">
                <a16:creationId xmlns:a16="http://schemas.microsoft.com/office/drawing/2014/main" id="{F9132828-ED82-D7EF-4FC1-8EE792CE477E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3222595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11838-3612-AF00-3058-EA74B605B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027DE661-A448-B122-E4E7-F7116579D1CF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51BE4150-3ECF-02A3-E937-00D427883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38EDC34-C7FF-C229-AFDA-7431AE17B384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D3F460E4-9ED3-BB6B-15E1-45540203E208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EEE9BD7A-2778-AEA1-C4C2-EBB1B9D4C7F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63C8BC77-003D-1E2C-EA4B-D95CAF5C79E3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8970379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</a:t>
            </a:r>
            <a:r>
              <a:rPr lang="es-ES_tradnl" sz="22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r>
              <a:rPr lang="es-ES_tradnl" sz="24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Gaussian Parametros : StdDev: 0.3162, StdDev min : 0.1</a:t>
            </a: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A1D474EB-5209-3B6C-3D8A-12F2ABAC7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1" y="1947533"/>
            <a:ext cx="4907665" cy="3874043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827D761A-9C29-0415-1D80-3D2171C333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095" y="1947533"/>
            <a:ext cx="4907665" cy="387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209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659EE-80C6-F69C-CD2E-94BDE75CD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ABAD6772-9ED9-EEB9-32D8-A654EA4772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ES_tradnl" noProof="1">
                <a:solidFill>
                  <a:schemeClr val="tx1">
                    <a:lumMod val="75000"/>
                    <a:lumOff val="25000"/>
                  </a:schemeClr>
                </a:solidFill>
              </a:rPr>
              <a:t>Curva de Aprendizaje y Métricas. Agente1000</a:t>
            </a:r>
          </a:p>
          <a:p>
            <a:endParaRPr lang="es-ES_tradnl" noProof="1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A4EC0B06-7A42-8E47-2E02-DE4679E37E46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2690395825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𝑒𝑝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-1686.53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</m:acc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-1740.02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𝑠𝑡𝑒𝑝𝑠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-850.26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s-ES_tradnl" sz="900" noProof="1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2.3105e-06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s-ES_tradnl" sz="900" i="1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s-ES_tradnl" sz="900" noProof="1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𝑚𝑖𝑛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Inhaltsplatzhalter 28">
                <a:extLst>
                  <a:ext uri="{FF2B5EF4-FFF2-40B4-BE49-F238E27FC236}">
                    <a16:creationId xmlns:a16="http://schemas.microsoft.com/office/drawing/2014/main" id="{A4EC0B06-7A42-8E47-2E02-DE4679E37E46}"/>
                  </a:ext>
                </a:extLst>
              </p:cNvPr>
              <p:cNvGraphicFramePr>
                <a:graphicFrameLocks noGrp="1"/>
              </p:cNvGraphicFramePr>
              <p:nvPr>
                <p:ph sz="quarter" idx="14"/>
                <p:extLst>
                  <p:ext uri="{D42A27DB-BD31-4B8C-83A1-F6EECF244321}">
                    <p14:modId xmlns:p14="http://schemas.microsoft.com/office/powerpoint/2010/main" val="2690395825"/>
                  </p:ext>
                </p:extLst>
              </p:nvPr>
            </p:nvGraphicFramePr>
            <p:xfrm>
              <a:off x="6556375" y="2636838"/>
              <a:ext cx="5190134" cy="3450082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212478">
                      <a:extLst>
                        <a:ext uri="{9D8B030D-6E8A-4147-A177-3AD203B41FA5}">
                          <a16:colId xmlns:a16="http://schemas.microsoft.com/office/drawing/2014/main" val="2405561049"/>
                        </a:ext>
                      </a:extLst>
                    </a:gridCol>
                    <a:gridCol w="605933">
                      <a:extLst>
                        <a:ext uri="{9D8B030D-6E8A-4147-A177-3AD203B41FA5}">
                          <a16:colId xmlns:a16="http://schemas.microsoft.com/office/drawing/2014/main" val="488062266"/>
                        </a:ext>
                      </a:extLst>
                    </a:gridCol>
                    <a:gridCol w="678620">
                      <a:extLst>
                        <a:ext uri="{9D8B030D-6E8A-4147-A177-3AD203B41FA5}">
                          <a16:colId xmlns:a16="http://schemas.microsoft.com/office/drawing/2014/main" val="1893478119"/>
                        </a:ext>
                      </a:extLst>
                    </a:gridCol>
                    <a:gridCol w="244939">
                      <a:extLst>
                        <a:ext uri="{9D8B030D-6E8A-4147-A177-3AD203B41FA5}">
                          <a16:colId xmlns:a16="http://schemas.microsoft.com/office/drawing/2014/main" val="3116834067"/>
                        </a:ext>
                      </a:extLst>
                    </a:gridCol>
                    <a:gridCol w="1308376">
                      <a:extLst>
                        <a:ext uri="{9D8B030D-6E8A-4147-A177-3AD203B41FA5}">
                          <a16:colId xmlns:a16="http://schemas.microsoft.com/office/drawing/2014/main" val="2774520855"/>
                        </a:ext>
                      </a:extLst>
                    </a:gridCol>
                    <a:gridCol w="538742">
                      <a:extLst>
                        <a:ext uri="{9D8B030D-6E8A-4147-A177-3AD203B41FA5}">
                          <a16:colId xmlns:a16="http://schemas.microsoft.com/office/drawing/2014/main" val="1733927255"/>
                        </a:ext>
                      </a:extLst>
                    </a:gridCol>
                    <a:gridCol w="601046">
                      <a:extLst>
                        <a:ext uri="{9D8B030D-6E8A-4147-A177-3AD203B41FA5}">
                          <a16:colId xmlns:a16="http://schemas.microsoft.com/office/drawing/2014/main" val="798805586"/>
                        </a:ext>
                      </a:extLst>
                    </a:gridCol>
                  </a:tblGrid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Training Stats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Advanced Agent Options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757476921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249351327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Total de episodios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227273" r="-57021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Tiempo muestreo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27273" r="-113953" b="-22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51999875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total último episodio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63636" r="-57021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-1686.53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Factor descuento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63636" r="-113953" b="-10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0.99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531891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Recompensa Media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527273" r="-57021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-1740.02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Batchize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27273" r="-113953" b="-19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64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695044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Pasos último episodio 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Tamaño del Exp. Buffer 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18705704"/>
                      </a:ext>
                    </a:extLst>
                  </a:tr>
                  <a:tr h="14770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Número total de pasos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727273" r="-570213" b="-17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600000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Modo del Buffer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Reset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298020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Promedio pasos/eps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600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413636" r="-113953" b="-76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1.0000e-04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4629458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 Q estimado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 anchor="ctr">
                        <a:blipFill>
                          <a:blip r:embed="rId3"/>
                          <a:stretch>
                            <a:fillRect l="-206383" t="-1027273" r="-570213" b="-143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-850.26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actor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adam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61838232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l">
                            <a:buNone/>
                          </a:pP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Taza aprendizaje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563636" r="-113953" b="-6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7.0000e-04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7414733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Optimizador del critico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0.01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23057893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Coeficiente actualización suave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747619" r="-113953" b="-4952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0.005</a:t>
                          </a:r>
                          <a:endParaRPr lang="es-ES_tradnl" sz="1200" noProof="1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63709122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5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91244666"/>
                      </a:ext>
                    </a:extLst>
                  </a:tr>
                  <a:tr h="137160"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Exploration Gaussian Model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gridSpan="3"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1" kern="12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+mn-ea"/>
                              <a:cs typeface="Times New Roman" panose="02020603050405020304" pitchFamily="18" charset="0"/>
                            </a:rPr>
                            <a:t>Target Policy Smoothing</a:t>
                          </a: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s-ES_tradnl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92615868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Métrica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Símbolo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Valor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5791803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1918182" r="-57021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1918182" r="-113953" b="-5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66937107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018182" r="-57021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018182" r="-113953" b="-44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2302959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Lower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47354726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Upper Lim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27547154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309091" r="-57021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2.3105e-06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decay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309091" r="-113953" b="-1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13717025"/>
                      </a:ext>
                    </a:extLst>
                  </a:tr>
                  <a:tr h="137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b="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b="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206383" t="-2409091" r="-57021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0.05</a:t>
                          </a:r>
                          <a:endParaRPr lang="es-ES_tradnl" sz="12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Std.Dev min</a:t>
                          </a:r>
                          <a:endParaRPr lang="es-ES_tradnl" sz="900" noProof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de-DE"/>
                        </a:p>
                      </a:txBody>
                      <a:tcPr marL="68580" marR="68580" marT="0" marB="0">
                        <a:blipFill>
                          <a:blip r:embed="rId3"/>
                          <a:stretch>
                            <a:fillRect l="-744186" t="-2409091" r="-113953" b="-545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s-ES_tradnl" sz="900" noProof="1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0.2</a:t>
                          </a:r>
                        </a:p>
                      </a:txBody>
                      <a:tcPr marL="68580" marR="68580" marT="0" marB="0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9099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4" name="Onlinebild-Platzhalter 3">
            <a:extLst>
              <a:ext uri="{FF2B5EF4-FFF2-40B4-BE49-F238E27FC236}">
                <a16:creationId xmlns:a16="http://schemas.microsoft.com/office/drawing/2014/main" id="{131625D4-BC2F-ADC5-4527-4D6077B1297B}"/>
              </a:ext>
            </a:extLst>
          </p:cNvPr>
          <p:cNvPicPr>
            <a:picLocks noGrp="1" noChangeAspect="1"/>
          </p:cNvPicPr>
          <p:nvPr>
            <p:ph type="clipArt" sz="quarter" idx="15"/>
          </p:nvPr>
        </p:nvPicPr>
        <p:blipFill>
          <a:blip r:embed="rId4"/>
          <a:stretch>
            <a:fillRect/>
          </a:stretch>
        </p:blipFill>
        <p:spPr>
          <a:xfrm>
            <a:off x="530958" y="2636838"/>
            <a:ext cx="5678608" cy="3278187"/>
          </a:xfrm>
          <a:prstGeom prst="rect">
            <a:avLst/>
          </a:prstGeom>
        </p:spPr>
      </p:pic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C45DF4BD-D495-F7FC-65E1-14B287CFA1E6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488764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FF59B-4439-C837-8ADC-84CB742DC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006D2B73-49C1-47F4-C33D-3893909AF91E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CDEE9011-5927-4218-C9EC-64F58552B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78E56E9-E1BD-6532-EF2E-87AB61CC2DDD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E7672925-9399-D25D-7082-C2260AA04701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13DD02BB-5BE6-666A-069B-E63054B25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192" y="2038355"/>
            <a:ext cx="5156280" cy="407029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9243C2FE-5131-DEE5-1AEC-A4393455A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740" y="2038355"/>
            <a:ext cx="5156280" cy="4070297"/>
          </a:xfrm>
          <a:prstGeom prst="rect">
            <a:avLst/>
          </a:prstGeom>
        </p:spPr>
      </p:pic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0C9C70F4-B02A-D884-2771-7A459A1138C1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9379670" cy="4492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000" noProof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Policy Exploration Gaussian Parametros : StdDev: 0.2, StdDev min : 0.05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6AE90BAB-BC83-0718-DF1D-5151BBD8056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</p:spTree>
    <p:extLst>
      <p:ext uri="{BB962C8B-B14F-4D97-AF65-F5344CB8AC3E}">
        <p14:creationId xmlns:p14="http://schemas.microsoft.com/office/powerpoint/2010/main" val="19982226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88987-860C-D41C-3FB7-239FF112A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03B5266B-C5BA-FF1D-96B6-9BBFE3CFC68B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450FC524-194B-09AF-B867-47A715524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C76C2B42-46DC-AB07-B17D-BE71DA3BF296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2E461F25-FC3B-50CF-47BD-25A3E6F5D46B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9D938D95-3475-0C19-C6DE-B63EF9FE66FF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74C022C1-98FA-8519-FFAD-58CE021F4843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9352343" cy="4492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Comparacion progression del RMSE durante el Entrenamiento</a:t>
            </a:r>
            <a:endParaRPr lang="es-ES_tradn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A945ADE-7A2D-9D43-BC0F-5B226C5716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6050" y="2349605"/>
            <a:ext cx="4977113" cy="392886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E1F0BFE-AA19-0CE8-8291-F42A681E1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862" y="2349605"/>
            <a:ext cx="4977113" cy="3928866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93241228-5011-F922-7314-1459B4D85300}"/>
              </a:ext>
            </a:extLst>
          </p:cNvPr>
          <p:cNvSpPr txBox="1"/>
          <p:nvPr/>
        </p:nvSpPr>
        <p:spPr>
          <a:xfrm>
            <a:off x="1841460" y="1981908"/>
            <a:ext cx="2571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b="1" noProof="1"/>
              <a:t>StdDev: 0.3162, StdDev min : 0. 1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D58995DF-952A-7DEC-B7EC-B58A914C40AB}"/>
              </a:ext>
            </a:extLst>
          </p:cNvPr>
          <p:cNvSpPr txBox="1"/>
          <p:nvPr/>
        </p:nvSpPr>
        <p:spPr>
          <a:xfrm>
            <a:off x="6971357" y="1981908"/>
            <a:ext cx="2571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b="1" noProof="1"/>
              <a:t>StdDev: 0.2, StdDev min : 0. 05</a:t>
            </a:r>
          </a:p>
        </p:txBody>
      </p:sp>
    </p:spTree>
    <p:extLst>
      <p:ext uri="{BB962C8B-B14F-4D97-AF65-F5344CB8AC3E}">
        <p14:creationId xmlns:p14="http://schemas.microsoft.com/office/powerpoint/2010/main" val="87180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003A-5C74-7271-2707-52380DC7A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139F095F-08B7-D216-63A6-5E71331B2660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23A14B87-C90B-10B3-21D9-0720C35CF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A6C3054A-6482-D3AF-A6B4-F3C824E2CBF1}"/>
              </a:ext>
            </a:extLst>
          </p:cNvPr>
          <p:cNvSpPr txBox="1"/>
          <p:nvPr/>
        </p:nvSpPr>
        <p:spPr>
          <a:xfrm>
            <a:off x="-543697" y="56223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ES_tradnl" noProof="1"/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971ACB6E-59F1-377D-3B7F-88CA290384A2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4939F054-4377-D4DB-5CC6-B2B5A2886F1A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BC5D3246-9EBD-9AB4-0C45-E3BA071C3252}"/>
              </a:ext>
            </a:extLst>
          </p:cNvPr>
          <p:cNvSpPr txBox="1">
            <a:spLocks/>
          </p:cNvSpPr>
          <p:nvPr/>
        </p:nvSpPr>
        <p:spPr>
          <a:xfrm>
            <a:off x="520862" y="1446792"/>
            <a:ext cx="9352343" cy="4492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s-ES_tradnl" sz="2000" noProof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Comparacion progression del RMSE durante el Entrenamiento</a:t>
            </a:r>
            <a:endParaRPr lang="es-ES_tradnl" sz="2000" noProof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26AC9B8-6D34-0CF3-0B9D-612B1D7BD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62" y="2283311"/>
            <a:ext cx="4990378" cy="3939337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894295AF-8A7B-3D90-EDC5-B8CCD85A4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2067" y="2320525"/>
            <a:ext cx="4896092" cy="3864908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DB97634-4AFC-0EC5-E366-F360B7B16DAD}"/>
              </a:ext>
            </a:extLst>
          </p:cNvPr>
          <p:cNvSpPr txBox="1"/>
          <p:nvPr/>
        </p:nvSpPr>
        <p:spPr>
          <a:xfrm>
            <a:off x="1815275" y="1921189"/>
            <a:ext cx="2571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b="1" noProof="1"/>
              <a:t>StdDev: 0.3162, StdDev min : 0. 1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A887CEA-7AAF-2831-9979-61BEB48B76C8}"/>
              </a:ext>
            </a:extLst>
          </p:cNvPr>
          <p:cNvSpPr txBox="1"/>
          <p:nvPr/>
        </p:nvSpPr>
        <p:spPr>
          <a:xfrm>
            <a:off x="7202850" y="1969790"/>
            <a:ext cx="25714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1200" b="1" noProof="1"/>
              <a:t>StdDev: 0.2, StdDev min : 0. 05</a:t>
            </a:r>
          </a:p>
        </p:txBody>
      </p:sp>
    </p:spTree>
    <p:extLst>
      <p:ext uri="{BB962C8B-B14F-4D97-AF65-F5344CB8AC3E}">
        <p14:creationId xmlns:p14="http://schemas.microsoft.com/office/powerpoint/2010/main" val="2081784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9D94-8236-C56C-ACB9-EE1C0D63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34">
            <a:extLst>
              <a:ext uri="{FF2B5EF4-FFF2-40B4-BE49-F238E27FC236}">
                <a16:creationId xmlns:a16="http://schemas.microsoft.com/office/drawing/2014/main" id="{5A19600E-3940-0EBE-1B6F-B6BA4F927450}"/>
              </a:ext>
            </a:extLst>
          </p:cNvPr>
          <p:cNvSpPr/>
          <p:nvPr/>
        </p:nvSpPr>
        <p:spPr>
          <a:xfrm>
            <a:off x="-3818" y="-7820"/>
            <a:ext cx="12195818" cy="1134716"/>
          </a:xfrm>
          <a:prstGeom prst="rect">
            <a:avLst/>
          </a:prstGeom>
          <a:solidFill>
            <a:srgbClr val="7F7F7F">
              <a:alpha val="2392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noProof="1"/>
          </a:p>
        </p:txBody>
      </p:sp>
      <p:pic>
        <p:nvPicPr>
          <p:cNvPr id="16" name="Imagen3">
            <a:extLst>
              <a:ext uri="{FF2B5EF4-FFF2-40B4-BE49-F238E27FC236}">
                <a16:creationId xmlns:a16="http://schemas.microsoft.com/office/drawing/2014/main" id="{FCCA88FF-AE08-2F01-7A64-A3E9A9DA5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27160" y="198439"/>
            <a:ext cx="1732790" cy="866395"/>
          </a:xfrm>
          <a:prstGeom prst="rect">
            <a:avLst/>
          </a:prstGeom>
        </p:spPr>
      </p:pic>
      <p:sp>
        <p:nvSpPr>
          <p:cNvPr id="28" name="Textfeld 27">
            <a:extLst>
              <a:ext uri="{FF2B5EF4-FFF2-40B4-BE49-F238E27FC236}">
                <a16:creationId xmlns:a16="http://schemas.microsoft.com/office/drawing/2014/main" id="{3284A50E-8159-93A6-C194-2362793BB670}"/>
              </a:ext>
            </a:extLst>
          </p:cNvPr>
          <p:cNvSpPr txBox="1"/>
          <p:nvPr/>
        </p:nvSpPr>
        <p:spPr>
          <a:xfrm>
            <a:off x="313005" y="269778"/>
            <a:ext cx="8271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b="1" noProof="1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Evaluacion Policy Exploration Gaussian</a:t>
            </a:r>
          </a:p>
        </p:txBody>
      </p:sp>
      <p:sp>
        <p:nvSpPr>
          <p:cNvPr id="20" name="Fußzeilenplatzhalter 2">
            <a:extLst>
              <a:ext uri="{FF2B5EF4-FFF2-40B4-BE49-F238E27FC236}">
                <a16:creationId xmlns:a16="http://schemas.microsoft.com/office/drawing/2014/main" id="{24419C92-5EEA-D7FD-C273-46DCD8A6994C}"/>
              </a:ext>
            </a:extLst>
          </p:cNvPr>
          <p:cNvSpPr txBox="1">
            <a:spLocks/>
          </p:cNvSpPr>
          <p:nvPr/>
        </p:nvSpPr>
        <p:spPr>
          <a:xfrm>
            <a:off x="278030" y="6459865"/>
            <a:ext cx="11777612" cy="261610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_tradnl" sz="900" dirty="0"/>
              <a:t>TFM – Master Inteligencia Artificial – Control Monoarticular aplicado en manipuladores móviles utilizando aprendizaje por refuerzo  –  Ricardo Enrique  Sarabia Palacio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6843C18-9725-4689-2ECC-1A37481FAF3D}"/>
              </a:ext>
            </a:extLst>
          </p:cNvPr>
          <p:cNvSpPr txBox="1"/>
          <p:nvPr/>
        </p:nvSpPr>
        <p:spPr>
          <a:xfrm>
            <a:off x="313005" y="1404494"/>
            <a:ext cx="115741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variación del nivel de exploración gaussiana tiene un impacto directo en la calidad del aprendizaje y en la capacidad de convergencia del agente.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Ambos agentes fueron entrenados bajo condiciones equivalentes, variando únicamente el nivel de exploración gaussiana. Los resultados muestran que un mayor nivel de exploración (</a:t>
            </a:r>
            <a:r>
              <a:rPr lang="es-ES_tradnl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0.3162, </a:t>
            </a:r>
            <a:r>
              <a:rPr lang="es-ES_tradnl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σ_min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0.1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permite una convergencia significativamente más eficiente, alcanzando valores de recompensa superiores (≈ −1250) en comparación con el agente con menor exploración (</a:t>
            </a:r>
            <a:r>
              <a:rPr lang="es-ES_tradnl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≈ −1740</a:t>
            </a: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comportamiento se refleja claramente en la progresión del RMSE durante el entrenamiento, donde el agente con mayor exploración presenta una reducción más consistente y rápida del error, evidenciando una mejor capacidad de aprendizaje global.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ES_tradnl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nivel de desempeño, la comparación del RMSE muestra que un balance adecuado entre exploración y explotación es crítico: valores altos de exploración favorecen la generalización, mientras que valores más bajos mejoran la estabilidad local pero incrementan el riesgo de sobreajuste.</a:t>
            </a: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s-ES_tradnl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4BBED530-B596-6C26-ABA4-463E69B15416}"/>
              </a:ext>
            </a:extLst>
          </p:cNvPr>
          <p:cNvSpPr txBox="1"/>
          <p:nvPr/>
        </p:nvSpPr>
        <p:spPr>
          <a:xfrm>
            <a:off x="1193131" y="5202637"/>
            <a:ext cx="9801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_tradnl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 nivel de exploración gaussiana controla el compromiso entre exploración y convergencia: valores altos mejoran la cobertura del espacio de estados, mientras que valores bajos favorecen la estabilidad del aprendizaje, pero pueden limitar la generalización.</a:t>
            </a:r>
          </a:p>
        </p:txBody>
      </p:sp>
    </p:spTree>
    <p:extLst>
      <p:ext uri="{BB962C8B-B14F-4D97-AF65-F5344CB8AC3E}">
        <p14:creationId xmlns:p14="http://schemas.microsoft.com/office/powerpoint/2010/main" val="194109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878</Words>
  <Application>Microsoft Macintosh PowerPoint</Application>
  <PresentationFormat>Breitbild</PresentationFormat>
  <Paragraphs>298</Paragraphs>
  <Slides>7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sarabia</dc:creator>
  <cp:lastModifiedBy>ricardo sarabia</cp:lastModifiedBy>
  <cp:revision>5</cp:revision>
  <dcterms:created xsi:type="dcterms:W3CDTF">2026-03-29T18:43:38Z</dcterms:created>
  <dcterms:modified xsi:type="dcterms:W3CDTF">2026-03-30T03:24:54Z</dcterms:modified>
</cp:coreProperties>
</file>