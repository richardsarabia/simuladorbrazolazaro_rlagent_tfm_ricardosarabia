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81" r:id="rId2"/>
    <p:sldId id="678" r:id="rId3"/>
    <p:sldId id="679" r:id="rId4"/>
    <p:sldId id="68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4B39E7-296F-3AEC-8E41-DB38AF84E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E1DF96-010E-4F07-F275-4032AE29B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99A75B-F670-C466-6DBE-6462A44F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226748-BDC4-BBE8-72E1-28EBB269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F5AA03-A07F-654A-4107-A194418E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7064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9949B-6DBF-88B9-5623-71B351B7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A4E49A-D86F-A585-9C80-9B57E9AA0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37F814-81B6-7FEE-EEE8-B46183D9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9B1EE8-5F23-2B38-2735-7722071C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3D0CFF-6245-EDBA-78D0-0CF79BF29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048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7486A-A3DF-FD0B-94BD-60641BD9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0758FF-6D2F-0066-A2C5-72E26F607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005B5C-37C2-9E59-39B1-5647676C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390799-4C0A-98B4-7A09-CFC2F9FC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CA5205-F5B1-59E4-023A-6F8C35E5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776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27872D-E1F8-0963-6261-12F0F2D9B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0C813B-8CD5-5BD1-FB23-CDC6867E2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C45732-5588-6FEA-2043-0975DFF0C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2B8FBC-AAC4-C309-85E7-966C4855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326CE9-0B9C-4276-C007-3FD2479D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EAB446-4BEB-AEDF-6BA0-690A3464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127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7DDA5-076D-8126-F99F-D5BB725C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A06E8D-43FC-C060-A9D6-695E2AD6D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749BAE-6416-89BE-15D0-D519D3202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A8B0FF-180C-908E-DB81-203C08619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44DE3C-09CD-DA68-F3CA-67878337A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1F5DF58-3564-D19D-0F96-5F12F6DF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69A8E17-3FA7-CAAD-147B-F8ED5A96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53E8D0-CD48-683B-62A2-044AFF79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87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BD1AA-218E-F421-3B6A-CF0EC373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B5905C-17AA-3AC9-0E7A-0A3EA614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141310-ECE6-FCB6-5765-5FB664EC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94B6323-C5A3-26CE-D5E4-3D763924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990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7745D3-7B45-0FD8-6C26-5E050F550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B4E7BD-016D-CBD4-4A37-B5E8E7CC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D74627-39B1-282B-54AE-92D62338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8636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EB1C7-BEF3-50FD-F46B-1D51F69B9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D7B4F1-0EAC-C9FD-26E1-B2F5ADCE7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0FE75F-3CD3-2482-8BC8-1966B690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DEE0BF-1C5B-E2CF-93F8-9989590A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E7FB83-C795-964A-390C-D4794AE2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56B52F-D0A1-9276-784A-AD37B425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202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EDDAE-BC89-86DE-E39F-5478D167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9A3BF6-82B1-69E9-B66F-021C0670E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E6C6D0-9FB9-6B31-4E3A-D08D09C09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F46B77-4769-DBE8-0DD0-BF1BE2746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B89C00-9FA4-693A-595E-E4E76E18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142AC0-8C5A-EEC8-1EF0-00509440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9773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D3A48-6507-5940-1592-85EEDD37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08F2096-0CF4-B2D0-080B-C9C8F25CF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F1FC84-1693-5719-9C40-BBAD4A2D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83D78F-DDDF-8494-70C4-6769AFA7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A52D8B-C720-9624-386A-8AF3C3945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387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2F9A2D4-739D-3835-2ABA-78BFE339C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97823E7-62A2-AF1A-A516-438D9686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53D1E6-8EEA-5EDF-A935-FF90CC20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820E19-FB8F-61B5-8030-6B096051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15E7A5-41EB-7D6E-B110-891B1DCB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379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274089D-C99F-C884-F98B-EC63E933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812777-2292-34A8-3935-F6CEEB86E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DC47A5-56AD-2ABF-4885-FFCACCF17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8FFBF-578F-964F-BC7C-BB1F0ED54485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A6999D-BEE1-9B5E-3549-8C13B179B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E12AF4-9BE8-2D67-5B5D-CE863ECC2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5481E-6139-894F-8177-F4C87732F47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7895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FA1E-80C0-FF5C-AAFF-D06646B2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38247BE2-A89F-62F6-3AE4-91622DE616DA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85186268-B5F5-61E9-7843-954C7705A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50CDA9C7-5AE3-172F-A13D-9AC8448F0E34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Learning Rate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65CB202B-9D15-69E5-2744-48813339F9B3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2F9EE43-F537-589F-AFC3-446036E0BEA6}"/>
              </a:ext>
            </a:extLst>
          </p:cNvPr>
          <p:cNvSpPr txBox="1"/>
          <p:nvPr/>
        </p:nvSpPr>
        <p:spPr>
          <a:xfrm>
            <a:off x="313004" y="1580178"/>
            <a:ext cx="113411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_tradnl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s-ES_tradnl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la estabilidad y la calidad de convergencia del agente TD3, especialmente en la relación actor–critic.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 altos en ambos (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αₐ = 1e−3, α_c = 1e−3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generan actualizaciones agresivas, provocando inestabilidad y dificultando la convergencia de la política.  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el </a:t>
            </a:r>
            <a:r>
              <a:rPr lang="es-ES_tradnl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incrementa su tasa (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α_c ≥ 5e−3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el entrenamiento se degrada aún más, introduciendo ruido en la estimación de Q y afectando directamente al aprendizaje del actor.  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el contrario, un </a:t>
            </a:r>
            <a:r>
              <a:rPr lang="es-ES_tradnl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tasa baja (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αₐ = 1e−5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mejora la estabilidad, pero ralentiza excesivamente el aprendizaje, limitando la capacidad de adaptación del agente.  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mejor compromiso se obtiene con una configuración asimétrica:</a:t>
            </a:r>
          </a:p>
          <a:p>
            <a:pPr>
              <a:buNone/>
            </a:pP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αₐ = 1e−4 y α_c = 1e−3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donde el critic aprende suficientemente rápido para guiar al actor, mientras que el actor actualiza de forma más estable y controlada.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DFB5CEE-6B88-205C-104C-3C1DC26BEF2E}"/>
              </a:ext>
            </a:extLst>
          </p:cNvPr>
          <p:cNvSpPr txBox="1"/>
          <p:nvPr/>
        </p:nvSpPr>
        <p:spPr>
          <a:xfrm>
            <a:off x="313004" y="5453506"/>
            <a:ext cx="11341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punto óptimo para TD3 se alcanza con un </a:t>
            </a:r>
            <a:r>
              <a:rPr lang="es-ES_tradnl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 learning </a:t>
            </a:r>
            <a:r>
              <a:rPr lang="es-ES_tradnl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menor que el del </a:t>
            </a:r>
            <a:r>
              <a:rPr lang="es-ES_tradnl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(1e−4 vs 1e−3), garantizando estabilidad, buena convergencia y mejor desempeño en RMSE.</a:t>
            </a:r>
          </a:p>
        </p:txBody>
      </p:sp>
    </p:spTree>
    <p:extLst>
      <p:ext uri="{BB962C8B-B14F-4D97-AF65-F5344CB8AC3E}">
        <p14:creationId xmlns:p14="http://schemas.microsoft.com/office/powerpoint/2010/main" val="70197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D960-79A9-9066-7E8B-05846A73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11F3584A-0D36-C680-8437-FCA42E9BA4DF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8ED9D53E-AE53-00DB-4F0B-7FF2F79AD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A38E614C-CE9F-C921-40D5-602CE8B9A390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Learning Rate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D35AF516-322F-25E1-3B48-1DD776C02A89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2A7AE3B-EB2B-DEE1-71A1-710B78D22727}"/>
              </a:ext>
            </a:extLst>
          </p:cNvPr>
          <p:cNvSpPr txBox="1"/>
          <p:nvPr/>
        </p:nvSpPr>
        <p:spPr>
          <a:xfrm>
            <a:off x="1404735" y="1404494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Actor LR: 1-e3,Critic LR: 1-e3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26EAFE2-E436-452A-AAD3-5827D5409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76" y="1802993"/>
            <a:ext cx="3599114" cy="185492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1F0195A-977F-8A12-A8E9-001D06A28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725" y="1654402"/>
            <a:ext cx="3367375" cy="195170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67629F2-83C8-21F3-6F29-B49A7D028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548" y="1786930"/>
            <a:ext cx="3138718" cy="181917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825C8B3-3BC8-CBDC-F4F0-8C7E0ECB1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89" y="4144283"/>
            <a:ext cx="3305490" cy="189810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306BFF1-2D4A-2CD3-ACD7-DEBE99E4B1CD}"/>
              </a:ext>
            </a:extLst>
          </p:cNvPr>
          <p:cNvSpPr txBox="1"/>
          <p:nvPr/>
        </p:nvSpPr>
        <p:spPr>
          <a:xfrm>
            <a:off x="1404735" y="3741534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Actor LR: 1-e4,Critic LR: 1-e3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326F91B-3001-6190-01A0-4C42B6220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9725" y="4009067"/>
            <a:ext cx="3582665" cy="207648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2935801-A84D-F656-7EC3-2D55A51740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2090" y="4009067"/>
            <a:ext cx="3488983" cy="202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74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22F13-6695-FA5D-88BE-E6BAC5B3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1401EED1-3166-3B7E-967A-1F3EDF13686E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70E8A1F-F682-C5B5-D1F1-A7462EA82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21344262-58D2-37A3-2454-6E418264B1FB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Learning Rate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518A6E2E-7F96-5795-836F-75AD9F97E4F3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83DE22-217E-75E9-7C7E-96256F447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00" y="1844353"/>
            <a:ext cx="3006268" cy="181356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83D649D-0403-1510-5C63-6177592CD649}"/>
              </a:ext>
            </a:extLst>
          </p:cNvPr>
          <p:cNvSpPr txBox="1"/>
          <p:nvPr/>
        </p:nvSpPr>
        <p:spPr>
          <a:xfrm>
            <a:off x="1404735" y="1357987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Actor LR: 1-e5,Critic LR: 1-e3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CE248F5-6BF6-CA75-E2F8-680B6988013F}"/>
              </a:ext>
            </a:extLst>
          </p:cNvPr>
          <p:cNvSpPr txBox="1"/>
          <p:nvPr/>
        </p:nvSpPr>
        <p:spPr>
          <a:xfrm>
            <a:off x="1162872" y="3836506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Actor LR: 1-e3,Critic LR: 5-e3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ED95C29-5679-5DFE-9321-49137501D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67" y="4237148"/>
            <a:ext cx="3391712" cy="204608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D11A41D-91A6-B6A1-2009-87A2D76BB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273" y="1720005"/>
            <a:ext cx="3489774" cy="202264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900C328-8BB5-D839-F666-437595D4D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9728" y="1782174"/>
            <a:ext cx="3828123" cy="204565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1419814-0BD1-A0F6-04F3-E4BAE55728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851" y="4285892"/>
            <a:ext cx="3434196" cy="199043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93ED1AD-5FDE-8B99-6293-A462E54660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4150" y="4285892"/>
            <a:ext cx="3598372" cy="196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03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62CEC-423D-9612-FF85-64C499D5C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19116616-0D22-814D-AFF6-9EEDA8F297B7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339ADA8B-35F0-CB2B-35B3-96F5ACA3C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459C3DE0-2C6A-1184-8E4F-1DAE8C174E8E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Learning Rate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B3ACDA42-4BC5-ABD3-D972-385BB3742629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D619F2D-4D2C-7E74-D3FB-061F690D4E51}"/>
              </a:ext>
            </a:extLst>
          </p:cNvPr>
          <p:cNvSpPr txBox="1"/>
          <p:nvPr/>
        </p:nvSpPr>
        <p:spPr>
          <a:xfrm>
            <a:off x="1218899" y="1300451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Actor LR: 1-e3,Critic LR: 6-e3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F6C4D40-0D4B-B1F4-35ED-06F0C955B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67" y="1712849"/>
            <a:ext cx="3232600" cy="195010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8957CB9-43E0-1513-B1D7-8743EBF940FC}"/>
              </a:ext>
            </a:extLst>
          </p:cNvPr>
          <p:cNvSpPr txBox="1"/>
          <p:nvPr/>
        </p:nvSpPr>
        <p:spPr>
          <a:xfrm>
            <a:off x="896832" y="3890527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Actor LR: 1-e5,Critic LR: 7-e3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DB18FA-B207-8D4B-CB4E-03718DED8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43" y="4351077"/>
            <a:ext cx="3232600" cy="19501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CF3A3D1-E684-D6C6-BD62-8ED904D75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6877" y="1702011"/>
            <a:ext cx="3845170" cy="222862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4A05244-215A-3173-CF5C-DF86D97F7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405" y="1702011"/>
            <a:ext cx="4041472" cy="234240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2D2329A-8351-D17F-40DA-988A112A18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590" y="4158218"/>
            <a:ext cx="3886200" cy="225241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896EB1A-DE68-4AD3-A60B-B88DA90236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405" y="4198304"/>
            <a:ext cx="3817038" cy="221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41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Macintosh PowerPoint</Application>
  <PresentationFormat>Breitbild</PresentationFormat>
  <Paragraphs>25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2026-03-30T05:30:00Z</dcterms:created>
  <dcterms:modified xsi:type="dcterms:W3CDTF">2026-03-30T05:36:34Z</dcterms:modified>
</cp:coreProperties>
</file>