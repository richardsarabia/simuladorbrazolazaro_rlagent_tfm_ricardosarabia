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701" r:id="rId2"/>
    <p:sldId id="311" r:id="rId3"/>
    <p:sldId id="698" r:id="rId4"/>
    <p:sldId id="699" r:id="rId5"/>
    <p:sldId id="70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94F3F-0355-C045-B492-0785B3FD7AF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F7D6E-C315-FC41-A728-42F6EFDDDBA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837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6A1B-0F83-9F19-69D4-99324302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01BB7D-2272-B88C-96E8-94A3C5FFD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AAEC77-3DDE-C012-A46E-96B72356C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71BC5C-68E5-9848-2707-FFFD7A58F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706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2AB5-6AA3-9551-3C73-DCBF994F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2ACD53-D6B4-BE37-5907-20ED20C84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6F4E20-73A4-B96A-57E6-53AFABBCA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68ECD2-A0FD-78A3-916A-048952227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5558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F0983-D106-9A03-2DF2-D7726D9E4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F11859-5099-E057-0B2C-2577C8B54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FE3792-7A70-5A4B-CF6C-325656D58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E67A92-208A-93A3-D505-F088CB610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2144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445E-B737-557D-39FA-01062723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8EB5447-F7CB-989D-A981-05DF1E698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7B51F1-BADE-E48D-12CD-76136F26B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01020-E43C-C26B-1F65-5B6171034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9060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24A77-EB68-F4DF-DC9D-8C75552E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FABA83-6651-E3E8-672C-5399BBA0E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0F0F74-175F-8D86-F59F-DBC41702E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3D5DE4-EE4D-F5A4-4B16-CD86F9409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5737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E4D77-7F14-D621-DBCA-FCF1F2A4F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CF1242-08C2-A6E1-9F93-44083CADD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7FDCE8-C951-328F-DABC-441489EE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24752B-7BEE-962C-769D-E154E38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30366D-52B6-D41A-4249-FCE1EA4E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63917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1357E-BB99-86F4-EF62-3173ED76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738635-5BBE-5696-6899-F4E2A37A4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9DB4B1-0AE0-73E2-08C5-9A59ED90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A2F35B-701A-C3FD-9289-00EED647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18034C-03F4-2F5E-4B20-42AB23CE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846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F4279-A43F-0801-D7E1-AB52A24F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6B9B61-A28C-F78D-C627-566C34CD7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48BED8-5A78-091B-0760-B5D68F01D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093A7A-767E-CF0F-4FC4-2C383FC9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350930-FA42-542B-77BD-AC8768D0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127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B2912-CE86-634F-E1A4-73F2AB75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D2CB54-7553-1A08-9018-939D487F1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303083-EC04-19F4-D6A0-E3E30A961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799154-F6EA-2789-BB9D-FADE8060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B01216-ED73-6388-4FBA-062DC671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DE05C7-A95C-0580-C696-38EF3CCB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127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1F4C3-B9CB-31C2-DD6D-FC455FDC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1A29DF-D3D7-53F4-9C6D-7E20D4CE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FC5391-E64D-74C4-199D-F753AC43A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BCFEBE-48FB-E08A-3420-89D4D60A4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96B49E-03B8-A33A-A10E-F8F57C7B3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A5B0F35-A622-1365-9156-57D501B6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527ED18-E2D0-10CB-D243-9F441E86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46B6B8-6CD6-BB2A-3BEB-1F0225C3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0083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65F64E-9A77-7AC7-AC21-DEAC1680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6E956B-1532-E47C-87E8-1D06BCFC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03CCA6-F6A9-E98E-D9D3-BDDD9E05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AC5BFB-FAB5-5049-A405-14A3BD39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731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E0C51C-94C4-202E-1E61-CE3F82FD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9C8561-F979-600B-8AAA-0BEB679D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634BDC-4EED-ABFE-FBCD-FBF856AF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050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37E17-0822-41E9-986E-4131EB9F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F6DF76-95FF-951A-7E08-483176816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A77183-A25C-90B0-E73A-F55ECEF0E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F9F0DD-8F98-C716-56AC-B8DCAA9C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541DB4-70A9-B3B1-42E0-B1D75CB8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A5FA04-6C4B-CCE7-4129-48588056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409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69F4B-008C-0C33-C166-5F54FA86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FC1AF1-CA84-6D13-08C0-ED861A036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EC86E2-453D-BA7B-B3AE-0882BFF2E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481B30-646A-ECFF-B2B6-5C021C0F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BAEB47-BA0E-5789-11CE-0AE77589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D8486A-C84D-E108-8B51-9C544E8B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0315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21D1A-556A-371A-C78F-2D01B802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2F2935-F0C5-3DB8-0E62-2ED8A7405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ED8871-1BE7-6355-0D3A-FD5347D3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5881E1-2CDE-649D-D746-39F5F1A2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23FE1D-6142-DDBF-F57F-8B4D6BF0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585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F2E7871-7ED0-8515-147D-ABC7C1075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A8A26E-A1B0-9D50-4E38-A64966A8B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8BC39D-F2E5-CBDF-236C-9B7A0774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6EE56B-42BE-4A99-3B3F-EF901A3E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3BD02D-3BA5-0556-C6F1-6A4D8F8B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5857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623199-AF68-BFC6-53E7-4079D191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343CAE-0B3D-AABA-AE43-DCBA244C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72474A-DB97-84F8-18EE-0B5264B33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AC70C-96A2-A74E-B19B-39F55C45592D}" type="datetimeFigureOut">
              <a:rPr lang="es-ES_tradnl" smtClean="0"/>
              <a:t>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796701-EB7C-B6C1-F3AC-2D1D6C0BF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F002D-D794-0FB7-2D56-D06536922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78BC4-8E71-914C-9FDF-6DE3FCAEC0F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496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FF97-504C-84E4-DCEE-E3761AE0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15A73CF-8714-7D82-86D2-FD3E00F933AE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645134C4-1543-0385-249E-2CC50E35D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3FB153A-D608-7E23-1D0B-20046BCFE05D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Modos de entrenamiento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A4F5DED-648F-910F-7772-23919026C5D7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D17217C9-4582-F9A8-BA9D-4ED85A0663C7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10500411-93B1-97CD-1D7D-95179313E680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Entrenamiento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17DB302-5615-5C3B-AFA8-F9ED48AEFB1C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E6882D-099B-86BE-72C8-8CBCDC012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40FF2E-AAF1-0F79-1232-8F8B3301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421" y="6356350"/>
            <a:ext cx="11250247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7E0BD12-900B-9D43-C227-A2471AF7E551}"/>
              </a:ext>
            </a:extLst>
          </p:cNvPr>
          <p:cNvSpPr txBox="1"/>
          <p:nvPr/>
        </p:nvSpPr>
        <p:spPr>
          <a:xfrm>
            <a:off x="485421" y="2172305"/>
            <a:ext cx="33334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entrenamiento progresivo del agente se lleva a cabo mediante una estrategia de curriculum learning, en la cual el agente comienza su entrenamiento en condiciones simples y progresivamente se expone a escenarios más complejos a medida que alcanza objetivos específicos. Este enfoque permite que el agente se adapte gradualmente a tareas de mayor dificultad, favoreciendo un aprendizaje más estable y efectivo.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9BC68DF-39B8-C323-F7BA-C7D7A8FBDAA8}"/>
              </a:ext>
            </a:extLst>
          </p:cNvPr>
          <p:cNvSpPr txBox="1"/>
          <p:nvPr/>
        </p:nvSpPr>
        <p:spPr>
          <a:xfrm>
            <a:off x="4413710" y="2220536"/>
            <a:ext cx="7515922" cy="37548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Estrategias de entrenamiento según los objetivos alcanzados:</a:t>
            </a:r>
          </a:p>
          <a:p>
            <a:endParaRPr lang="es-ES_tradnl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Modo 1: Generalización local</a:t>
            </a:r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Refinar el comportamiento del agente en un dominio limitado.</a:t>
            </a: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Enfocado en minimizar el error cuadrático medio (RMSE) dentro de un dominio restringido, ajustando parámetros finos de la política.</a:t>
            </a:r>
          </a:p>
          <a:p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Modo 2: Sectores</a:t>
            </a:r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Mejorar el desempeño en secciones específicas del dominio angular del robot.</a:t>
            </a: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El dominio angular se divide en cuadrantes, donde el agente es entrenado de forma independiente en cada uno.</a:t>
            </a: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Facilita la especialización y la adaptación a diferentes partes del espacio de control.</a:t>
            </a:r>
          </a:p>
          <a:p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Modo 3: Subsectores</a:t>
            </a:r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Incrementar la precisión entrenando en áreas aún más pequeñas del dominio angular.</a:t>
            </a: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Entrenamiento detallado en intervalos angulares reducidos (por ejemplo, 5° a 30°).</a:t>
            </a: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</a:t>
            </a: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Mejora la capacidad del agente </a:t>
            </a:r>
            <a:endParaRPr lang="es-ES_tradnl" sz="1400" dirty="0"/>
          </a:p>
        </p:txBody>
      </p:sp>
    </p:spTree>
    <p:extLst>
      <p:ext uri="{BB962C8B-B14F-4D97-AF65-F5344CB8AC3E}">
        <p14:creationId xmlns:p14="http://schemas.microsoft.com/office/powerpoint/2010/main" val="88993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46E1-7CD3-B37E-9657-B2C85113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B4532E8-5F9A-0E8B-3ACE-4A659F844FCE}"/>
              </a:ext>
            </a:extLst>
          </p:cNvPr>
          <p:cNvSpPr/>
          <p:nvPr/>
        </p:nvSpPr>
        <p:spPr>
          <a:xfrm>
            <a:off x="5960534" y="2172305"/>
            <a:ext cx="5746044" cy="40139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3FE15BB-C0B0-F89B-C9AE-EE5822B62276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1329B5FC-1919-5C92-A1CA-BEDE24AE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898FCBF-A0C4-21AC-6715-7A7042882E3F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Modos de entrenamiento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6D158F9-7F70-C37A-E5A3-411AB7EC4AA9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E4FD65B1-E827-FD8A-1EB4-DEAD64CF8CAA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C708F096-F87E-FE84-0E40-ED5C6B290CB5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Entrenamiento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42A2AF8-56D9-1C45-8510-AE2992FB0D87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AAC8A95-FF7D-418E-869B-6D4DE7F8A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4565D1-3952-5C4F-534F-3310D8B8D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421" y="6356350"/>
            <a:ext cx="11250247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B084C7-9D30-A370-19D6-B910FA290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93" y="1993182"/>
            <a:ext cx="5874041" cy="395997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1266A45-3DE1-F8B6-0DF3-E8140118228A}"/>
              </a:ext>
            </a:extLst>
          </p:cNvPr>
          <p:cNvSpPr txBox="1"/>
          <p:nvPr/>
        </p:nvSpPr>
        <p:spPr>
          <a:xfrm>
            <a:off x="5960534" y="2181273"/>
            <a:ext cx="4470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Modo 1 – Random local</a:t>
            </a:r>
          </a:p>
          <a:p>
            <a:endParaRPr lang="es-ES_tradnl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Randomizacion de los parámetros dados por el Escenario.</a:t>
            </a:r>
          </a:p>
          <a:p>
            <a:endParaRPr lang="es-ES_tradnl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Uso: 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Refinamiento local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Estabilizar política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Reducir RMSE</a:t>
            </a:r>
          </a:p>
          <a:p>
            <a:endParaRPr lang="es-ES_tradnl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3F87125-D7A9-2598-597A-F673EC982AD6}"/>
              </a:ext>
            </a:extLst>
          </p:cNvPr>
          <p:cNvSpPr/>
          <p:nvPr/>
        </p:nvSpPr>
        <p:spPr>
          <a:xfrm>
            <a:off x="485422" y="2720051"/>
            <a:ext cx="1783644" cy="140039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4354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BFC0-5EDB-0D41-3A67-029FE6AA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18E1803-76D4-31B2-6FD0-309BFA24A669}"/>
              </a:ext>
            </a:extLst>
          </p:cNvPr>
          <p:cNvSpPr/>
          <p:nvPr/>
        </p:nvSpPr>
        <p:spPr>
          <a:xfrm>
            <a:off x="5960534" y="2172305"/>
            <a:ext cx="5746044" cy="40139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F367EAB-517A-3922-6FB6-CF00B0EF2E9A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6E33401C-FFD1-5595-33E2-FAD7C901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588B025-DE08-CF51-A37B-0FFC095E3FF8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Modos de entrenamiento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ECA2AAF-F114-0579-133D-814AF7E841F6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C1AAE157-9E72-09EA-1AC2-A2BEAC3E2A54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B1EAFE2D-A74D-E8EE-F37E-178C85217297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Entrenamiento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E2AA6FB-D4D4-677E-DE24-235D7BE36562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8D8EF98-F06E-6085-3DF6-CC54387F6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2C1285-652E-7BA4-FB6C-A13B1631E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93" y="1993182"/>
            <a:ext cx="5874041" cy="395997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4BD4DA0-5F98-07E4-39AA-8EEFF8229DE4}"/>
              </a:ext>
            </a:extLst>
          </p:cNvPr>
          <p:cNvSpPr txBox="1"/>
          <p:nvPr/>
        </p:nvSpPr>
        <p:spPr>
          <a:xfrm>
            <a:off x="6094091" y="2208798"/>
            <a:ext cx="533481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Modo 2 –  Sectores</a:t>
            </a:r>
          </a:p>
          <a:p>
            <a:endParaRPr lang="es-ES_tradnl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Division del dominio angular en sectores 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Q1:   0° → 90°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Q2:  90° → 180°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Q3: -180° → -90°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Q4: -90° → 0°</a:t>
            </a:r>
          </a:p>
          <a:p>
            <a:endParaRPr lang="es-ES_tradnl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Uso: </a:t>
            </a:r>
          </a:p>
          <a:p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SOLO en los cuadrantes seleccionados. </a:t>
            </a:r>
          </a:p>
          <a:p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Dentro del cuadrante → random</a:t>
            </a:r>
          </a:p>
          <a:p>
            <a:endParaRPr lang="es-ES_tradnl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Curriculum learning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Especialización angular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Reducir complejidad del problema</a:t>
            </a:r>
          </a:p>
          <a:p>
            <a:endParaRPr lang="es-ES_tradnl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09E7683-F886-BD33-B640-279CE927DBDF}"/>
              </a:ext>
            </a:extLst>
          </p:cNvPr>
          <p:cNvSpPr/>
          <p:nvPr/>
        </p:nvSpPr>
        <p:spPr>
          <a:xfrm>
            <a:off x="2167467" y="2720051"/>
            <a:ext cx="1783644" cy="140039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42325B73-F1F9-ED87-99EB-70D99760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421" y="6356350"/>
            <a:ext cx="11250247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328750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5052-4A7F-C8CF-94A6-E190CDA9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2D54B08-BA63-F922-4602-7834D1F5D07A}"/>
              </a:ext>
            </a:extLst>
          </p:cNvPr>
          <p:cNvSpPr/>
          <p:nvPr/>
        </p:nvSpPr>
        <p:spPr>
          <a:xfrm>
            <a:off x="5960534" y="2172305"/>
            <a:ext cx="5746044" cy="40139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F98F478-F50B-AFC2-0222-96DD3407ED7C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894A4AF-6514-C580-B0A2-3F92FF730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BFB9749-6B92-52E7-5EC8-C0B74EDEA0B4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Modos de entrenamiento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61E42FB6-B500-F49D-FB6B-D7BC72674FCB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32446A30-540B-099C-BE51-1D0AA3CBBC99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Entrenamiento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97718B-DBAB-683A-1B8D-EDFC073AEB1C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D50CE2-D99B-1FD5-1F75-F5C5BF75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D1B077D-63EF-66B7-35C2-213575230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93" y="1993182"/>
            <a:ext cx="5874041" cy="395997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06F6A9B-60B7-4BFB-EE36-1B871CA2A2CA}"/>
              </a:ext>
            </a:extLst>
          </p:cNvPr>
          <p:cNvSpPr txBox="1"/>
          <p:nvPr/>
        </p:nvSpPr>
        <p:spPr>
          <a:xfrm>
            <a:off x="6045912" y="3230378"/>
            <a:ext cx="5183366" cy="28931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s-ES_tradnl" sz="14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Shuffle subsector sequence :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Orden aleatorio de los subsectores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sesgo de entrenamiento</a:t>
            </a:r>
          </a:p>
          <a:p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subsector episode: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episodio → 1 subsector fijo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comportamiento determinista</a:t>
            </a:r>
          </a:p>
          <a:p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Random Injection: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 / 10% / 20%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exploración global ocasional</a:t>
            </a: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per checkpoint: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Distribución uniforme por subsector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crítico para evitar: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sobreentrenamiento local</a:t>
            </a:r>
          </a:p>
          <a:p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Subsector size: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granularidad del aprendizaje</a:t>
            </a:r>
          </a:p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5° / 15° / 30°</a:t>
            </a:r>
            <a:endParaRPr lang="es-ES_tradnl" sz="1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C0E582F-4583-96B6-E5AB-E7F816BDD444}"/>
              </a:ext>
            </a:extLst>
          </p:cNvPr>
          <p:cNvSpPr/>
          <p:nvPr/>
        </p:nvSpPr>
        <p:spPr>
          <a:xfrm>
            <a:off x="3800948" y="2728803"/>
            <a:ext cx="1783644" cy="140039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883F8AD-31D8-9ABD-BB8A-3BB6F4FC925C}"/>
              </a:ext>
            </a:extLst>
          </p:cNvPr>
          <p:cNvSpPr txBox="1"/>
          <p:nvPr/>
        </p:nvSpPr>
        <p:spPr>
          <a:xfrm>
            <a:off x="6039381" y="2172305"/>
            <a:ext cx="51898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Modo 3 –  Subsectores</a:t>
            </a:r>
          </a:p>
          <a:p>
            <a:endParaRPr lang="es-ES_tradnl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Division del dominio angular en subsectores concretos: </a:t>
            </a:r>
          </a:p>
          <a:p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[-180°, 180°] → dividido en bloques (5°, 15°, 30°)</a:t>
            </a:r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5AAA0F4C-56FD-2FE8-7D64-6C0B1DE5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421" y="6356350"/>
            <a:ext cx="11250247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79157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CFD2-74A1-1E06-7EE0-4D709E72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6889B99A-BE0D-7E6D-E4BA-48D8091F69BC}"/>
              </a:ext>
            </a:extLst>
          </p:cNvPr>
          <p:cNvSpPr/>
          <p:nvPr/>
        </p:nvSpPr>
        <p:spPr>
          <a:xfrm>
            <a:off x="5960534" y="2172305"/>
            <a:ext cx="5746044" cy="40139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5ECE0C2-9ACB-2EDB-195E-DCEB8E9DB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0" y="1796678"/>
            <a:ext cx="5841413" cy="3937976"/>
          </a:xfrm>
          <a:prstGeom prst="rect">
            <a:avLst/>
          </a:prstGeom>
        </p:spPr>
      </p:pic>
      <p:sp>
        <p:nvSpPr>
          <p:cNvPr id="35" name="Rechteck 34">
            <a:extLst>
              <a:ext uri="{FF2B5EF4-FFF2-40B4-BE49-F238E27FC236}">
                <a16:creationId xmlns:a16="http://schemas.microsoft.com/office/drawing/2014/main" id="{2DD89C84-A2B8-090D-4879-4DC180AA9AC9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B9892DE6-80B6-9722-5139-494E9666F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FCCEF98-3E71-D4B0-43AB-6C284E8839F2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Modos de entrenamiento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1B0EA648-D826-0949-636D-5A3EF55E403D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3AA568C5-9149-7D6E-7042-0166DE1A5CD4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Entrenamiento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72AE804-5C15-9F91-1B08-8E47C870D61A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4A76C44-20A5-9DBF-B086-B0A315E853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FB980E43-E81F-77D8-B6E1-B3091F440954}"/>
              </a:ext>
            </a:extLst>
          </p:cNvPr>
          <p:cNvSpPr/>
          <p:nvPr/>
        </p:nvSpPr>
        <p:spPr>
          <a:xfrm>
            <a:off x="2077155" y="2452986"/>
            <a:ext cx="3450992" cy="150281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73A44A8-8644-6C7F-C5C6-41E4155CF70F}"/>
              </a:ext>
            </a:extLst>
          </p:cNvPr>
          <p:cNvSpPr txBox="1"/>
          <p:nvPr/>
        </p:nvSpPr>
        <p:spPr>
          <a:xfrm>
            <a:off x="5960535" y="2305615"/>
            <a:ext cx="52687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Modo 3 bajo filtro 2 –  Subsectores in Sectors</a:t>
            </a:r>
          </a:p>
          <a:p>
            <a:endParaRPr lang="es-ES_tradnl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Modo 3 condicionado por el filtro angular del Modo 2, restringiendo la generación de subsectores al dominio previamente seleccionado.</a:t>
            </a:r>
          </a:p>
          <a:p>
            <a:endParaRPr lang="es-ES_trad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Porcentaje del modo 2 no se considera en este modo 3. solo soporta la selección de los cuadrantes.</a:t>
            </a:r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AC3C007C-5029-5A1E-8081-29398245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421" y="6356350"/>
            <a:ext cx="11250247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3328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Macintosh PowerPoint</Application>
  <PresentationFormat>Breitbild</PresentationFormat>
  <Paragraphs>87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2026-04-04T16:23:48Z</dcterms:created>
  <dcterms:modified xsi:type="dcterms:W3CDTF">2026-04-04T17:56:42Z</dcterms:modified>
</cp:coreProperties>
</file>