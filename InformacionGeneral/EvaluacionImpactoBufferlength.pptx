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674" r:id="rId2"/>
    <p:sldId id="666" r:id="rId3"/>
    <p:sldId id="667" r:id="rId4"/>
    <p:sldId id="664" r:id="rId5"/>
    <p:sldId id="665" r:id="rId6"/>
    <p:sldId id="668" r:id="rId7"/>
    <p:sldId id="669" r:id="rId8"/>
    <p:sldId id="670" r:id="rId9"/>
    <p:sldId id="671" r:id="rId10"/>
    <p:sldId id="672" r:id="rId11"/>
    <p:sldId id="673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CC4A-098C-F243-8CD7-B2360772A8BD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EFF1D-FC0B-F04A-8F21-DB9B4009BB5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546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BB41A-91C7-4D5E-4A20-354BFE45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839B46-E7DA-5A9B-A036-AD9C3F05B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8EB5CE-BE27-103C-4176-295815B89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DFCC6E-EC18-C9C4-A173-2F9D7A39B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13551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3A97-82B8-CFA6-EE5F-938B66E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272881-B08F-E4C7-EC91-0BE55EB67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F087A93-D9D6-4B7E-243C-13088365B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EAFC82-B3D4-09FF-71D4-9BAF2C1AE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78217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A041-47FC-6761-C09F-00F8B3EA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6468ECB-58FD-0C1A-20CD-98561AF0D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166BC4-FB6D-D556-37A7-7B5CBDCB4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02FF55-95AB-0AD7-FCDF-58F783455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9451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1800-E086-BE47-E63C-25E6AFBA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5450E7-B76A-E271-1261-730F1D1F3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45D24E-5094-7E8C-0A32-2EE60FF12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B5C995-7048-4C55-BF7E-F95FE1F09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159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08F5-362B-0ABF-26CA-345E1627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043E953-717C-A3DB-5504-2B81761A3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5E30D4-5975-E339-4E08-948426FAE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070F93-E581-976F-EE2B-BAFC00621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6466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54CDE-10A3-D6B1-02AA-C72081E3A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3E2F21-806D-E283-860C-737157D64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722674-E271-1A3B-B23E-E7EF4C8E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ADBC95-35C3-26B1-8893-91DCFD02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C8DD70-7805-E69B-5748-A948B26F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7906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0E43E-7770-732D-ECEA-1A77614D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2476F7-7812-9510-A66C-BB23D507B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0CC2A7-04A9-6898-D508-D364B768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B901FD-0AEE-EFAF-1DF9-2DF57601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A138A9-B2F2-419B-DD5E-7429507A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844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B3992-FAD3-FEF5-EFE5-7BB39DB7B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A62D9C-2EE9-B116-90F1-55D844CA8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F2AEB9-2277-0F6F-E763-BB8E5EA9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8C6238-6C29-3308-EC2D-DE6595CF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C72D2F-33F9-032C-B432-5853C9FA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762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26EC1-7435-C52C-0004-FA1905B9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2EF60-D6C2-D71C-70E5-B12638C1F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200509-EFEA-3973-6965-BE6F406AD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29FCDA-8D7B-20E1-54BA-9AA68CA2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598CF6-C794-E195-D1B3-903DAB15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80702E-E398-2A88-6BAD-F25BB8AB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421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5D55B-E30E-C734-94D6-C0A455E3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C75BFA-23B5-6CEE-D595-4CCC38043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3C143A-B487-B81C-E54A-6C590814F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4186C7-4F62-1FC8-8A47-31E928182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4CB15C-BCCE-B78C-8B52-08BFE096C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59472AE-702F-626B-2B79-B418AC4A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7A7EB08-1021-C726-9CB9-BE1FC02F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24A9261-3FE0-EA61-DF57-09087E67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701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6F179-442A-61AC-C436-7EF51D68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533631-9FAE-1F18-4777-1811C97D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1FE203-3A9D-960D-05F5-98B77BD4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327631-8E86-74A0-7328-E4C718DE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218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4D6956-0FD9-32D9-954C-E597F263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EBD11B-2AA0-F043-C8C0-E4533C10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56D87F-37A3-C745-4CF5-06CC9175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460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E6FBF-9AB6-465E-78C8-87DCDC00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D72525-0E33-A85A-11E0-85A85DD28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83E12C-415A-A4F8-BC32-D3181EDEC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D53645-D27D-29FC-9A06-18B14C61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3A3E1E-2F4D-0A22-9ADF-6A9B968C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10360D-A126-1307-E150-5248B7A6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395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7960C-D4A4-03BC-A768-3477AC4E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70B4D2-711E-963B-B9C8-6A1E6AF07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090356-1CC7-66F5-816E-A8CFC47C4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B57BD9-30D1-AC5D-9A55-9AF540B7C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9F5BD1-0083-0DF0-0067-7D439447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EB486B-F0EE-75B6-9E8B-B4768351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606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FB7D8-B1C8-3387-09C1-1C17F26E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49CCAC-ED70-9CC9-759D-320B44FED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3B3AC4-C96E-2F99-EBC2-A27B13F1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3DD296-B67D-D09E-EC69-E684999B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C45956-C456-F2CD-FD05-8A0EF66D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463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7A7F88-14B8-A253-ABED-C2124C132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A929F6-A11F-2A59-E87A-F40D1B5D7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0C62B1-AD8D-B76E-9524-0D98E1ED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48A1AC-045E-9564-F716-E85C0F1AB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B020E4-66BB-2E25-CE7E-3D0C1693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50338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668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B2B0FF-C46C-D0C3-385E-C3464D75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D38A1-7662-8BF2-9024-2FBF5887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7564F0-326C-4C6B-D2D0-D41D929E6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1505B-23B5-9049-8F37-07E5C45F560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9074E4-757B-8FE7-E99A-17317FF1A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F9B4FC-6A35-2953-C31D-358699676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826E0-8054-5645-B0D6-0A045D1738E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125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77E8-FC62-1889-97AD-85550F99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6863CB4F-439E-2603-B3DA-706785D6DACE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470A6D2-27E9-8C04-F5DE-3E3C14C6F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8C801131-402F-405F-2BDE-084E8857D3B9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BufferLength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70D31485-8DD9-7870-9755-8285BBD449D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4FA2E39-9D5D-F3BB-0056-49CDDD97C586}"/>
              </a:ext>
            </a:extLst>
          </p:cNvPr>
          <p:cNvSpPr txBox="1"/>
          <p:nvPr/>
        </p:nvSpPr>
        <p:spPr>
          <a:xfrm>
            <a:off x="419100" y="1813177"/>
            <a:ext cx="110915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tamaño del </a:t>
            </a:r>
            <a:r>
              <a:rPr lang="es-ES_tradnl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s-ES_tradnl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influye directamente en la calidad del aprendizaje y en el desempeño final del agente.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valores bajos (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5k–10k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el agente presenta una convergencia limitada y mayor variabilidad en el aprendizaje (recompensa media ≈ −1443 y −1251), debido a la baja diversidad de experiencias almacenadas 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incrementar el buffer a 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50k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obtiene el mejor desempeño global, con una mejora clara en la convergencia (≈ −1208) y una reducción más consistente del RMSE en evaluación determinista, indicando un equilibrio óptimo entre diversidad y relevancia de las muestras.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 embargo, para tamaños excesivos (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≥100k–1M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el rendimiento se degrada (hasta ≈ −2145), ya que el buffer introduce experiencias obsoletas que ralentizan el aprendizaje y afectan negativamente la política final  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735F233-C7D6-F424-DEDA-F9B77780C713}"/>
              </a:ext>
            </a:extLst>
          </p:cNvPr>
          <p:cNvSpPr txBox="1"/>
          <p:nvPr/>
        </p:nvSpPr>
        <p:spPr>
          <a:xfrm>
            <a:off x="677541" y="5040175"/>
            <a:ext cx="108330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buffer intermedio (≈ 50k) resulta óptimo para este modelo, ya que maximiza la calidad del aprendizaje y el desempeño en RMSE, mientras que buffers demasiado pequeños o excesivamente grandes degradan la convergencia y la calidad de la política aprendida.</a:t>
            </a:r>
          </a:p>
        </p:txBody>
      </p:sp>
    </p:spTree>
    <p:extLst>
      <p:ext uri="{BB962C8B-B14F-4D97-AF65-F5344CB8AC3E}">
        <p14:creationId xmlns:p14="http://schemas.microsoft.com/office/powerpoint/2010/main" val="3828257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E2D6-7DA2-4268-03AC-AF31979C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38A72335-90E7-9513-6707-3D419EB23B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Scen57_057_Agente1000</a:t>
            </a:r>
          </a:p>
          <a:p>
            <a:endParaRPr lang="es-ES_tradnl" noProof="1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08CC0A2F-537A-18BA-6B85-F2D053D4257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4" name="Onlinebild-Platzhalter 3">
            <a:extLst>
              <a:ext uri="{FF2B5EF4-FFF2-40B4-BE49-F238E27FC236}">
                <a16:creationId xmlns:a16="http://schemas.microsoft.com/office/drawing/2014/main" id="{E66891C9-6346-C760-8135-4CE5967E911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586731" y="2636838"/>
            <a:ext cx="5567063" cy="32781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Inhaltsplatzhalter 28">
                <a:extLst>
                  <a:ext uri="{FF2B5EF4-FFF2-40B4-BE49-F238E27FC236}">
                    <a16:creationId xmlns:a16="http://schemas.microsoft.com/office/drawing/2014/main" id="{4A52D04D-2567-AD9B-5007-3C08A56FDB2A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292446367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-1294.53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-1443.59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-884.284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Inhaltsplatzhalter 28">
                <a:extLst>
                  <a:ext uri="{FF2B5EF4-FFF2-40B4-BE49-F238E27FC236}">
                    <a16:creationId xmlns:a16="http://schemas.microsoft.com/office/drawing/2014/main" id="{4A52D04D-2567-AD9B-5007-3C08A56FDB2A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292446367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-1294.53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-1443.59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-884.284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607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F60D-7FCA-017E-979F-598911A4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85F01CFB-0A15-C97B-4FB7-0A48B2B5691C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72611F35-BD47-E41E-D832-0DF4F763D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D222C27-2A83-0FFB-60CA-545276B79CDF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527AEE8-810B-42D4-806F-993E64B0887E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BufferLength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36167682-CDBF-8185-2453-435996FF21C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8B7FFA15-2314-1F08-B1B7-6E623BFA6294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8970379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Bufferlength = 5.000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2981632-BC91-40BB-E41C-571EDCFC7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1" y="1947533"/>
            <a:ext cx="5504303" cy="387404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29F8228-37A7-A1B2-1E44-E71ED5B12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836" y="2028696"/>
            <a:ext cx="5115726" cy="366201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34CB43B-07DA-D08D-894D-25156D1B7F15}"/>
              </a:ext>
            </a:extLst>
          </p:cNvPr>
          <p:cNvSpPr txBox="1"/>
          <p:nvPr/>
        </p:nvSpPr>
        <p:spPr>
          <a:xfrm>
            <a:off x="520861" y="5895134"/>
            <a:ext cx="11534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uso de un buffer reducido (5k) limita la calidad del aprendizaje, generando alta variabilidad y una convergencia inestable. Aunque se observa mejora en etapas tardías (≈1000 episodios), el desempeño angular sigue siendo inconsistente, evidenciando falta de diversidad en las experiencias.</a:t>
            </a:r>
          </a:p>
        </p:txBody>
      </p:sp>
    </p:spTree>
    <p:extLst>
      <p:ext uri="{BB962C8B-B14F-4D97-AF65-F5344CB8AC3E}">
        <p14:creationId xmlns:p14="http://schemas.microsoft.com/office/powerpoint/2010/main" val="416948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3A5C-1689-F216-42BF-6D74E7FC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069500A7-8980-D12E-E24B-0542A9AE3D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Scen57_218_Agente1000</a:t>
            </a:r>
          </a:p>
          <a:p>
            <a:endParaRPr lang="es-ES_tradnl" noProof="1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779ABBC8-A6FC-2A4B-F76C-9F2CE93DD5B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374650" y="2641102"/>
            <a:ext cx="5991225" cy="3269659"/>
          </a:xfrm>
          <a:prstGeom prst="rect">
            <a:avLst/>
          </a:prstGeom>
        </p:spPr>
      </p:pic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58AF99D4-3438-E08D-D5BB-3A28B5ABBB8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Inhaltsplatzhalter 28">
                <a:extLst>
                  <a:ext uri="{FF2B5EF4-FFF2-40B4-BE49-F238E27FC236}">
                    <a16:creationId xmlns:a16="http://schemas.microsoft.com/office/drawing/2014/main" id="{156176A4-70A5-8387-018C-41D33999D6CE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091819391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-1244.15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-1251.75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-941.684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Inhaltsplatzhalter 28">
                <a:extLst>
                  <a:ext uri="{FF2B5EF4-FFF2-40B4-BE49-F238E27FC236}">
                    <a16:creationId xmlns:a16="http://schemas.microsoft.com/office/drawing/2014/main" id="{156176A4-70A5-8387-018C-41D33999D6CE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091819391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-1244.15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-1251.75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-941.684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11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3549-6641-13F0-0F11-A4A48715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3394205-70AD-3CA0-E645-93DA87AE66CC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CDC5832-F334-34F7-E190-629C33A4F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8102F516-B38D-A30C-2DC7-7F886B34818A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B293E47-9999-7448-184C-773ED2762058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Bufferlength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0D6D4C52-B6E3-BD63-381C-D8FFF8DE710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B4C1F0EA-FADD-02E1-2F64-FFC395810AE7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8970379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Bufferlength = 10.000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E41D9609-64C8-4ADD-77DE-0576B83A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1" y="1947533"/>
            <a:ext cx="4907665" cy="387404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D3AC3B3-874C-59C8-D224-8AE00D673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095" y="1947533"/>
            <a:ext cx="4907665" cy="387404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443079A-F922-8A40-770B-80CAF8C22A06}"/>
              </a:ext>
            </a:extLst>
          </p:cNvPr>
          <p:cNvSpPr txBox="1"/>
          <p:nvPr/>
        </p:nvSpPr>
        <p:spPr>
          <a:xfrm>
            <a:off x="640829" y="5936138"/>
            <a:ext cx="11052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buffer intermedio (10k) mejora significativamente la estabilidad del aprendizaje, alcanzando una convergencia más consistente (≈55 RMSE). Sin embargo, aún se observan variaciones en el desempeño angular, indicando que la diversidad de experiencias sigue siendo limitada para una generalización óptima.</a:t>
            </a:r>
          </a:p>
        </p:txBody>
      </p:sp>
    </p:spTree>
    <p:extLst>
      <p:ext uri="{BB962C8B-B14F-4D97-AF65-F5344CB8AC3E}">
        <p14:creationId xmlns:p14="http://schemas.microsoft.com/office/powerpoint/2010/main" val="397055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FA01-E3CF-0D15-E313-E9E34DD0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BD9900A-3C47-AF83-ABA4-D75AE1E8A1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Scen57_376_Agente1000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07FC4763-EEBC-4D5D-139F-2FD18B7DA0D9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2596214105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-1149.1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-1208.09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-761.737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07FC4763-EEBC-4D5D-139F-2FD18B7DA0D9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2596214105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-1149.1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-1208.09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-761.737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A429E551-052E-EEF3-8A1E-4C7AD1F2677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4" name="Onlinebild-Platzhalter 3">
            <a:extLst>
              <a:ext uri="{FF2B5EF4-FFF2-40B4-BE49-F238E27FC236}">
                <a16:creationId xmlns:a16="http://schemas.microsoft.com/office/drawing/2014/main" id="{B17EFB06-CF30-AC05-946B-675D5BF7163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586731" y="2636838"/>
            <a:ext cx="5567063" cy="327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9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0B6F-332B-6DAA-F1CE-8E4847BB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24053C74-4DA0-9142-4116-6FBA27693DDC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B5EF1A92-0407-0CE4-161E-85375B188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8FDC04B2-88B7-699E-6DC3-B4343D62676D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6ABA7AD-E925-7080-2EB9-E7952EBBDB91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Bufferlength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E8DDD745-744D-BBFE-5EDD-1C23B2FC120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FF18A9A1-C1E5-4B44-DA0D-9F4D8F000EB0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8970379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Bufferlength = 50.000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425FDB-3FC3-3B1D-A02C-06CDB4071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512" y="1947533"/>
            <a:ext cx="5721895" cy="393946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10EC93C-2D27-5A38-1198-66920206B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05" y="1993024"/>
            <a:ext cx="5451507" cy="389397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19BD5F2-3E79-20DE-A6B6-3D54C30CEB09}"/>
              </a:ext>
            </a:extLst>
          </p:cNvPr>
          <p:cNvSpPr txBox="1"/>
          <p:nvPr/>
        </p:nvSpPr>
        <p:spPr>
          <a:xfrm>
            <a:off x="520862" y="5960457"/>
            <a:ext cx="11173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buffer de 50k alcanza el mejor compromiso entre aprendizaje y desempeño, logrando una convergencia más rápida (≈500 episodios) y una reducción significativa del RMSE. El comportamiento angular es más consistente, evidenciando una mayor calidad de la política y mejor generalización</a:t>
            </a:r>
          </a:p>
        </p:txBody>
      </p:sp>
    </p:spTree>
    <p:extLst>
      <p:ext uri="{BB962C8B-B14F-4D97-AF65-F5344CB8AC3E}">
        <p14:creationId xmlns:p14="http://schemas.microsoft.com/office/powerpoint/2010/main" val="3938095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E7387-69B8-9FD3-F46E-C18E40D9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3607C99-466B-3A0B-878C-DF22D69194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Scen57_771_Agente1000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CF53F36F-B1B5-1577-E061-316A78E5C327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831776608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-1225.25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-1261.51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-794.847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CF53F36F-B1B5-1577-E061-316A78E5C327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831776608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-1225.25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-1261.51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-794.847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2C85D4F8-6F5A-1746-B1B3-96FC92D051D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13D777DB-A845-2AFC-F527-1202771BEA33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586731" y="2636838"/>
            <a:ext cx="5567063" cy="327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8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979A-4ACE-4802-5C64-191FF08D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B60ED202-4531-8D99-9A6F-C0D74CDE46ED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E192B26-76C1-30B7-DD7B-B62C74ED7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075A3D8-838A-2D78-CD7B-8A828E1FB5EE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A4443A7-6865-BE78-931D-ADD80C2B34A3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8EF891FB-5E8E-B9EF-AA0F-4B0B4F58019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B3C9C14B-3667-7D25-FF73-F0E7F93AF531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8970379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Bufferlength = 100.000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F117BFF-08C8-2E7B-C0B5-A2E359FD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178" y="1945559"/>
            <a:ext cx="5747772" cy="387404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23E5B21-6BBA-679B-9F88-B2E0902BB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89" y="1959326"/>
            <a:ext cx="5319889" cy="38602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68CA258-90CE-4205-28C9-83EFD9E54BAB}"/>
              </a:ext>
            </a:extLst>
          </p:cNvPr>
          <p:cNvSpPr txBox="1"/>
          <p:nvPr/>
        </p:nvSpPr>
        <p:spPr>
          <a:xfrm>
            <a:off x="520862" y="5912302"/>
            <a:ext cx="10939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buffer grande (100k) degrada el aprendizaje, mostrando alta inestabilidad y peor RMSE global. La inclusión de experiencias obsoletas reduce la eficiencia del entrenamiento y genera una política menos consistente en el dominio angular.</a:t>
            </a:r>
          </a:p>
        </p:txBody>
      </p:sp>
    </p:spTree>
    <p:extLst>
      <p:ext uri="{BB962C8B-B14F-4D97-AF65-F5344CB8AC3E}">
        <p14:creationId xmlns:p14="http://schemas.microsoft.com/office/powerpoint/2010/main" val="424660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F6F0-5491-3FE2-FBE0-2D8D88CB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390FE2FA-B721-A4B0-6816-53E3B0C761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Scen57_998_Agente1000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A0B14B75-98F7-A135-E278-7550D2D42D4E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545972425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-2316.62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-2145.29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1e+06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-790.811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A0B14B75-98F7-A135-E278-7550D2D42D4E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545972425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-2316.62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-2145.29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1e+06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-790.811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5F465C33-25DE-08F3-7073-F80CEDBAA43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4" name="Onlinebild-Platzhalter 3">
            <a:extLst>
              <a:ext uri="{FF2B5EF4-FFF2-40B4-BE49-F238E27FC236}">
                <a16:creationId xmlns:a16="http://schemas.microsoft.com/office/drawing/2014/main" id="{71524749-D9CB-263D-F12E-00F31DAC543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586731" y="2636838"/>
            <a:ext cx="5567063" cy="327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5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4B58-3762-D0FE-F41C-44D26B3D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4992AFDA-E9E1-BD44-8030-4921FA08F426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D0371A0-B5AC-203C-5885-D4ED5C9C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22C3673E-3B10-BA1C-6A4C-F4251BD85079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4D074BD0-498D-1302-6EB2-EAB26F518692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0688664C-CA4A-B730-B70D-C311B021569E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8970379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Bufferlength = 1.000.000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5B1CB4C-6434-99FD-64A1-A72D10252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91" y="2132200"/>
            <a:ext cx="5078393" cy="35632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15081A3-3E12-D7D7-B8FB-E868C5F4B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11" y="2132200"/>
            <a:ext cx="5339788" cy="362739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95DE99-F055-2622-0D67-836F446F6612}"/>
              </a:ext>
            </a:extLst>
          </p:cNvPr>
          <p:cNvSpPr txBox="1"/>
          <p:nvPr/>
        </p:nvSpPr>
        <p:spPr>
          <a:xfrm>
            <a:off x="520862" y="5974825"/>
            <a:ext cx="11239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buffer excesivo (1M) colapsa el aprendizaje, mostrando ausencia de mejora y RMSE prácticamente constante. La acumulación masiva de experiencias irrelevantes impide la adaptación del agente, resultando en una política ineficiente y sin capacidad de convergencia.</a:t>
            </a:r>
          </a:p>
        </p:txBody>
      </p:sp>
    </p:spTree>
    <p:extLst>
      <p:ext uri="{BB962C8B-B14F-4D97-AF65-F5344CB8AC3E}">
        <p14:creationId xmlns:p14="http://schemas.microsoft.com/office/powerpoint/2010/main" val="111787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Microsoft Macintosh PowerPoint</Application>
  <PresentationFormat>Breitbild</PresentationFormat>
  <Paragraphs>710</Paragraphs>
  <Slides>11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2026-03-30T04:33:19Z</dcterms:created>
  <dcterms:modified xsi:type="dcterms:W3CDTF">2026-03-30T04:44:39Z</dcterms:modified>
</cp:coreProperties>
</file>